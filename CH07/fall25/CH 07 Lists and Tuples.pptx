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7"/>
  </p:notesMasterIdLst>
  <p:handoutMasterIdLst>
    <p:handoutMasterId r:id="rId68"/>
  </p:handoutMasterIdLst>
  <p:sldIdLst>
    <p:sldId id="344" r:id="rId3"/>
    <p:sldId id="331" r:id="rId4"/>
    <p:sldId id="345" r:id="rId5"/>
    <p:sldId id="336" r:id="rId6"/>
    <p:sldId id="342" r:id="rId7"/>
    <p:sldId id="343" r:id="rId8"/>
    <p:sldId id="347" r:id="rId9"/>
    <p:sldId id="348" r:id="rId10"/>
    <p:sldId id="349" r:id="rId11"/>
    <p:sldId id="350" r:id="rId12"/>
    <p:sldId id="400" r:id="rId13"/>
    <p:sldId id="353" r:id="rId14"/>
    <p:sldId id="354" r:id="rId15"/>
    <p:sldId id="355" r:id="rId16"/>
    <p:sldId id="352" r:id="rId17"/>
    <p:sldId id="370" r:id="rId18"/>
    <p:sldId id="371" r:id="rId19"/>
    <p:sldId id="372" r:id="rId20"/>
    <p:sldId id="373" r:id="rId21"/>
    <p:sldId id="374" r:id="rId22"/>
    <p:sldId id="375" r:id="rId23"/>
    <p:sldId id="401" r:id="rId24"/>
    <p:sldId id="402" r:id="rId25"/>
    <p:sldId id="356" r:id="rId26"/>
    <p:sldId id="357" r:id="rId27"/>
    <p:sldId id="358" r:id="rId28"/>
    <p:sldId id="346" r:id="rId29"/>
    <p:sldId id="359" r:id="rId30"/>
    <p:sldId id="399" r:id="rId31"/>
    <p:sldId id="360" r:id="rId32"/>
    <p:sldId id="361" r:id="rId33"/>
    <p:sldId id="362" r:id="rId34"/>
    <p:sldId id="363" r:id="rId35"/>
    <p:sldId id="364" r:id="rId36"/>
    <p:sldId id="365" r:id="rId37"/>
    <p:sldId id="366" r:id="rId38"/>
    <p:sldId id="367" r:id="rId39"/>
    <p:sldId id="368" r:id="rId40"/>
    <p:sldId id="369" r:id="rId41"/>
    <p:sldId id="351"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 id="398" r:id="rId65"/>
    <p:sldId id="298" r:id="rId66"/>
  </p:sldIdLst>
  <p:sldSz cx="9144000" cy="6858000" type="screen4x3"/>
  <p:notesSz cx="6858000" cy="9144000"/>
  <p:embeddedFontLst>
    <p:embeddedFont>
      <p:font typeface="Consolas" panose="020B0609020204030204" pitchFamily="49" charset="0"/>
      <p:regular r:id="rId69"/>
      <p:bold r:id="rId70"/>
      <p:italic r:id="rId71"/>
      <p:boldItalic r:id="rId72"/>
    </p:embeddedFont>
    <p:embeddedFont>
      <p:font typeface="Verdana" panose="020B0604030504040204" pitchFamily="3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35"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guide id="8" pos="363" userDrawn="1">
          <p15:clr>
            <a:srgbClr val="A4A3A4"/>
          </p15:clr>
        </p15:guide>
        <p15:guide id="9" pos="5465" userDrawn="1">
          <p15:clr>
            <a:srgbClr val="A4A3A4"/>
          </p15:clr>
        </p15:guide>
        <p15:guide id="10" orient="horz" pos="4042" userDrawn="1">
          <p15:clr>
            <a:srgbClr val="A4A3A4"/>
          </p15:clr>
        </p15:guide>
        <p15:guide id="11" orient="horz" pos="754" userDrawn="1">
          <p15:clr>
            <a:srgbClr val="A4A3A4"/>
          </p15:clr>
        </p15:guide>
        <p15:guide id="12" pos="93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7EE6F1-F719-5BF2-54F1-AB5F72D68BE1}" v="575" dt="2025-10-28T21:28:39.375"/>
    <p1510:client id="{F88BA1DB-EC4D-28E1-BD3A-76EF48C104AE}" v="623" dt="2025-10-27T19:58:46.670"/>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83549" autoAdjust="0"/>
  </p:normalViewPr>
  <p:slideViewPr>
    <p:cSldViewPr snapToGrid="0" snapToObjects="1">
      <p:cViewPr varScale="1">
        <p:scale>
          <a:sx n="91" d="100"/>
          <a:sy n="91" d="100"/>
        </p:scale>
        <p:origin x="2184" y="96"/>
      </p:cViewPr>
      <p:guideLst>
        <p:guide orient="horz" pos="3135"/>
        <p:guide pos="295"/>
        <p:guide orient="horz" pos="4178"/>
        <p:guide orient="horz" pos="119"/>
        <p:guide orient="horz" pos="709"/>
        <p:guide orient="horz" pos="1071"/>
        <p:guide pos="635"/>
        <p:guide pos="363"/>
        <p:guide pos="5465"/>
        <p:guide orient="horz" pos="4042"/>
        <p:guide orient="horz" pos="754"/>
        <p:guide pos="93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handoutMaster" Target="handoutMasters/handout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6.fntdata"/><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microsoft.com/office/2016/11/relationships/changesInfo" Target="changesInfos/changesInfo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1.fntdata"/><Relationship Id="rId77"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4.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2.fntdata"/><Relationship Id="rId75" Type="http://schemas.openxmlformats.org/officeDocument/2006/relationships/font" Target="fonts/font7.fntdata"/><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5.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8.fntdata"/><Relationship Id="rId7" Type="http://schemas.openxmlformats.org/officeDocument/2006/relationships/slide" Target="slides/slide5.xml"/><Relationship Id="rId71" Type="http://schemas.openxmlformats.org/officeDocument/2006/relationships/font" Target="fonts/font3.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minic MacIsaac" userId="S::macisaac@gonzaga.edu::7ad5ccb2-0fa5-42b6-a48e-c5d58f802fe4" providerId="AD" clId="Web-{31EAB5F5-1098-DA01-1037-F9A46E4A81DD}"/>
    <pc:docChg chg="sldOrd">
      <pc:chgData name="Dominic MacIsaac" userId="S::macisaac@gonzaga.edu::7ad5ccb2-0fa5-42b6-a48e-c5d58f802fe4" providerId="AD" clId="Web-{31EAB5F5-1098-DA01-1037-F9A46E4A81DD}" dt="2025-10-23T16:56:55.596" v="0"/>
      <pc:docMkLst>
        <pc:docMk/>
      </pc:docMkLst>
      <pc:sldChg chg="ord">
        <pc:chgData name="Dominic MacIsaac" userId="S::macisaac@gonzaga.edu::7ad5ccb2-0fa5-42b6-a48e-c5d58f802fe4" providerId="AD" clId="Web-{31EAB5F5-1098-DA01-1037-F9A46E4A81DD}" dt="2025-10-23T16:56:55.596" v="0"/>
        <pc:sldMkLst>
          <pc:docMk/>
          <pc:sldMk cId="412489264" sldId="346"/>
        </pc:sldMkLst>
      </pc:sldChg>
    </pc:docChg>
  </pc:docChgLst>
  <pc:docChgLst>
    <pc:chgData name="Dominic MacIsaac" userId="S::macisaac@gonzaga.edu::7ad5ccb2-0fa5-42b6-a48e-c5d58f802fe4" providerId="AD" clId="Web-{F88BA1DB-EC4D-28E1-BD3A-76EF48C104AE}"/>
    <pc:docChg chg="addSld delSld modSld sldOrd">
      <pc:chgData name="Dominic MacIsaac" userId="S::macisaac@gonzaga.edu::7ad5ccb2-0fa5-42b6-a48e-c5d58f802fe4" providerId="AD" clId="Web-{F88BA1DB-EC4D-28E1-BD3A-76EF48C104AE}" dt="2025-10-27T19:58:46.670" v="548" actId="20577"/>
      <pc:docMkLst>
        <pc:docMk/>
      </pc:docMkLst>
      <pc:sldChg chg="modSp">
        <pc:chgData name="Dominic MacIsaac" userId="S::macisaac@gonzaga.edu::7ad5ccb2-0fa5-42b6-a48e-c5d58f802fe4" providerId="AD" clId="Web-{F88BA1DB-EC4D-28E1-BD3A-76EF48C104AE}" dt="2025-10-27T19:08:31.024" v="342" actId="20577"/>
        <pc:sldMkLst>
          <pc:docMk/>
          <pc:sldMk cId="412489264" sldId="346"/>
        </pc:sldMkLst>
        <pc:spChg chg="mod">
          <ac:chgData name="Dominic MacIsaac" userId="S::macisaac@gonzaga.edu::7ad5ccb2-0fa5-42b6-a48e-c5d58f802fe4" providerId="AD" clId="Web-{F88BA1DB-EC4D-28E1-BD3A-76EF48C104AE}" dt="2025-10-27T19:06:27.429" v="183" actId="20577"/>
          <ac:spMkLst>
            <pc:docMk/>
            <pc:sldMk cId="412489264" sldId="346"/>
            <ac:spMk id="2" creationId="{595658E2-01C0-4C04-B47C-4AD792FF2280}"/>
          </ac:spMkLst>
        </pc:spChg>
        <pc:spChg chg="mod">
          <ac:chgData name="Dominic MacIsaac" userId="S::macisaac@gonzaga.edu::7ad5ccb2-0fa5-42b6-a48e-c5d58f802fe4" providerId="AD" clId="Web-{F88BA1DB-EC4D-28E1-BD3A-76EF48C104AE}" dt="2025-10-27T19:08:31.024" v="342" actId="20577"/>
          <ac:spMkLst>
            <pc:docMk/>
            <pc:sldMk cId="412489264" sldId="346"/>
            <ac:spMk id="3" creationId="{ADF384C9-A271-48B8-81A8-257E7C03BFB0}"/>
          </ac:spMkLst>
        </pc:spChg>
      </pc:sldChg>
      <pc:sldChg chg="addSp delSp modSp">
        <pc:chgData name="Dominic MacIsaac" userId="S::macisaac@gonzaga.edu::7ad5ccb2-0fa5-42b6-a48e-c5d58f802fe4" providerId="AD" clId="Web-{F88BA1DB-EC4D-28E1-BD3A-76EF48C104AE}" dt="2025-10-27T19:36:34.467" v="538" actId="20577"/>
        <pc:sldMkLst>
          <pc:docMk/>
          <pc:sldMk cId="1496674418" sldId="347"/>
        </pc:sldMkLst>
        <pc:spChg chg="add del mod">
          <ac:chgData name="Dominic MacIsaac" userId="S::macisaac@gonzaga.edu::7ad5ccb2-0fa5-42b6-a48e-c5d58f802fe4" providerId="AD" clId="Web-{F88BA1DB-EC4D-28E1-BD3A-76EF48C104AE}" dt="2025-10-27T18:58:44.029" v="45"/>
          <ac:spMkLst>
            <pc:docMk/>
            <pc:sldMk cId="1496674418" sldId="347"/>
            <ac:spMk id="3" creationId="{A339D502-E6E2-A4A8-C2CC-671B450E1C65}"/>
          </ac:spMkLst>
        </pc:spChg>
        <pc:spChg chg="mod">
          <ac:chgData name="Dominic MacIsaac" userId="S::macisaac@gonzaga.edu::7ad5ccb2-0fa5-42b6-a48e-c5d58f802fe4" providerId="AD" clId="Web-{F88BA1DB-EC4D-28E1-BD3A-76EF48C104AE}" dt="2025-10-27T19:36:34.467" v="538" actId="20577"/>
          <ac:spMkLst>
            <pc:docMk/>
            <pc:sldMk cId="1496674418" sldId="347"/>
            <ac:spMk id="5" creationId="{1AF19947-7671-467A-801D-B9D2C321756F}"/>
          </ac:spMkLst>
        </pc:spChg>
        <pc:spChg chg="del mod">
          <ac:chgData name="Dominic MacIsaac" userId="S::macisaac@gonzaga.edu::7ad5ccb2-0fa5-42b6-a48e-c5d58f802fe4" providerId="AD" clId="Web-{F88BA1DB-EC4D-28E1-BD3A-76EF48C104AE}" dt="2025-10-27T18:58:41.420" v="43"/>
          <ac:spMkLst>
            <pc:docMk/>
            <pc:sldMk cId="1496674418" sldId="347"/>
            <ac:spMk id="7" creationId="{B5FD0DB3-100C-4954-89D9-0A0A0BA21BF1}"/>
          </ac:spMkLst>
        </pc:spChg>
        <pc:spChg chg="del">
          <ac:chgData name="Dominic MacIsaac" userId="S::macisaac@gonzaga.edu::7ad5ccb2-0fa5-42b6-a48e-c5d58f802fe4" providerId="AD" clId="Web-{F88BA1DB-EC4D-28E1-BD3A-76EF48C104AE}" dt="2025-10-27T18:58:41.420" v="42"/>
          <ac:spMkLst>
            <pc:docMk/>
            <pc:sldMk cId="1496674418" sldId="347"/>
            <ac:spMk id="8" creationId="{9D355B6E-C50B-4BD1-BDD9-5705009583FA}"/>
          </ac:spMkLst>
        </pc:spChg>
        <pc:spChg chg="del">
          <ac:chgData name="Dominic MacIsaac" userId="S::macisaac@gonzaga.edu::7ad5ccb2-0fa5-42b6-a48e-c5d58f802fe4" providerId="AD" clId="Web-{F88BA1DB-EC4D-28E1-BD3A-76EF48C104AE}" dt="2025-10-27T18:58:41.341" v="40"/>
          <ac:spMkLst>
            <pc:docMk/>
            <pc:sldMk cId="1496674418" sldId="347"/>
            <ac:spMk id="9" creationId="{D0F74E18-5554-4139-8059-1922386113B9}"/>
          </ac:spMkLst>
        </pc:spChg>
        <pc:spChg chg="del mod">
          <ac:chgData name="Dominic MacIsaac" userId="S::macisaac@gonzaga.edu::7ad5ccb2-0fa5-42b6-a48e-c5d58f802fe4" providerId="AD" clId="Web-{F88BA1DB-EC4D-28E1-BD3A-76EF48C104AE}" dt="2025-10-27T18:58:41.248" v="38"/>
          <ac:spMkLst>
            <pc:docMk/>
            <pc:sldMk cId="1496674418" sldId="347"/>
            <ac:spMk id="10" creationId="{070EB2C3-B7A1-4B6E-AA2A-1DE8A7BA2957}"/>
          </ac:spMkLst>
        </pc:spChg>
        <pc:spChg chg="add del mod">
          <ac:chgData name="Dominic MacIsaac" userId="S::macisaac@gonzaga.edu::7ad5ccb2-0fa5-42b6-a48e-c5d58f802fe4" providerId="AD" clId="Web-{F88BA1DB-EC4D-28E1-BD3A-76EF48C104AE}" dt="2025-10-27T18:58:44.029" v="44"/>
          <ac:spMkLst>
            <pc:docMk/>
            <pc:sldMk cId="1496674418" sldId="347"/>
            <ac:spMk id="12" creationId="{8FD00A05-B736-1AFD-ECFD-583B4B82348A}"/>
          </ac:spMkLst>
        </pc:spChg>
        <pc:graphicFrameChg chg="del">
          <ac:chgData name="Dominic MacIsaac" userId="S::macisaac@gonzaga.edu::7ad5ccb2-0fa5-42b6-a48e-c5d58f802fe4" providerId="AD" clId="Web-{F88BA1DB-EC4D-28E1-BD3A-76EF48C104AE}" dt="2025-10-27T18:58:41.341" v="41"/>
          <ac:graphicFrameMkLst>
            <pc:docMk/>
            <pc:sldMk cId="1496674418" sldId="347"/>
            <ac:graphicFrameMk id="20" creationId="{844C2ABD-21BB-43C5-8F1A-12D9A2D65C87}"/>
          </ac:graphicFrameMkLst>
        </pc:graphicFrameChg>
        <pc:graphicFrameChg chg="del">
          <ac:chgData name="Dominic MacIsaac" userId="S::macisaac@gonzaga.edu::7ad5ccb2-0fa5-42b6-a48e-c5d58f802fe4" providerId="AD" clId="Web-{F88BA1DB-EC4D-28E1-BD3A-76EF48C104AE}" dt="2025-10-27T18:58:41.248" v="39"/>
          <ac:graphicFrameMkLst>
            <pc:docMk/>
            <pc:sldMk cId="1496674418" sldId="347"/>
            <ac:graphicFrameMk id="21" creationId="{E8C9EA0F-6AF9-48B7-8B9B-FF38E09E12A7}"/>
          </ac:graphicFrameMkLst>
        </pc:graphicFrameChg>
      </pc:sldChg>
      <pc:sldChg chg="modSp">
        <pc:chgData name="Dominic MacIsaac" userId="S::macisaac@gonzaga.edu::7ad5ccb2-0fa5-42b6-a48e-c5d58f802fe4" providerId="AD" clId="Web-{F88BA1DB-EC4D-28E1-BD3A-76EF48C104AE}" dt="2025-10-27T18:59:39.984" v="69" actId="20577"/>
        <pc:sldMkLst>
          <pc:docMk/>
          <pc:sldMk cId="10526618" sldId="348"/>
        </pc:sldMkLst>
        <pc:spChg chg="mod">
          <ac:chgData name="Dominic MacIsaac" userId="S::macisaac@gonzaga.edu::7ad5ccb2-0fa5-42b6-a48e-c5d58f802fe4" providerId="AD" clId="Web-{F88BA1DB-EC4D-28E1-BD3A-76EF48C104AE}" dt="2025-10-27T18:59:39.984" v="69" actId="20577"/>
          <ac:spMkLst>
            <pc:docMk/>
            <pc:sldMk cId="10526618" sldId="348"/>
            <ac:spMk id="3" creationId="{CA5C6928-2D65-4EF8-A518-0B83B12D9261}"/>
          </ac:spMkLst>
        </pc:spChg>
      </pc:sldChg>
      <pc:sldChg chg="add del mod modShow">
        <pc:chgData name="Dominic MacIsaac" userId="S::macisaac@gonzaga.edu::7ad5ccb2-0fa5-42b6-a48e-c5d58f802fe4" providerId="AD" clId="Web-{F88BA1DB-EC4D-28E1-BD3A-76EF48C104AE}" dt="2025-10-27T19:36:39.576" v="540"/>
        <pc:sldMkLst>
          <pc:docMk/>
          <pc:sldMk cId="2525197346" sldId="351"/>
        </pc:sldMkLst>
      </pc:sldChg>
      <pc:sldChg chg="modSp add del ord">
        <pc:chgData name="Dominic MacIsaac" userId="S::macisaac@gonzaga.edu::7ad5ccb2-0fa5-42b6-a48e-c5d58f802fe4" providerId="AD" clId="Web-{F88BA1DB-EC4D-28E1-BD3A-76EF48C104AE}" dt="2025-10-27T19:44:45.159" v="544"/>
        <pc:sldMkLst>
          <pc:docMk/>
          <pc:sldMk cId="3191682831" sldId="352"/>
        </pc:sldMkLst>
        <pc:spChg chg="mod">
          <ac:chgData name="Dominic MacIsaac" userId="S::macisaac@gonzaga.edu::7ad5ccb2-0fa5-42b6-a48e-c5d58f802fe4" providerId="AD" clId="Web-{F88BA1DB-EC4D-28E1-BD3A-76EF48C104AE}" dt="2025-10-27T19:26:53.505" v="528" actId="20577"/>
          <ac:spMkLst>
            <pc:docMk/>
            <pc:sldMk cId="3191682831" sldId="352"/>
            <ac:spMk id="3" creationId="{EF32E533-3D45-4FAE-8D70-649AE7862694}"/>
          </ac:spMkLst>
        </pc:spChg>
      </pc:sldChg>
      <pc:sldChg chg="modSp">
        <pc:chgData name="Dominic MacIsaac" userId="S::macisaac@gonzaga.edu::7ad5ccb2-0fa5-42b6-a48e-c5d58f802fe4" providerId="AD" clId="Web-{F88BA1DB-EC4D-28E1-BD3A-76EF48C104AE}" dt="2025-10-27T18:55:29.059" v="20" actId="20577"/>
        <pc:sldMkLst>
          <pc:docMk/>
          <pc:sldMk cId="743892354" sldId="353"/>
        </pc:sldMkLst>
        <pc:spChg chg="mod">
          <ac:chgData name="Dominic MacIsaac" userId="S::macisaac@gonzaga.edu::7ad5ccb2-0fa5-42b6-a48e-c5d58f802fe4" providerId="AD" clId="Web-{F88BA1DB-EC4D-28E1-BD3A-76EF48C104AE}" dt="2025-10-27T18:55:29.059" v="20" actId="20577"/>
          <ac:spMkLst>
            <pc:docMk/>
            <pc:sldMk cId="743892354" sldId="353"/>
            <ac:spMk id="2" creationId="{EB2A5E50-1830-4395-96FA-2C68EF9D2F50}"/>
          </ac:spMkLst>
        </pc:spChg>
      </pc:sldChg>
      <pc:sldChg chg="modSp">
        <pc:chgData name="Dominic MacIsaac" userId="S::macisaac@gonzaga.edu::7ad5ccb2-0fa5-42b6-a48e-c5d58f802fe4" providerId="AD" clId="Web-{F88BA1DB-EC4D-28E1-BD3A-76EF48C104AE}" dt="2025-10-27T18:55:37.137" v="22" actId="20577"/>
        <pc:sldMkLst>
          <pc:docMk/>
          <pc:sldMk cId="438724004" sldId="354"/>
        </pc:sldMkLst>
        <pc:spChg chg="mod">
          <ac:chgData name="Dominic MacIsaac" userId="S::macisaac@gonzaga.edu::7ad5ccb2-0fa5-42b6-a48e-c5d58f802fe4" providerId="AD" clId="Web-{F88BA1DB-EC4D-28E1-BD3A-76EF48C104AE}" dt="2025-10-27T18:55:37.137" v="22" actId="20577"/>
          <ac:spMkLst>
            <pc:docMk/>
            <pc:sldMk cId="438724004" sldId="354"/>
            <ac:spMk id="2" creationId="{EB2A5E50-1830-4395-96FA-2C68EF9D2F50}"/>
          </ac:spMkLst>
        </pc:spChg>
      </pc:sldChg>
      <pc:sldChg chg="modSp">
        <pc:chgData name="Dominic MacIsaac" userId="S::macisaac@gonzaga.edu::7ad5ccb2-0fa5-42b6-a48e-c5d58f802fe4" providerId="AD" clId="Web-{F88BA1DB-EC4D-28E1-BD3A-76EF48C104AE}" dt="2025-10-27T18:55:53.997" v="34" actId="20577"/>
        <pc:sldMkLst>
          <pc:docMk/>
          <pc:sldMk cId="173611517" sldId="355"/>
        </pc:sldMkLst>
        <pc:spChg chg="mod">
          <ac:chgData name="Dominic MacIsaac" userId="S::macisaac@gonzaga.edu::7ad5ccb2-0fa5-42b6-a48e-c5d58f802fe4" providerId="AD" clId="Web-{F88BA1DB-EC4D-28E1-BD3A-76EF48C104AE}" dt="2025-10-27T18:55:53.997" v="34" actId="20577"/>
          <ac:spMkLst>
            <pc:docMk/>
            <pc:sldMk cId="173611517" sldId="355"/>
            <ac:spMk id="2" creationId="{EB2A5E50-1830-4395-96FA-2C68EF9D2F50}"/>
          </ac:spMkLst>
        </pc:spChg>
      </pc:sldChg>
      <pc:sldChg chg="addSp modSp">
        <pc:chgData name="Dominic MacIsaac" userId="S::macisaac@gonzaga.edu::7ad5ccb2-0fa5-42b6-a48e-c5d58f802fe4" providerId="AD" clId="Web-{F88BA1DB-EC4D-28E1-BD3A-76EF48C104AE}" dt="2025-10-27T19:03:32.536" v="174" actId="20577"/>
        <pc:sldMkLst>
          <pc:docMk/>
          <pc:sldMk cId="661287398" sldId="357"/>
        </pc:sldMkLst>
        <pc:spChg chg="add mod">
          <ac:chgData name="Dominic MacIsaac" userId="S::macisaac@gonzaga.edu::7ad5ccb2-0fa5-42b6-a48e-c5d58f802fe4" providerId="AD" clId="Web-{F88BA1DB-EC4D-28E1-BD3A-76EF48C104AE}" dt="2025-10-27T19:03:32.536" v="174" actId="20577"/>
          <ac:spMkLst>
            <pc:docMk/>
            <pc:sldMk cId="661287398" sldId="357"/>
            <ac:spMk id="4" creationId="{DC1200E8-1C75-83F1-5083-F4C023175DAB}"/>
          </ac:spMkLst>
        </pc:spChg>
      </pc:sldChg>
      <pc:sldChg chg="mod modShow">
        <pc:chgData name="Dominic MacIsaac" userId="S::macisaac@gonzaga.edu::7ad5ccb2-0fa5-42b6-a48e-c5d58f802fe4" providerId="AD" clId="Web-{F88BA1DB-EC4D-28E1-BD3A-76EF48C104AE}" dt="2025-10-27T19:09:05.649" v="344"/>
        <pc:sldMkLst>
          <pc:docMk/>
          <pc:sldMk cId="124325338" sldId="359"/>
        </pc:sldMkLst>
      </pc:sldChg>
      <pc:sldChg chg="mod modShow">
        <pc:chgData name="Dominic MacIsaac" userId="S::macisaac@gonzaga.edu::7ad5ccb2-0fa5-42b6-a48e-c5d58f802fe4" providerId="AD" clId="Web-{F88BA1DB-EC4D-28E1-BD3A-76EF48C104AE}" dt="2025-10-27T19:01:03.018" v="76"/>
        <pc:sldMkLst>
          <pc:docMk/>
          <pc:sldMk cId="2410681554" sldId="360"/>
        </pc:sldMkLst>
      </pc:sldChg>
      <pc:sldChg chg="mod modShow">
        <pc:chgData name="Dominic MacIsaac" userId="S::macisaac@gonzaga.edu::7ad5ccb2-0fa5-42b6-a48e-c5d58f802fe4" providerId="AD" clId="Web-{F88BA1DB-EC4D-28E1-BD3A-76EF48C104AE}" dt="2025-10-27T19:01:02.830" v="73"/>
        <pc:sldMkLst>
          <pc:docMk/>
          <pc:sldMk cId="296409947" sldId="361"/>
        </pc:sldMkLst>
      </pc:sldChg>
      <pc:sldChg chg="mod modShow">
        <pc:chgData name="Dominic MacIsaac" userId="S::macisaac@gonzaga.edu::7ad5ccb2-0fa5-42b6-a48e-c5d58f802fe4" providerId="AD" clId="Web-{F88BA1DB-EC4D-28E1-BD3A-76EF48C104AE}" dt="2025-10-27T19:01:02.971" v="75"/>
        <pc:sldMkLst>
          <pc:docMk/>
          <pc:sldMk cId="204389035" sldId="362"/>
        </pc:sldMkLst>
      </pc:sldChg>
      <pc:sldChg chg="mod modShow">
        <pc:chgData name="Dominic MacIsaac" userId="S::macisaac@gonzaga.edu::7ad5ccb2-0fa5-42b6-a48e-c5d58f802fe4" providerId="AD" clId="Web-{F88BA1DB-EC4D-28E1-BD3A-76EF48C104AE}" dt="2025-10-27T19:01:02.893" v="74"/>
        <pc:sldMkLst>
          <pc:docMk/>
          <pc:sldMk cId="1705500286" sldId="363"/>
        </pc:sldMkLst>
      </pc:sldChg>
      <pc:sldChg chg="mod modShow">
        <pc:chgData name="Dominic MacIsaac" userId="S::macisaac@gonzaga.edu::7ad5ccb2-0fa5-42b6-a48e-c5d58f802fe4" providerId="AD" clId="Web-{F88BA1DB-EC4D-28E1-BD3A-76EF48C104AE}" dt="2025-10-27T19:01:02.690" v="71"/>
        <pc:sldMkLst>
          <pc:docMk/>
          <pc:sldMk cId="3898749120" sldId="364"/>
        </pc:sldMkLst>
      </pc:sldChg>
      <pc:sldChg chg="mod modShow">
        <pc:chgData name="Dominic MacIsaac" userId="S::macisaac@gonzaga.edu::7ad5ccb2-0fa5-42b6-a48e-c5d58f802fe4" providerId="AD" clId="Web-{F88BA1DB-EC4D-28E1-BD3A-76EF48C104AE}" dt="2025-10-27T19:01:03.096" v="77"/>
        <pc:sldMkLst>
          <pc:docMk/>
          <pc:sldMk cId="102192131" sldId="365"/>
        </pc:sldMkLst>
      </pc:sldChg>
      <pc:sldChg chg="mod modShow">
        <pc:chgData name="Dominic MacIsaac" userId="S::macisaac@gonzaga.edu::7ad5ccb2-0fa5-42b6-a48e-c5d58f802fe4" providerId="AD" clId="Web-{F88BA1DB-EC4D-28E1-BD3A-76EF48C104AE}" dt="2025-10-27T19:01:02.752" v="72"/>
        <pc:sldMkLst>
          <pc:docMk/>
          <pc:sldMk cId="654962930" sldId="366"/>
        </pc:sldMkLst>
      </pc:sldChg>
      <pc:sldChg chg="modSp add mod replId modShow">
        <pc:chgData name="Dominic MacIsaac" userId="S::macisaac@gonzaga.edu::7ad5ccb2-0fa5-42b6-a48e-c5d58f802fe4" providerId="AD" clId="Web-{F88BA1DB-EC4D-28E1-BD3A-76EF48C104AE}" dt="2025-10-27T19:08:36.415" v="343"/>
        <pc:sldMkLst>
          <pc:docMk/>
          <pc:sldMk cId="1204928497" sldId="399"/>
        </pc:sldMkLst>
        <pc:spChg chg="mod">
          <ac:chgData name="Dominic MacIsaac" userId="S::macisaac@gonzaga.edu::7ad5ccb2-0fa5-42b6-a48e-c5d58f802fe4" providerId="AD" clId="Web-{F88BA1DB-EC4D-28E1-BD3A-76EF48C104AE}" dt="2025-10-27T19:06:21.585" v="180" actId="20577"/>
          <ac:spMkLst>
            <pc:docMk/>
            <pc:sldMk cId="1204928497" sldId="399"/>
            <ac:spMk id="2" creationId="{D9C1EA7F-7A47-BA56-BB45-376918F34302}"/>
          </ac:spMkLst>
        </pc:spChg>
        <pc:spChg chg="mod">
          <ac:chgData name="Dominic MacIsaac" userId="S::macisaac@gonzaga.edu::7ad5ccb2-0fa5-42b6-a48e-c5d58f802fe4" providerId="AD" clId="Web-{F88BA1DB-EC4D-28E1-BD3A-76EF48C104AE}" dt="2025-10-27T19:06:19.242" v="178" actId="20577"/>
          <ac:spMkLst>
            <pc:docMk/>
            <pc:sldMk cId="1204928497" sldId="399"/>
            <ac:spMk id="3" creationId="{E729EBC8-0E0D-90F0-8103-AE99A5AAE916}"/>
          </ac:spMkLst>
        </pc:spChg>
      </pc:sldChg>
      <pc:sldChg chg="add del replId">
        <pc:chgData name="Dominic MacIsaac" userId="S::macisaac@gonzaga.edu::7ad5ccb2-0fa5-42b6-a48e-c5d58f802fe4" providerId="AD" clId="Web-{F88BA1DB-EC4D-28E1-BD3A-76EF48C104AE}" dt="2025-10-27T19:08:23.258" v="340"/>
        <pc:sldMkLst>
          <pc:docMk/>
          <pc:sldMk cId="1113168934" sldId="400"/>
        </pc:sldMkLst>
      </pc:sldChg>
      <pc:sldChg chg="modSp new ord">
        <pc:chgData name="Dominic MacIsaac" userId="S::macisaac@gonzaga.edu::7ad5ccb2-0fa5-42b6-a48e-c5d58f802fe4" providerId="AD" clId="Web-{F88BA1DB-EC4D-28E1-BD3A-76EF48C104AE}" dt="2025-10-27T19:58:46.670" v="548" actId="20577"/>
        <pc:sldMkLst>
          <pc:docMk/>
          <pc:sldMk cId="3204472736" sldId="400"/>
        </pc:sldMkLst>
        <pc:spChg chg="mod">
          <ac:chgData name="Dominic MacIsaac" userId="S::macisaac@gonzaga.edu::7ad5ccb2-0fa5-42b6-a48e-c5d58f802fe4" providerId="AD" clId="Web-{F88BA1DB-EC4D-28E1-BD3A-76EF48C104AE}" dt="2025-10-27T19:14:16.025" v="350" actId="20577"/>
          <ac:spMkLst>
            <pc:docMk/>
            <pc:sldMk cId="3204472736" sldId="400"/>
            <ac:spMk id="2" creationId="{936298CC-4CA8-5F88-5611-7D6A4C8C7A20}"/>
          </ac:spMkLst>
        </pc:spChg>
        <pc:spChg chg="mod">
          <ac:chgData name="Dominic MacIsaac" userId="S::macisaac@gonzaga.edu::7ad5ccb2-0fa5-42b6-a48e-c5d58f802fe4" providerId="AD" clId="Web-{F88BA1DB-EC4D-28E1-BD3A-76EF48C104AE}" dt="2025-10-27T19:58:46.670" v="548" actId="20577"/>
          <ac:spMkLst>
            <pc:docMk/>
            <pc:sldMk cId="3204472736" sldId="400"/>
            <ac:spMk id="3" creationId="{A5E05CFC-E8B4-CAF7-CD1B-F02D77490408}"/>
          </ac:spMkLst>
        </pc:spChg>
      </pc:sldChg>
    </pc:docChg>
  </pc:docChgLst>
  <pc:docChgLst>
    <pc:chgData name="Dominic MacIsaac" userId="S::macisaac@gonzaga.edu::7ad5ccb2-0fa5-42b6-a48e-c5d58f802fe4" providerId="AD" clId="Web-{977EE6F1-F719-5BF2-54F1-AB5F72D68BE1}"/>
    <pc:docChg chg="addSld delSld modSld sldOrd">
      <pc:chgData name="Dominic MacIsaac" userId="S::macisaac@gonzaga.edu::7ad5ccb2-0fa5-42b6-a48e-c5d58f802fe4" providerId="AD" clId="Web-{977EE6F1-F719-5BF2-54F1-AB5F72D68BE1}" dt="2025-10-28T21:28:39.375" v="570" actId="20577"/>
      <pc:docMkLst>
        <pc:docMk/>
      </pc:docMkLst>
      <pc:sldChg chg="modSp">
        <pc:chgData name="Dominic MacIsaac" userId="S::macisaac@gonzaga.edu::7ad5ccb2-0fa5-42b6-a48e-c5d58f802fe4" providerId="AD" clId="Web-{977EE6F1-F719-5BF2-54F1-AB5F72D68BE1}" dt="2025-10-28T20:30:39.488" v="388" actId="14100"/>
        <pc:sldMkLst>
          <pc:docMk/>
          <pc:sldMk cId="1990684191" sldId="336"/>
        </pc:sldMkLst>
        <pc:spChg chg="mod">
          <ac:chgData name="Dominic MacIsaac" userId="S::macisaac@gonzaga.edu::7ad5ccb2-0fa5-42b6-a48e-c5d58f802fe4" providerId="AD" clId="Web-{977EE6F1-F719-5BF2-54F1-AB5F72D68BE1}" dt="2025-10-28T20:30:39.488" v="388" actId="14100"/>
          <ac:spMkLst>
            <pc:docMk/>
            <pc:sldMk cId="1990684191" sldId="336"/>
            <ac:spMk id="3" creationId="{F71B0C7F-9003-477A-A619-DCB5DFC303F7}"/>
          </ac:spMkLst>
        </pc:spChg>
      </pc:sldChg>
      <pc:sldChg chg="add del">
        <pc:chgData name="Dominic MacIsaac" userId="S::macisaac@gonzaga.edu::7ad5ccb2-0fa5-42b6-a48e-c5d58f802fe4" providerId="AD" clId="Web-{977EE6F1-F719-5BF2-54F1-AB5F72D68BE1}" dt="2025-10-28T21:18:11.791" v="402"/>
        <pc:sldMkLst>
          <pc:docMk/>
          <pc:sldMk cId="412489264" sldId="346"/>
        </pc:sldMkLst>
      </pc:sldChg>
      <pc:sldChg chg="add del">
        <pc:chgData name="Dominic MacIsaac" userId="S::macisaac@gonzaga.edu::7ad5ccb2-0fa5-42b6-a48e-c5d58f802fe4" providerId="AD" clId="Web-{977EE6F1-F719-5BF2-54F1-AB5F72D68BE1}" dt="2025-10-28T18:19:17.406" v="86"/>
        <pc:sldMkLst>
          <pc:docMk/>
          <pc:sldMk cId="3191682831" sldId="352"/>
        </pc:sldMkLst>
      </pc:sldChg>
      <pc:sldChg chg="modSp">
        <pc:chgData name="Dominic MacIsaac" userId="S::macisaac@gonzaga.edu::7ad5ccb2-0fa5-42b6-a48e-c5d58f802fe4" providerId="AD" clId="Web-{977EE6F1-F719-5BF2-54F1-AB5F72D68BE1}" dt="2025-10-28T17:15:04.347" v="18" actId="20577"/>
        <pc:sldMkLst>
          <pc:docMk/>
          <pc:sldMk cId="743892354" sldId="353"/>
        </pc:sldMkLst>
        <pc:spChg chg="mod">
          <ac:chgData name="Dominic MacIsaac" userId="S::macisaac@gonzaga.edu::7ad5ccb2-0fa5-42b6-a48e-c5d58f802fe4" providerId="AD" clId="Web-{977EE6F1-F719-5BF2-54F1-AB5F72D68BE1}" dt="2025-10-28T17:15:04.347" v="18" actId="20577"/>
          <ac:spMkLst>
            <pc:docMk/>
            <pc:sldMk cId="743892354" sldId="353"/>
            <ac:spMk id="3" creationId="{D748D8BE-B279-497F-9148-DD4B91CC97FA}"/>
          </ac:spMkLst>
        </pc:spChg>
      </pc:sldChg>
      <pc:sldChg chg="modSp">
        <pc:chgData name="Dominic MacIsaac" userId="S::macisaac@gonzaga.edu::7ad5ccb2-0fa5-42b6-a48e-c5d58f802fe4" providerId="AD" clId="Web-{977EE6F1-F719-5BF2-54F1-AB5F72D68BE1}" dt="2025-10-28T17:32:36.469" v="84" actId="20577"/>
        <pc:sldMkLst>
          <pc:docMk/>
          <pc:sldMk cId="438724004" sldId="354"/>
        </pc:sldMkLst>
        <pc:spChg chg="mod">
          <ac:chgData name="Dominic MacIsaac" userId="S::macisaac@gonzaga.edu::7ad5ccb2-0fa5-42b6-a48e-c5d58f802fe4" providerId="AD" clId="Web-{977EE6F1-F719-5BF2-54F1-AB5F72D68BE1}" dt="2025-10-28T17:32:36.469" v="84" actId="20577"/>
          <ac:spMkLst>
            <pc:docMk/>
            <pc:sldMk cId="438724004" sldId="354"/>
            <ac:spMk id="3" creationId="{D748D8BE-B279-497F-9148-DD4B91CC97FA}"/>
          </ac:spMkLst>
        </pc:spChg>
      </pc:sldChg>
      <pc:sldChg chg="modSp">
        <pc:chgData name="Dominic MacIsaac" userId="S::macisaac@gonzaga.edu::7ad5ccb2-0fa5-42b6-a48e-c5d58f802fe4" providerId="AD" clId="Web-{977EE6F1-F719-5BF2-54F1-AB5F72D68BE1}" dt="2025-10-28T17:31:55.281" v="25" actId="20577"/>
        <pc:sldMkLst>
          <pc:docMk/>
          <pc:sldMk cId="173611517" sldId="355"/>
        </pc:sldMkLst>
        <pc:spChg chg="mod">
          <ac:chgData name="Dominic MacIsaac" userId="S::macisaac@gonzaga.edu::7ad5ccb2-0fa5-42b6-a48e-c5d58f802fe4" providerId="AD" clId="Web-{977EE6F1-F719-5BF2-54F1-AB5F72D68BE1}" dt="2025-10-28T17:31:55.281" v="25" actId="20577"/>
          <ac:spMkLst>
            <pc:docMk/>
            <pc:sldMk cId="173611517" sldId="355"/>
            <ac:spMk id="3" creationId="{D748D8BE-B279-497F-9148-DD4B91CC97FA}"/>
          </ac:spMkLst>
        </pc:spChg>
      </pc:sldChg>
      <pc:sldChg chg="modSp">
        <pc:chgData name="Dominic MacIsaac" userId="S::macisaac@gonzaga.edu::7ad5ccb2-0fa5-42b6-a48e-c5d58f802fe4" providerId="AD" clId="Web-{977EE6F1-F719-5BF2-54F1-AB5F72D68BE1}" dt="2025-10-28T20:23:00.734" v="95" actId="20577"/>
        <pc:sldMkLst>
          <pc:docMk/>
          <pc:sldMk cId="764944441" sldId="356"/>
        </pc:sldMkLst>
        <pc:spChg chg="mod">
          <ac:chgData name="Dominic MacIsaac" userId="S::macisaac@gonzaga.edu::7ad5ccb2-0fa5-42b6-a48e-c5d58f802fe4" providerId="AD" clId="Web-{977EE6F1-F719-5BF2-54F1-AB5F72D68BE1}" dt="2025-10-28T20:23:00.734" v="95" actId="20577"/>
          <ac:spMkLst>
            <pc:docMk/>
            <pc:sldMk cId="764944441" sldId="356"/>
            <ac:spMk id="3" creationId="{4A66D817-07F6-4A51-972C-2FDDB016B425}"/>
          </ac:spMkLst>
        </pc:spChg>
      </pc:sldChg>
      <pc:sldChg chg="ord">
        <pc:chgData name="Dominic MacIsaac" userId="S::macisaac@gonzaga.edu::7ad5ccb2-0fa5-42b6-a48e-c5d58f802fe4" providerId="AD" clId="Web-{977EE6F1-F719-5BF2-54F1-AB5F72D68BE1}" dt="2025-10-28T20:23:52.313" v="121"/>
        <pc:sldMkLst>
          <pc:docMk/>
          <pc:sldMk cId="661287398" sldId="357"/>
        </pc:sldMkLst>
      </pc:sldChg>
      <pc:sldChg chg="add del">
        <pc:chgData name="Dominic MacIsaac" userId="S::macisaac@gonzaga.edu::7ad5ccb2-0fa5-42b6-a48e-c5d58f802fe4" providerId="AD" clId="Web-{977EE6F1-F719-5BF2-54F1-AB5F72D68BE1}" dt="2025-10-28T17:08:19.467" v="6"/>
        <pc:sldMkLst>
          <pc:docMk/>
          <pc:sldMk cId="1462196589" sldId="370"/>
        </pc:sldMkLst>
      </pc:sldChg>
      <pc:sldChg chg="modSp add del">
        <pc:chgData name="Dominic MacIsaac" userId="S::macisaac@gonzaga.edu::7ad5ccb2-0fa5-42b6-a48e-c5d58f802fe4" providerId="AD" clId="Web-{977EE6F1-F719-5BF2-54F1-AB5F72D68BE1}" dt="2025-10-28T17:14:48.957" v="13" actId="20577"/>
        <pc:sldMkLst>
          <pc:docMk/>
          <pc:sldMk cId="3076149185" sldId="371"/>
        </pc:sldMkLst>
        <pc:spChg chg="mod">
          <ac:chgData name="Dominic MacIsaac" userId="S::macisaac@gonzaga.edu::7ad5ccb2-0fa5-42b6-a48e-c5d58f802fe4" providerId="AD" clId="Web-{977EE6F1-F719-5BF2-54F1-AB5F72D68BE1}" dt="2025-10-28T17:14:48.957" v="13" actId="20577"/>
          <ac:spMkLst>
            <pc:docMk/>
            <pc:sldMk cId="3076149185" sldId="371"/>
            <ac:spMk id="6" creationId="{24BCAC9D-6936-4632-B969-D14E5710DAD2}"/>
          </ac:spMkLst>
        </pc:spChg>
      </pc:sldChg>
      <pc:sldChg chg="add del">
        <pc:chgData name="Dominic MacIsaac" userId="S::macisaac@gonzaga.edu::7ad5ccb2-0fa5-42b6-a48e-c5d58f802fe4" providerId="AD" clId="Web-{977EE6F1-F719-5BF2-54F1-AB5F72D68BE1}" dt="2025-10-28T17:08:19.842" v="8"/>
        <pc:sldMkLst>
          <pc:docMk/>
          <pc:sldMk cId="4229305711" sldId="372"/>
        </pc:sldMkLst>
      </pc:sldChg>
      <pc:sldChg chg="add del">
        <pc:chgData name="Dominic MacIsaac" userId="S::macisaac@gonzaga.edu::7ad5ccb2-0fa5-42b6-a48e-c5d58f802fe4" providerId="AD" clId="Web-{977EE6F1-F719-5BF2-54F1-AB5F72D68BE1}" dt="2025-10-28T17:08:20.264" v="9"/>
        <pc:sldMkLst>
          <pc:docMk/>
          <pc:sldMk cId="218460297" sldId="373"/>
        </pc:sldMkLst>
      </pc:sldChg>
      <pc:sldChg chg="add del">
        <pc:chgData name="Dominic MacIsaac" userId="S::macisaac@gonzaga.edu::7ad5ccb2-0fa5-42b6-a48e-c5d58f802fe4" providerId="AD" clId="Web-{977EE6F1-F719-5BF2-54F1-AB5F72D68BE1}" dt="2025-10-28T17:08:20.421" v="10"/>
        <pc:sldMkLst>
          <pc:docMk/>
          <pc:sldMk cId="1152917510" sldId="374"/>
        </pc:sldMkLst>
      </pc:sldChg>
      <pc:sldChg chg="add del">
        <pc:chgData name="Dominic MacIsaac" userId="S::macisaac@gonzaga.edu::7ad5ccb2-0fa5-42b6-a48e-c5d58f802fe4" providerId="AD" clId="Web-{977EE6F1-F719-5BF2-54F1-AB5F72D68BE1}" dt="2025-10-28T17:08:20.608" v="11"/>
        <pc:sldMkLst>
          <pc:docMk/>
          <pc:sldMk cId="4027469659" sldId="375"/>
        </pc:sldMkLst>
      </pc:sldChg>
      <pc:sldChg chg="delSp modSp new ord">
        <pc:chgData name="Dominic MacIsaac" userId="S::macisaac@gonzaga.edu::7ad5ccb2-0fa5-42b6-a48e-c5d58f802fe4" providerId="AD" clId="Web-{977EE6F1-F719-5BF2-54F1-AB5F72D68BE1}" dt="2025-10-28T21:26:20.811" v="405" actId="20577"/>
        <pc:sldMkLst>
          <pc:docMk/>
          <pc:sldMk cId="1475700396" sldId="401"/>
        </pc:sldMkLst>
        <pc:spChg chg="mod">
          <ac:chgData name="Dominic MacIsaac" userId="S::macisaac@gonzaga.edu::7ad5ccb2-0fa5-42b6-a48e-c5d58f802fe4" providerId="AD" clId="Web-{977EE6F1-F719-5BF2-54F1-AB5F72D68BE1}" dt="2025-10-28T20:28:15.894" v="382" actId="20577"/>
          <ac:spMkLst>
            <pc:docMk/>
            <pc:sldMk cId="1475700396" sldId="401"/>
            <ac:spMk id="2" creationId="{5490BEF2-BDE8-8EC5-5338-762261B28D16}"/>
          </ac:spMkLst>
        </pc:spChg>
        <pc:spChg chg="mod">
          <ac:chgData name="Dominic MacIsaac" userId="S::macisaac@gonzaga.edu::7ad5ccb2-0fa5-42b6-a48e-c5d58f802fe4" providerId="AD" clId="Web-{977EE6F1-F719-5BF2-54F1-AB5F72D68BE1}" dt="2025-10-28T21:26:20.811" v="405" actId="20577"/>
          <ac:spMkLst>
            <pc:docMk/>
            <pc:sldMk cId="1475700396" sldId="401"/>
            <ac:spMk id="3" creationId="{E5D93883-7BA8-1D78-8C94-04A8E813B92E}"/>
          </ac:spMkLst>
        </pc:spChg>
        <pc:spChg chg="del">
          <ac:chgData name="Dominic MacIsaac" userId="S::macisaac@gonzaga.edu::7ad5ccb2-0fa5-42b6-a48e-c5d58f802fe4" providerId="AD" clId="Web-{977EE6F1-F719-5BF2-54F1-AB5F72D68BE1}" dt="2025-10-28T20:25:53.627" v="240"/>
          <ac:spMkLst>
            <pc:docMk/>
            <pc:sldMk cId="1475700396" sldId="401"/>
            <ac:spMk id="4" creationId="{5DDFC2F4-FF97-D68A-E18B-79C59C1FD740}"/>
          </ac:spMkLst>
        </pc:spChg>
      </pc:sldChg>
      <pc:sldChg chg="modSp add replId">
        <pc:chgData name="Dominic MacIsaac" userId="S::macisaac@gonzaga.edu::7ad5ccb2-0fa5-42b6-a48e-c5d58f802fe4" providerId="AD" clId="Web-{977EE6F1-F719-5BF2-54F1-AB5F72D68BE1}" dt="2025-10-28T21:28:39.375" v="570" actId="20577"/>
        <pc:sldMkLst>
          <pc:docMk/>
          <pc:sldMk cId="3897612833" sldId="402"/>
        </pc:sldMkLst>
        <pc:spChg chg="mod">
          <ac:chgData name="Dominic MacIsaac" userId="S::macisaac@gonzaga.edu::7ad5ccb2-0fa5-42b6-a48e-c5d58f802fe4" providerId="AD" clId="Web-{977EE6F1-F719-5BF2-54F1-AB5F72D68BE1}" dt="2025-10-28T21:28:39.375" v="570" actId="20577"/>
          <ac:spMkLst>
            <pc:docMk/>
            <pc:sldMk cId="3897612833" sldId="402"/>
            <ac:spMk id="3" creationId="{654B0049-CAA9-EE0E-56A6-9497E237B016}"/>
          </ac:spMkLst>
        </pc:spChg>
      </pc:sldChg>
    </pc:docChg>
  </pc:docChgLst>
  <pc:docChgLst>
    <pc:chgData name="Dominic MacIsaac" userId="S::macisaac@gonzaga.edu::7ad5ccb2-0fa5-42b6-a48e-c5d58f802fe4" providerId="AD" clId="Web-{B25E1335-702A-A7E2-09C1-6AEED3DCCE2B}"/>
    <pc:docChg chg="modSld">
      <pc:chgData name="Dominic MacIsaac" userId="S::macisaac@gonzaga.edu::7ad5ccb2-0fa5-42b6-a48e-c5d58f802fe4" providerId="AD" clId="Web-{B25E1335-702A-A7E2-09C1-6AEED3DCCE2B}" dt="2025-10-24T18:42:42.640" v="42" actId="20577"/>
      <pc:docMkLst>
        <pc:docMk/>
      </pc:docMkLst>
      <pc:sldChg chg="modSp">
        <pc:chgData name="Dominic MacIsaac" userId="S::macisaac@gonzaga.edu::7ad5ccb2-0fa5-42b6-a48e-c5d58f802fe4" providerId="AD" clId="Web-{B25E1335-702A-A7E2-09C1-6AEED3DCCE2B}" dt="2025-10-24T18:42:42.640" v="42" actId="20577"/>
        <pc:sldMkLst>
          <pc:docMk/>
          <pc:sldMk cId="1990684191" sldId="336"/>
        </pc:sldMkLst>
        <pc:spChg chg="mod">
          <ac:chgData name="Dominic MacIsaac" userId="S::macisaac@gonzaga.edu::7ad5ccb2-0fa5-42b6-a48e-c5d58f802fe4" providerId="AD" clId="Web-{B25E1335-702A-A7E2-09C1-6AEED3DCCE2B}" dt="2025-10-24T18:42:42.640" v="42" actId="20577"/>
          <ac:spMkLst>
            <pc:docMk/>
            <pc:sldMk cId="1990684191" sldId="336"/>
            <ac:spMk id="3" creationId="{F71B0C7F-9003-477A-A619-DCB5DFC303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10/28/2025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A code statement reads, t = left parenthesis 1 comma 20 comma left bracket 97 comma 98 comma 99 right bracket right parenthesis. A diagram illustrates the process of storing mutable objects in a tuple. t references a tuple, which has three parts. The first part stores integer value 10. The second part stores integer value 20. The third part stores a list with integer values, from left to right, 97, 98, 99.</a:t>
            </a:r>
            <a:br>
              <a:rPr lang="en-IN" sz="1200" b="0" i="0" u="none" strike="noStrike" kern="1200" cap="none" dirty="0">
                <a:solidFill>
                  <a:schemeClr val="dk1"/>
                </a:solidFill>
                <a:effectLst/>
                <a:latin typeface="Arial"/>
                <a:ea typeface="Arial"/>
                <a:cs typeface="Arial"/>
                <a:sym typeface="Arial"/>
              </a:rPr>
            </a:b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09803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columns have the following headings from left to right. Row headings, Column 0, Column 1, . The row entries are as follows. Row 1. Row 0, Open quote Joe close quote, Open quote Kim close quote. Row 2. Row 1, Open quote Sam close quote, Open quote Sue close quote. Row 3. Row 2, Open quote Kelly close quote, Open quote Chris close quote. Note. The column and row headings are not a part of the list.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26168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columns have the following headings from left to right. Row headings, Column 0, Column 1, Column 2. The row entries are as follows. Row 1. Row 0, scores left bracket 0 right bracket left bracket 0 right bracket, scores left bracket 0 right bracket left bracket 1 right bracket, scores left bracket 0 right bracket left bracket 2 right bracket. Row 2. Row 1, scores left bracket 1 right bracket left bracket 0 right bracket, scores left bracket 1 right bracket left bracket 1 right bracket, scores left bracket 1 right bracket left bracket 2 right bracket. Row 3. Row 2, scores left bracket 2 right bracket left bracket 0 right bracket, scores left bracket 2 right bracket left bracket 1 right bracket, scores left bracket 2 right bracket left bracket 2 right bracket. Note. The column and row headings are not a part of the list.</a:t>
            </a:r>
            <a:r>
              <a:rPr lang="en-IN" dirty="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00233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horizontal axis is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this is the x axis, and the vertical axis is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this is the y axis. The x axis ranges from 0.0 to 4.0, in increments of 0.5, and the y axis ranges from 0 to 5, in unit increments. The graph is a line that passes through the following points. (0.0, 0), (1.0, 3), (2.0, 1), (3.0, 5), and (4.0, 2). All values are estimated.</a:t>
            </a:r>
            <a:r>
              <a:rPr lang="en-IN" dirty="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69534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horizontal axis is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this is the x axis, and the vertical axis is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this is the y axis. The x axis ranges from 0.0 to 4.0, in increments of 0.5, and the y axis ranges from 0 to 5, in unit increments. The graph is a line that passes through the following points. (0.0, 0), (1.0, 3), (2.0, 1), (3.0, 5), and (4.0, 2). All values are estimated.</a:t>
            </a:r>
            <a:r>
              <a:rPr lang="en-IN" dirty="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69936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title of the graph is displayed by the title left parenthesis right parenthesis function. The horizontal axis is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year and ranges from 20 16 to 20 20, in unit increments. The values on the x axis are displayed by the x ticks left parenthesis right parenthesis function. The label on the x axis, year, is displayed by the x label left parenthesis right parenthesis function. The vertical axis is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sales and ranges from 0 million dollars to 5 million dollars, in increments of 1 million. The values along the y axis are displayed by the y ticks left parenthesis right parenthesis function. The y axis is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using the y label left parenthesis right parenthesis function. Grid lines are drawn from each of the x and y intercepts. The graph is a line that passes through the following points. (20 16, 0 million dollars), (20 17, 3 million dollars), (20 18, 1 million dollar), (20 19, 5 million dollars), and (20 20, 2 million dollars). All the points are plotted. All values are estimated.</a:t>
            </a:r>
            <a:r>
              <a:rPr lang="en-IN" dirty="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34190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horizontal axis ranges from 0 to 45, in increments of 5, and the vertical axis ranges from 0 to 500, in increments of 100. The bars range up to the following values. (0, 100), (10, 200), (20, 300), (30, 400), and (40, 500). All values are estimated.</a:t>
            </a:r>
            <a:r>
              <a:rPr lang="en-IN" dirty="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31785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horizontal axis ranges from 0 to 45, in increments of 5, and the vertical axis ranges from 0 to 500, in increments of 100. The bars range up to the following values as tabulated below. The columns have the following headings from left to right. Horizontal axis values, Vertical axis values. The row entries are as follows. Row 1. 0 to 5, 100. Row 2. 10 to 15, 200. Row 3. 20 to 25, 300. Row 4. 30 to 35, 400. Row 5. 40 to 45, 500. All values are estimated.</a:t>
            </a:r>
            <a:r>
              <a:rPr lang="en-IN" dirty="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21901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The quarters are </a:t>
            </a:r>
            <a:r>
              <a:rPr lang="en-IN" sz="1200" b="0" i="0" u="none" strike="noStrike" kern="1200" cap="none" dirty="0" err="1">
                <a:solidFill>
                  <a:schemeClr val="dk1"/>
                </a:solidFill>
                <a:effectLst/>
                <a:latin typeface="Arial"/>
                <a:ea typeface="Arial"/>
                <a:cs typeface="Arial"/>
                <a:sym typeface="Arial"/>
              </a:rPr>
              <a:t>labeled</a:t>
            </a:r>
            <a:r>
              <a:rPr lang="en-IN" sz="1200" b="0" i="0" u="none" strike="noStrike" kern="1200" cap="none" dirty="0">
                <a:solidFill>
                  <a:schemeClr val="dk1"/>
                </a:solidFill>
                <a:effectLst/>
                <a:latin typeface="Arial"/>
                <a:ea typeface="Arial"/>
                <a:cs typeface="Arial"/>
                <a:sym typeface="Arial"/>
              </a:rPr>
              <a:t>, first quarter, second quarter, third quarter, and fourth quarter, respectively, counter clockwise. The first quarter is the smallest, followed by the third, second, and fourth quarters.</a:t>
            </a:r>
            <a:r>
              <a:rPr lang="en-IN" dirty="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5964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63</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2023, 2021, 2018 </a:t>
            </a:r>
            <a:r>
              <a:rPr lang="en-US" altLang="en-US" sz="1200" b="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title"/>
          </p:nvPr>
        </p:nvSpPr>
        <p:spPr/>
        <p:txBody>
          <a:bodyPr anchor="ctr"/>
          <a:lstStyle/>
          <a:p>
            <a:r>
              <a:rPr lang="en-US" noProof="0" dirty="0">
                <a:solidFill>
                  <a:schemeClr val="tx2"/>
                </a:solidFill>
                <a:ea typeface="+mn-ea"/>
              </a:rPr>
              <a:t>Starting Out with Python</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0"/>
              </a:ext>
            </a:extLst>
          </p:cNvPr>
          <p:cNvSpPr>
            <a:spLocks noGrp="1"/>
          </p:cNvSpPr>
          <p:nvPr>
            <p:ph type="body" idx="1"/>
          </p:nvPr>
        </p:nvSpPr>
        <p:spPr/>
        <p:txBody>
          <a:bodyPr anchor="ctr"/>
          <a:lstStyle/>
          <a:p>
            <a:r>
              <a:rPr lang="en-US" sz="2000" noProof="0" dirty="0">
                <a:solidFill>
                  <a:schemeClr val="tx2"/>
                </a:solidFill>
                <a:ea typeface="+mn-ea"/>
              </a:rPr>
              <a:t>Sixth</a:t>
            </a:r>
            <a:r>
              <a:rPr lang="en-US" noProof="0" dirty="0">
                <a:solidFill>
                  <a:schemeClr val="tx2"/>
                </a:solidFill>
              </a:rPr>
              <a:t> Edition</a:t>
            </a:r>
          </a:p>
        </p:txBody>
      </p:sp>
      <p:pic>
        <p:nvPicPr>
          <p:cNvPr id="4" name="Picture 3" descr="Front Cover: Starting Out with Python, Sixth Edition by Gaddi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532" y="1625669"/>
            <a:ext cx="3707341" cy="4597105"/>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5029200" y="1901370"/>
            <a:ext cx="3657600" cy="1191079"/>
          </a:xfrm>
        </p:spPr>
        <p:txBody>
          <a:bodyPr/>
          <a:lstStyle/>
          <a:p>
            <a:pPr marL="0" algn="ctr"/>
            <a:r>
              <a:rPr lang="en-US" b="1" noProof="0" dirty="0">
                <a:solidFill>
                  <a:schemeClr val="tx1"/>
                </a:solidFill>
                <a:latin typeface="+mn-lt"/>
              </a:rPr>
              <a:t>Chapter 7</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p:txBody>
          <a:bodyPr/>
          <a:lstStyle/>
          <a:p>
            <a:pPr defTabSz="914400">
              <a:defRPr/>
            </a:pPr>
            <a:r>
              <a:rPr lang="en-US" dirty="0">
                <a:solidFill>
                  <a:schemeClr val="tx1"/>
                </a:solidFill>
              </a:rPr>
              <a:t>Lists and Tuples</a:t>
            </a:r>
            <a:endParaRPr lang="en-US" noProof="0" dirty="0">
              <a:solidFill>
                <a:schemeClr val="tx1"/>
              </a:solidFill>
            </a:endParaRPr>
          </a:p>
        </p:txBody>
      </p:sp>
      <p:pic>
        <p:nvPicPr>
          <p:cNvPr id="12" name="Picture Placeholder 21" descr="Pearson Logo">
            <a:extLst>
              <a:ext uri="{FF2B5EF4-FFF2-40B4-BE49-F238E27FC236}">
                <a16:creationId xmlns:a16="http://schemas.microsoft.com/office/drawing/2014/main" id="{CF37FB16-D567-464F-82AB-B4CF4A031A4F}"/>
              </a:ext>
            </a:extLst>
          </p:cNvPr>
          <p:cNvPicPr>
            <a:picLocks noChangeAspect="1"/>
          </p:cNvPicPr>
          <p:nvPr/>
        </p:nvPicPr>
        <p:blipFill>
          <a:blip r:embed="rId4"/>
          <a:srcRect t="22152" b="22152"/>
          <a:stretch>
            <a:fillRect/>
          </a:stretch>
        </p:blipFill>
        <p:spPr>
          <a:xfrm>
            <a:off x="315677" y="6420639"/>
            <a:ext cx="1176574" cy="296443"/>
          </a:xfrm>
          <a:prstGeom prst="rect">
            <a:avLst/>
          </a:prstGeom>
          <a:noFill/>
          <a:ln>
            <a:noFill/>
          </a:ln>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0"/>
              </a:ext>
            </a:extLst>
          </p:cNvPr>
          <p:cNvSpPr>
            <a:spLocks noGrp="1"/>
          </p:cNvSpPr>
          <p:nvPr>
            <p:ph sz="quarter" idx="17"/>
          </p:nvPr>
        </p:nvSpPr>
        <p:spPr>
          <a:xfrm>
            <a:off x="2173073" y="6419201"/>
            <a:ext cx="6589712" cy="228600"/>
          </a:xfrm>
        </p:spPr>
        <p:txBody>
          <a:bodyPr/>
          <a:lstStyle/>
          <a:p>
            <a:pPr marL="0" indent="0"/>
            <a:r>
              <a:rPr lang="en-US" altLang="en-US" sz="1200" b="0" noProof="0" dirty="0">
                <a:latin typeface="Verdana"/>
                <a:ea typeface="Verdana" panose="020B0604030504040204" pitchFamily="34" charset="0"/>
                <a:cs typeface="Verdana" panose="020B0604030504040204" pitchFamily="34" charset="0"/>
              </a:rPr>
              <a:t>Copyright © </a:t>
            </a:r>
            <a:r>
              <a:rPr lang="en-US" noProof="0" dirty="0"/>
              <a:t>2023, 2021, 2018 </a:t>
            </a:r>
            <a:r>
              <a:rPr lang="en-US" altLang="en-US" sz="1200" b="0" noProof="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84487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Topics </a:t>
            </a:r>
            <a:r>
              <a:rPr lang="en-US" altLang="en-US" sz="2000" b="0" dirty="0"/>
              <a:t>(1 of 2)</a:t>
            </a:r>
            <a:endParaRPr lang="en-IN" sz="2000" b="0" dirty="0"/>
          </a:p>
        </p:txBody>
      </p:sp>
      <p:sp>
        <p:nvSpPr>
          <p:cNvPr id="4" name="Content Placeholder 3"/>
          <p:cNvSpPr>
            <a:spLocks noGrp="1"/>
          </p:cNvSpPr>
          <p:nvPr>
            <p:ph sz="quarter" idx="13"/>
          </p:nvPr>
        </p:nvSpPr>
        <p:spPr>
          <a:xfrm>
            <a:off x="457200" y="1556327"/>
            <a:ext cx="8229600" cy="2843395"/>
          </a:xfrm>
        </p:spPr>
        <p:txBody>
          <a:bodyPr/>
          <a:lstStyle/>
          <a:p>
            <a:r>
              <a:rPr lang="en-US" altLang="en-US" dirty="0"/>
              <a:t>Sequences</a:t>
            </a:r>
          </a:p>
          <a:p>
            <a:r>
              <a:rPr lang="en-US" altLang="en-US" dirty="0"/>
              <a:t>Introduction to Lists</a:t>
            </a:r>
          </a:p>
          <a:p>
            <a:r>
              <a:rPr lang="en-US" altLang="en-US" dirty="0"/>
              <a:t>List Slicing</a:t>
            </a:r>
          </a:p>
          <a:p>
            <a:r>
              <a:rPr lang="en-US" altLang="en-US" dirty="0"/>
              <a:t>Finding Items in Lists with the in Operator</a:t>
            </a:r>
          </a:p>
          <a:p>
            <a:r>
              <a:rPr lang="en-US" altLang="en-US" dirty="0"/>
              <a:t>List Methods and Useful Built-in Functions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Topics </a:t>
            </a:r>
            <a:r>
              <a:rPr lang="en-US" altLang="en-US" sz="2000" b="0" dirty="0"/>
              <a:t>(2 of 2)</a:t>
            </a:r>
            <a:endParaRPr lang="en-IN" sz="2000" dirty="0"/>
          </a:p>
        </p:txBody>
      </p:sp>
      <p:sp>
        <p:nvSpPr>
          <p:cNvPr id="4" name="Content Placeholder 3"/>
          <p:cNvSpPr>
            <a:spLocks noGrp="1"/>
          </p:cNvSpPr>
          <p:nvPr>
            <p:ph sz="quarter" idx="13"/>
          </p:nvPr>
        </p:nvSpPr>
        <p:spPr>
          <a:xfrm>
            <a:off x="457200" y="1556327"/>
            <a:ext cx="8229600" cy="3320473"/>
          </a:xfrm>
        </p:spPr>
        <p:txBody>
          <a:bodyPr/>
          <a:lstStyle/>
          <a:p>
            <a:r>
              <a:rPr lang="en-US" altLang="en-US" dirty="0"/>
              <a:t>Copying Lists</a:t>
            </a:r>
          </a:p>
          <a:p>
            <a:r>
              <a:rPr lang="en-US" altLang="en-US" dirty="0"/>
              <a:t>Processing Lists</a:t>
            </a:r>
          </a:p>
          <a:p>
            <a:r>
              <a:rPr lang="en-US" altLang="en-US" dirty="0"/>
              <a:t>List Comprehensions</a:t>
            </a:r>
          </a:p>
          <a:p>
            <a:r>
              <a:rPr lang="en-US" altLang="en-US" dirty="0"/>
              <a:t>Two-Dimensional Lists</a:t>
            </a:r>
          </a:p>
          <a:p>
            <a:r>
              <a:rPr lang="en-US" altLang="en-US" dirty="0"/>
              <a:t>Tuples</a:t>
            </a:r>
          </a:p>
          <a:p>
            <a:r>
              <a:rPr lang="en-US" altLang="en-US" dirty="0"/>
              <a:t>Plotting List Data with the </a:t>
            </a:r>
            <a:r>
              <a:rPr lang="en-US" altLang="en-US" dirty="0">
                <a:latin typeface="Courier New" panose="02070309020205020404" pitchFamily="49" charset="0"/>
                <a:cs typeface="Courier New" panose="02070309020205020404" pitchFamily="49" charset="0"/>
              </a:rPr>
              <a:t>matplotlib</a:t>
            </a:r>
            <a:r>
              <a:rPr lang="en-US" altLang="en-US" dirty="0"/>
              <a:t> Package</a:t>
            </a:r>
            <a:endParaRPr lang="he-IL" altLang="en-US" dirty="0"/>
          </a:p>
        </p:txBody>
      </p:sp>
    </p:spTree>
    <p:extLst>
      <p:ext uri="{BB962C8B-B14F-4D97-AF65-F5344CB8AC3E}">
        <p14:creationId xmlns:p14="http://schemas.microsoft.com/office/powerpoint/2010/main" val="2118985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56D2-8941-4551-9492-02D5FE92CAED}"/>
              </a:ext>
            </a:extLst>
          </p:cNvPr>
          <p:cNvSpPr>
            <a:spLocks noGrp="1"/>
          </p:cNvSpPr>
          <p:nvPr>
            <p:ph type="title"/>
          </p:nvPr>
        </p:nvSpPr>
        <p:spPr/>
        <p:txBody>
          <a:bodyPr/>
          <a:lstStyle/>
          <a:p>
            <a:r>
              <a:rPr lang="en-US" altLang="en-US" dirty="0"/>
              <a:t>Sequences</a:t>
            </a:r>
            <a:endParaRPr lang="en-IN" dirty="0"/>
          </a:p>
        </p:txBody>
      </p:sp>
      <p:sp>
        <p:nvSpPr>
          <p:cNvPr id="3" name="Content Placeholder 2">
            <a:extLst>
              <a:ext uri="{FF2B5EF4-FFF2-40B4-BE49-F238E27FC236}">
                <a16:creationId xmlns:a16="http://schemas.microsoft.com/office/drawing/2014/main" id="{F71B0C7F-9003-477A-A619-DCB5DFC303F7}"/>
              </a:ext>
            </a:extLst>
          </p:cNvPr>
          <p:cNvSpPr>
            <a:spLocks noGrp="1"/>
          </p:cNvSpPr>
          <p:nvPr>
            <p:ph sz="quarter" idx="13"/>
          </p:nvPr>
        </p:nvSpPr>
        <p:spPr>
          <a:xfrm>
            <a:off x="457200" y="1556327"/>
            <a:ext cx="8229600" cy="4171221"/>
          </a:xfrm>
        </p:spPr>
        <p:txBody>
          <a:bodyPr/>
          <a:lstStyle/>
          <a:p>
            <a:pPr marL="255905" indent="-255270"/>
            <a:r>
              <a:rPr lang="en-US" altLang="en-US" b="1" dirty="0"/>
              <a:t>Sequence: an object that contains multiple items of data</a:t>
            </a:r>
            <a:endParaRPr lang="en-US"/>
          </a:p>
          <a:p>
            <a:pPr lvl="1" indent="-283845"/>
            <a:r>
              <a:rPr lang="en-US" altLang="en-US" dirty="0"/>
              <a:t>The items are stored in sequence one after another</a:t>
            </a:r>
          </a:p>
          <a:p>
            <a:pPr marL="255905" indent="-255270"/>
            <a:r>
              <a:rPr lang="en-US" altLang="en-US" b="1" dirty="0"/>
              <a:t>Python provides different types of sequences, including lists and tuples</a:t>
            </a:r>
          </a:p>
          <a:p>
            <a:pPr lvl="1" indent="-283845"/>
            <a:r>
              <a:rPr lang="en-US" altLang="en-US" dirty="0"/>
              <a:t>The difference between these is that a list is mutable and a tuple is immutable</a:t>
            </a:r>
          </a:p>
          <a:p>
            <a:pPr lvl="1" indent="-283845"/>
            <a:r>
              <a:rPr lang="en-US" altLang="en-US" err="1"/>
              <a:t>Immutables</a:t>
            </a:r>
            <a:r>
              <a:rPr lang="en-US" altLang="en-US"/>
              <a:t> can't be changed after creation, mutables can be</a:t>
            </a:r>
          </a:p>
        </p:txBody>
      </p:sp>
    </p:spTree>
    <p:extLst>
      <p:ext uri="{BB962C8B-B14F-4D97-AF65-F5344CB8AC3E}">
        <p14:creationId xmlns:p14="http://schemas.microsoft.com/office/powerpoint/2010/main" val="1990684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658E2-01C0-4C04-B47C-4AD792FF2280}"/>
              </a:ext>
            </a:extLst>
          </p:cNvPr>
          <p:cNvSpPr>
            <a:spLocks noGrp="1"/>
          </p:cNvSpPr>
          <p:nvPr>
            <p:ph type="title"/>
          </p:nvPr>
        </p:nvSpPr>
        <p:spPr/>
        <p:txBody>
          <a:bodyPr/>
          <a:lstStyle/>
          <a:p>
            <a:r>
              <a:rPr lang="en-US" altLang="en-US" dirty="0"/>
              <a:t>Introduction to Lists </a:t>
            </a:r>
            <a:r>
              <a:rPr lang="en-US" altLang="en-US" sz="2000" b="0" dirty="0"/>
              <a:t>(1 of 2)</a:t>
            </a:r>
            <a:endParaRPr lang="en-IN" sz="2000" b="0" dirty="0"/>
          </a:p>
        </p:txBody>
      </p:sp>
      <p:sp>
        <p:nvSpPr>
          <p:cNvPr id="3" name="Content Placeholder 2">
            <a:extLst>
              <a:ext uri="{FF2B5EF4-FFF2-40B4-BE49-F238E27FC236}">
                <a16:creationId xmlns:a16="http://schemas.microsoft.com/office/drawing/2014/main" id="{ADF384C9-A271-48B8-81A8-257E7C03BFB0}"/>
              </a:ext>
            </a:extLst>
          </p:cNvPr>
          <p:cNvSpPr>
            <a:spLocks noGrp="1"/>
          </p:cNvSpPr>
          <p:nvPr>
            <p:ph sz="quarter" idx="13"/>
          </p:nvPr>
        </p:nvSpPr>
        <p:spPr>
          <a:xfrm>
            <a:off x="457200" y="1556327"/>
            <a:ext cx="8229600" cy="3386734"/>
          </a:xfrm>
        </p:spPr>
        <p:txBody>
          <a:bodyPr/>
          <a:lstStyle/>
          <a:p>
            <a:r>
              <a:rPr lang="en-US" altLang="en-US" b="1" dirty="0"/>
              <a:t>List: an object that contains multiple data items</a:t>
            </a:r>
          </a:p>
          <a:p>
            <a:pPr lvl="1"/>
            <a:r>
              <a:rPr lang="en-US" altLang="en-US" b="1" dirty="0"/>
              <a:t>Element</a:t>
            </a:r>
            <a:r>
              <a:rPr lang="en-US" altLang="en-US" dirty="0"/>
              <a:t>: An item in a list</a:t>
            </a:r>
          </a:p>
          <a:p>
            <a:pPr lvl="1"/>
            <a:r>
              <a:rPr lang="en-US" altLang="en-US" dirty="0"/>
              <a:t>Format: </a:t>
            </a:r>
            <a:r>
              <a:rPr lang="en-US" altLang="en-US" i="1" dirty="0">
                <a:latin typeface="Courier New" panose="02070309020205020404" pitchFamily="49" charset="0"/>
                <a:cs typeface="Courier New" panose="02070309020205020404" pitchFamily="49" charset="0"/>
              </a:rPr>
              <a:t>list</a:t>
            </a:r>
            <a:r>
              <a:rPr lang="en-US" altLang="en-US" dirty="0">
                <a:latin typeface="Courier New" panose="02070309020205020404" pitchFamily="49" charset="0"/>
                <a:cs typeface="Courier New" panose="02070309020205020404" pitchFamily="49" charset="0"/>
              </a:rPr>
              <a:t> = [</a:t>
            </a:r>
            <a:r>
              <a:rPr lang="en-US" altLang="en-US" i="1" dirty="0">
                <a:latin typeface="Courier New" panose="02070309020205020404" pitchFamily="49" charset="0"/>
                <a:cs typeface="Courier New" panose="02070309020205020404" pitchFamily="49" charset="0"/>
              </a:rPr>
              <a:t>item1</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item2</a:t>
            </a:r>
            <a:r>
              <a:rPr lang="en-US" altLang="en-US" dirty="0">
                <a:latin typeface="Courier New" panose="02070309020205020404" pitchFamily="49" charset="0"/>
                <a:cs typeface="Courier New" panose="02070309020205020404" pitchFamily="49" charset="0"/>
              </a:rPr>
              <a:t>, etc.]</a:t>
            </a:r>
          </a:p>
          <a:p>
            <a:pPr lvl="1"/>
            <a:r>
              <a:rPr lang="en-US" altLang="en-US" dirty="0">
                <a:cs typeface="Courier New" panose="02070309020205020404" pitchFamily="49" charset="0"/>
              </a:rPr>
              <a:t>Can hold items of different types</a:t>
            </a:r>
          </a:p>
          <a:p>
            <a:r>
              <a:rPr lang="en-US" altLang="en-US" b="1" dirty="0">
                <a:latin typeface="Courier New" panose="02070309020205020404" pitchFamily="49" charset="0"/>
                <a:cs typeface="Courier New" panose="02070309020205020404" pitchFamily="49" charset="0"/>
              </a:rPr>
              <a:t>print</a:t>
            </a:r>
            <a:r>
              <a:rPr lang="en-US" altLang="en-US" b="1" dirty="0">
                <a:cs typeface="Courier New" panose="02070309020205020404" pitchFamily="49" charset="0"/>
              </a:rPr>
              <a:t> function can be used to display an entire list</a:t>
            </a:r>
          </a:p>
          <a:p>
            <a:r>
              <a:rPr lang="en-US" altLang="en-US" b="1" dirty="0">
                <a:latin typeface="Courier New" panose="02070309020205020404" pitchFamily="49" charset="0"/>
                <a:cs typeface="Courier New" panose="02070309020205020404" pitchFamily="49" charset="0"/>
              </a:rPr>
              <a:t>list()</a:t>
            </a:r>
            <a:r>
              <a:rPr lang="en-US" altLang="en-US" b="1" dirty="0">
                <a:cs typeface="Courier New" panose="02070309020205020404" pitchFamily="49" charset="0"/>
              </a:rPr>
              <a:t> function can convert certain types of objects to lists</a:t>
            </a:r>
          </a:p>
        </p:txBody>
      </p:sp>
    </p:spTree>
    <p:extLst>
      <p:ext uri="{BB962C8B-B14F-4D97-AF65-F5344CB8AC3E}">
        <p14:creationId xmlns:p14="http://schemas.microsoft.com/office/powerpoint/2010/main" val="1111460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5F2FEF-4B7F-4F79-89C3-C1E2FA2B820C}"/>
              </a:ext>
            </a:extLst>
          </p:cNvPr>
          <p:cNvSpPr>
            <a:spLocks noGrp="1"/>
          </p:cNvSpPr>
          <p:nvPr>
            <p:ph type="title"/>
          </p:nvPr>
        </p:nvSpPr>
        <p:spPr/>
        <p:txBody>
          <a:bodyPr/>
          <a:lstStyle/>
          <a:p>
            <a:r>
              <a:rPr lang="en-US" altLang="en-US" dirty="0"/>
              <a:t>Introduction to Lists </a:t>
            </a:r>
            <a:r>
              <a:rPr lang="en-US" altLang="en-US" sz="2000" b="0" dirty="0"/>
              <a:t>(2 of 2)</a:t>
            </a:r>
            <a:endParaRPr lang="en-US" dirty="0"/>
          </a:p>
        </p:txBody>
      </p:sp>
      <p:sp>
        <p:nvSpPr>
          <p:cNvPr id="5" name="Content Placeholder 4">
            <a:extLst>
              <a:ext uri="{FF2B5EF4-FFF2-40B4-BE49-F238E27FC236}">
                <a16:creationId xmlns:a16="http://schemas.microsoft.com/office/drawing/2014/main" id="{9A9C94BB-87B8-4CDB-99E6-0AAFE9EB9B87}"/>
              </a:ext>
            </a:extLst>
          </p:cNvPr>
          <p:cNvSpPr>
            <a:spLocks noGrp="1"/>
          </p:cNvSpPr>
          <p:nvPr>
            <p:ph sz="quarter" idx="13"/>
          </p:nvPr>
        </p:nvSpPr>
        <p:spPr>
          <a:xfrm>
            <a:off x="457200" y="1552575"/>
            <a:ext cx="3312000" cy="432000"/>
          </a:xfrm>
        </p:spPr>
        <p:txBody>
          <a:bodyPr/>
          <a:lstStyle/>
          <a:p>
            <a:pPr marL="432" indent="0">
              <a:buNone/>
            </a:pPr>
            <a:r>
              <a:rPr lang="en-US" sz="2000" b="1" dirty="0"/>
              <a:t>Figure 7-1 </a:t>
            </a:r>
            <a:r>
              <a:rPr lang="en-US" sz="2000" dirty="0"/>
              <a:t>A list of integers</a:t>
            </a:r>
          </a:p>
        </p:txBody>
      </p:sp>
      <p:pic>
        <p:nvPicPr>
          <p:cNvPr id="20" name="Content Placeholder 19" descr="A list of even numbers is depicted as a 1 by 5 array in which the following elements are entered in each of the cells. 2, 4, 6, 8, and 10. An arrow from even underscore numbers points to the first element of the list.">
            <a:extLst>
              <a:ext uri="{FF2B5EF4-FFF2-40B4-BE49-F238E27FC236}">
                <a16:creationId xmlns:a16="http://schemas.microsoft.com/office/drawing/2014/main" id="{D343707C-5AEF-4FE5-AA8E-93E81FA0EFAB}"/>
              </a:ext>
            </a:extLst>
          </p:cNvPr>
          <p:cNvPicPr>
            <a:picLocks noGrp="1" noChangeAspect="1"/>
          </p:cNvPicPr>
          <p:nvPr>
            <p:ph sz="quarter" idx="14"/>
          </p:nvPr>
        </p:nvPicPr>
        <p:blipFill>
          <a:blip r:embed="rId2"/>
          <a:stretch>
            <a:fillRect/>
          </a:stretch>
        </p:blipFill>
        <p:spPr>
          <a:xfrm>
            <a:off x="2456651" y="2209774"/>
            <a:ext cx="4230698" cy="523926"/>
          </a:xfrm>
        </p:spPr>
      </p:pic>
      <p:sp>
        <p:nvSpPr>
          <p:cNvPr id="7" name="Content Placeholder 6">
            <a:extLst>
              <a:ext uri="{FF2B5EF4-FFF2-40B4-BE49-F238E27FC236}">
                <a16:creationId xmlns:a16="http://schemas.microsoft.com/office/drawing/2014/main" id="{AF5DC1D8-16A0-4981-9B24-B01A6D012722}"/>
              </a:ext>
            </a:extLst>
          </p:cNvPr>
          <p:cNvSpPr>
            <a:spLocks noGrp="1"/>
          </p:cNvSpPr>
          <p:nvPr>
            <p:ph sz="quarter" idx="15"/>
          </p:nvPr>
        </p:nvSpPr>
        <p:spPr>
          <a:xfrm>
            <a:off x="468313" y="2914165"/>
            <a:ext cx="3204000" cy="468000"/>
          </a:xfrm>
        </p:spPr>
        <p:txBody>
          <a:bodyPr/>
          <a:lstStyle/>
          <a:p>
            <a:pPr marL="432" indent="0">
              <a:buNone/>
            </a:pPr>
            <a:r>
              <a:rPr lang="en-US" sz="2000" b="1" dirty="0"/>
              <a:t>Figure 7-2 </a:t>
            </a:r>
            <a:r>
              <a:rPr lang="en-US" sz="2000" dirty="0"/>
              <a:t>A list of strings</a:t>
            </a:r>
          </a:p>
        </p:txBody>
      </p:sp>
      <p:pic>
        <p:nvPicPr>
          <p:cNvPr id="22" name="Content Placeholder 21" descr="A list of names is depicted as a 1 by 5 array in which the following elements are entered in each of the cells. Molly, Steven, Will, Alicia, and Adriana. An arrow from names points to the first element of the list.">
            <a:extLst>
              <a:ext uri="{FF2B5EF4-FFF2-40B4-BE49-F238E27FC236}">
                <a16:creationId xmlns:a16="http://schemas.microsoft.com/office/drawing/2014/main" id="{DC679A8D-E03F-4931-B26C-14D03C3495FA}"/>
              </a:ext>
            </a:extLst>
          </p:cNvPr>
          <p:cNvPicPr>
            <a:picLocks noGrp="1" noChangeAspect="1"/>
          </p:cNvPicPr>
          <p:nvPr>
            <p:ph sz="quarter" idx="16"/>
          </p:nvPr>
        </p:nvPicPr>
        <p:blipFill>
          <a:blip r:embed="rId3"/>
          <a:stretch>
            <a:fillRect/>
          </a:stretch>
        </p:blipFill>
        <p:spPr>
          <a:xfrm>
            <a:off x="1663834" y="3603439"/>
            <a:ext cx="5816332" cy="520862"/>
          </a:xfrm>
        </p:spPr>
      </p:pic>
      <p:sp>
        <p:nvSpPr>
          <p:cNvPr id="9" name="Content Placeholder 8">
            <a:extLst>
              <a:ext uri="{FF2B5EF4-FFF2-40B4-BE49-F238E27FC236}">
                <a16:creationId xmlns:a16="http://schemas.microsoft.com/office/drawing/2014/main" id="{304A43D9-9115-4D74-B1F1-07F14C6FF154}"/>
              </a:ext>
            </a:extLst>
          </p:cNvPr>
          <p:cNvSpPr>
            <a:spLocks noGrp="1"/>
          </p:cNvSpPr>
          <p:nvPr>
            <p:ph sz="quarter" idx="17"/>
          </p:nvPr>
        </p:nvSpPr>
        <p:spPr>
          <a:xfrm>
            <a:off x="468312" y="4304912"/>
            <a:ext cx="4713287" cy="476250"/>
          </a:xfrm>
        </p:spPr>
        <p:txBody>
          <a:bodyPr/>
          <a:lstStyle/>
          <a:p>
            <a:pPr marL="432" indent="0">
              <a:buNone/>
            </a:pPr>
            <a:r>
              <a:rPr lang="en-US" sz="2000" b="1" dirty="0"/>
              <a:t>Figure 7-3 </a:t>
            </a:r>
            <a:r>
              <a:rPr lang="en-US" sz="2000" dirty="0"/>
              <a:t>A list holding different types</a:t>
            </a:r>
          </a:p>
        </p:txBody>
      </p:sp>
      <p:pic>
        <p:nvPicPr>
          <p:cNvPr id="24" name="Content Placeholder 23" descr="A list is depicted as a 1 by 5 array in which the following elements are entered in each of the cells. Alicia, 27, and 1550.87. An arrow from info points to the first element of the list.">
            <a:extLst>
              <a:ext uri="{FF2B5EF4-FFF2-40B4-BE49-F238E27FC236}">
                <a16:creationId xmlns:a16="http://schemas.microsoft.com/office/drawing/2014/main" id="{AA5EC99D-6334-41ED-90EF-466977DD9D6B}"/>
              </a:ext>
            </a:extLst>
          </p:cNvPr>
          <p:cNvPicPr>
            <a:picLocks noGrp="1" noChangeAspect="1"/>
          </p:cNvPicPr>
          <p:nvPr>
            <p:ph sz="quarter" idx="18"/>
          </p:nvPr>
        </p:nvPicPr>
        <p:blipFill>
          <a:blip r:embed="rId4"/>
          <a:stretch>
            <a:fillRect/>
          </a:stretch>
        </p:blipFill>
        <p:spPr>
          <a:xfrm>
            <a:off x="2440310" y="4994040"/>
            <a:ext cx="4263379" cy="521744"/>
          </a:xfrm>
        </p:spPr>
      </p:pic>
    </p:spTree>
    <p:extLst>
      <p:ext uri="{BB962C8B-B14F-4D97-AF65-F5344CB8AC3E}">
        <p14:creationId xmlns:p14="http://schemas.microsoft.com/office/powerpoint/2010/main" val="3043294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8AD2B8-E018-4CB5-80A3-C70839CACE63}"/>
              </a:ext>
            </a:extLst>
          </p:cNvPr>
          <p:cNvSpPr>
            <a:spLocks noGrp="1"/>
          </p:cNvSpPr>
          <p:nvPr>
            <p:ph type="title"/>
          </p:nvPr>
        </p:nvSpPr>
        <p:spPr/>
        <p:txBody>
          <a:bodyPr tIns="90000"/>
          <a:lstStyle/>
          <a:p>
            <a:r>
              <a:rPr lang="en-US" altLang="en-US" dirty="0"/>
              <a:t>Indexing</a:t>
            </a:r>
            <a:endParaRPr lang="en-US" dirty="0"/>
          </a:p>
        </p:txBody>
      </p:sp>
      <p:sp>
        <p:nvSpPr>
          <p:cNvPr id="5" name="Content Placeholder 4">
            <a:extLst>
              <a:ext uri="{FF2B5EF4-FFF2-40B4-BE49-F238E27FC236}">
                <a16:creationId xmlns:a16="http://schemas.microsoft.com/office/drawing/2014/main" id="{1AF19947-7671-467A-801D-B9D2C321756F}"/>
              </a:ext>
            </a:extLst>
          </p:cNvPr>
          <p:cNvSpPr>
            <a:spLocks noGrp="1"/>
          </p:cNvSpPr>
          <p:nvPr>
            <p:ph sz="quarter" idx="13"/>
          </p:nvPr>
        </p:nvSpPr>
        <p:spPr>
          <a:xfrm>
            <a:off x="457200" y="1552574"/>
            <a:ext cx="8218488" cy="1728000"/>
          </a:xfrm>
        </p:spPr>
        <p:txBody>
          <a:bodyPr tIns="90000"/>
          <a:lstStyle/>
          <a:p>
            <a:pPr marL="255905" indent="-255270"/>
            <a:r>
              <a:rPr lang="en-US" altLang="en-US" b="1" dirty="0"/>
              <a:t>Index: a number specifying the position of an element in a list</a:t>
            </a:r>
            <a:endParaRPr lang="en-US"/>
          </a:p>
          <a:p>
            <a:pPr lvl="1" indent="-283845"/>
            <a:r>
              <a:rPr lang="en-US" altLang="en-US" dirty="0"/>
              <a:t>Enables access to individual element in list</a:t>
            </a:r>
          </a:p>
          <a:p>
            <a:pPr lvl="1" indent="-283845"/>
            <a:r>
              <a:rPr lang="en-US" altLang="en-US" dirty="0"/>
              <a:t>Index of first element in the list is 0, second element</a:t>
            </a:r>
            <a:endParaRPr lang="en-US" dirty="0"/>
          </a:p>
        </p:txBody>
      </p:sp>
      <p:sp>
        <p:nvSpPr>
          <p:cNvPr id="6" name="Content Placeholder 5">
            <a:extLst>
              <a:ext uri="{FF2B5EF4-FFF2-40B4-BE49-F238E27FC236}">
                <a16:creationId xmlns:a16="http://schemas.microsoft.com/office/drawing/2014/main" id="{1E1A5D14-1651-4A4F-9FEA-8581C08AC1C9}"/>
              </a:ext>
            </a:extLst>
          </p:cNvPr>
          <p:cNvSpPr>
            <a:spLocks noGrp="1"/>
          </p:cNvSpPr>
          <p:nvPr>
            <p:ph sz="quarter" idx="14"/>
          </p:nvPr>
        </p:nvSpPr>
        <p:spPr>
          <a:xfrm>
            <a:off x="470451" y="3334676"/>
            <a:ext cx="4158000" cy="396000"/>
          </a:xfrm>
        </p:spPr>
        <p:txBody>
          <a:bodyPr tIns="0"/>
          <a:lstStyle/>
          <a:p>
            <a:pPr marL="741600" lvl="1" indent="0">
              <a:buNone/>
            </a:pPr>
            <a:r>
              <a:rPr lang="en-US" altLang="en-US" dirty="0"/>
              <a:t>is 1, and </a:t>
            </a:r>
            <a:r>
              <a:rPr lang="en-US" altLang="en-US" dirty="0" err="1"/>
              <a:t>n’th</a:t>
            </a:r>
            <a:r>
              <a:rPr lang="en-US" altLang="en-US" dirty="0"/>
              <a:t> element is</a:t>
            </a:r>
            <a:endParaRPr lang="en-US" dirty="0"/>
          </a:p>
        </p:txBody>
      </p:sp>
      <p:graphicFrame>
        <p:nvGraphicFramePr>
          <p:cNvPr id="19" name="Object 18" descr="n minus 1">
            <a:extLst>
              <a:ext uri="{FF2B5EF4-FFF2-40B4-BE49-F238E27FC236}">
                <a16:creationId xmlns:a16="http://schemas.microsoft.com/office/drawing/2014/main" id="{DD1369AA-A17B-47AE-AF7B-7E874F9632DD}"/>
              </a:ext>
              <a:ext uri="{C183D7F6-B498-43B3-948B-1728B52AA6E4}">
                <adec:decorative xmlns:adec="http://schemas.microsoft.com/office/drawing/2017/decorative" val="0"/>
              </a:ext>
            </a:extLst>
          </p:cNvPr>
          <p:cNvGraphicFramePr>
            <a:graphicFrameLocks noChangeAspect="1"/>
          </p:cNvGraphicFramePr>
          <p:nvPr>
            <p:extLst>
              <p:ext uri="{D42A27DB-BD31-4B8C-83A1-F6EECF244321}">
                <p14:modId xmlns:p14="http://schemas.microsoft.com/office/powerpoint/2010/main" val="242253299"/>
              </p:ext>
            </p:extLst>
          </p:nvPr>
        </p:nvGraphicFramePr>
        <p:xfrm>
          <a:off x="4668759" y="3348254"/>
          <a:ext cx="611188" cy="319088"/>
        </p:xfrm>
        <a:graphic>
          <a:graphicData uri="http://schemas.openxmlformats.org/presentationml/2006/ole">
            <mc:AlternateContent xmlns:mc="http://schemas.openxmlformats.org/markup-compatibility/2006">
              <mc:Choice xmlns:v="urn:schemas-microsoft-com:vml" Requires="v">
                <p:oleObj name="Equation" r:id="rId2" imgW="317160" imgH="164880" progId="Equation.DSMT4">
                  <p:embed/>
                </p:oleObj>
              </mc:Choice>
              <mc:Fallback>
                <p:oleObj name="Equation" r:id="rId2" imgW="317160" imgH="164880" progId="Equation.DSMT4">
                  <p:embed/>
                  <p:pic>
                    <p:nvPicPr>
                      <p:cNvPr id="4" name="Object 3">
                        <a:extLst>
                          <a:ext uri="{FF2B5EF4-FFF2-40B4-BE49-F238E27FC236}">
                            <a16:creationId xmlns:a16="http://schemas.microsoft.com/office/drawing/2014/main" id="{592D5CDC-F206-4C94-976D-B8131379359A}"/>
                          </a:ext>
                          <a:ext uri="{C183D7F6-B498-43B3-948B-1728B52AA6E4}">
                            <adec:decorative xmlns:adec="http://schemas.microsoft.com/office/drawing/2017/decorative" val="0"/>
                          </a:ext>
                        </a:extLst>
                      </p:cNvPr>
                      <p:cNvPicPr/>
                      <p:nvPr/>
                    </p:nvPicPr>
                    <p:blipFill>
                      <a:blip r:embed="rId3"/>
                      <a:stretch>
                        <a:fillRect/>
                      </a:stretch>
                    </p:blipFill>
                    <p:spPr>
                      <a:xfrm>
                        <a:off x="4668759" y="3348254"/>
                        <a:ext cx="611188" cy="319088"/>
                      </a:xfrm>
                      <a:prstGeom prst="rect">
                        <a:avLst/>
                      </a:prstGeom>
                      <a:noFill/>
                    </p:spPr>
                  </p:pic>
                </p:oleObj>
              </mc:Fallback>
            </mc:AlternateContent>
          </a:graphicData>
        </a:graphic>
      </p:graphicFrame>
    </p:spTree>
    <p:extLst>
      <p:ext uri="{BB962C8B-B14F-4D97-AF65-F5344CB8AC3E}">
        <p14:creationId xmlns:p14="http://schemas.microsoft.com/office/powerpoint/2010/main" val="149667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0B1B-BF65-417E-B0D4-998742072868}"/>
              </a:ext>
            </a:extLst>
          </p:cNvPr>
          <p:cNvSpPr>
            <a:spLocks noGrp="1"/>
          </p:cNvSpPr>
          <p:nvPr>
            <p:ph type="title"/>
          </p:nvPr>
        </p:nvSpPr>
        <p:spPr/>
        <p:txBody>
          <a:bodyPr/>
          <a:lstStyle/>
          <a:p>
            <a:r>
              <a:rPr lang="en-US" altLang="en-US" dirty="0"/>
              <a:t>The </a:t>
            </a:r>
            <a:r>
              <a:rPr lang="en-US" altLang="en-US" dirty="0" err="1">
                <a:latin typeface="Courier New" panose="02070309020205020404" pitchFamily="49" charset="0"/>
                <a:cs typeface="Courier New" panose="02070309020205020404" pitchFamily="49" charset="0"/>
              </a:rPr>
              <a:t>len</a:t>
            </a:r>
            <a:r>
              <a:rPr lang="en-US" altLang="en-US" dirty="0"/>
              <a:t> function</a:t>
            </a:r>
            <a:endParaRPr lang="en-US" dirty="0"/>
          </a:p>
        </p:txBody>
      </p:sp>
      <p:sp>
        <p:nvSpPr>
          <p:cNvPr id="3" name="Content Placeholder 2">
            <a:extLst>
              <a:ext uri="{FF2B5EF4-FFF2-40B4-BE49-F238E27FC236}">
                <a16:creationId xmlns:a16="http://schemas.microsoft.com/office/drawing/2014/main" id="{CA5C6928-2D65-4EF8-A518-0B83B12D9261}"/>
              </a:ext>
            </a:extLst>
          </p:cNvPr>
          <p:cNvSpPr>
            <a:spLocks noGrp="1"/>
          </p:cNvSpPr>
          <p:nvPr>
            <p:ph sz="quarter" idx="13"/>
          </p:nvPr>
        </p:nvSpPr>
        <p:spPr>
          <a:xfrm>
            <a:off x="457200" y="1556327"/>
            <a:ext cx="8229600" cy="4062595"/>
          </a:xfrm>
        </p:spPr>
        <p:txBody>
          <a:bodyPr/>
          <a:lstStyle/>
          <a:p>
            <a:pPr marL="255905" indent="-255270"/>
            <a:r>
              <a:rPr lang="en-US" altLang="en-US" b="1" dirty="0"/>
              <a:t>An </a:t>
            </a:r>
            <a:r>
              <a:rPr lang="en-US" altLang="en-US" b="1" err="1">
                <a:latin typeface="Courier New"/>
                <a:cs typeface="Courier New"/>
              </a:rPr>
              <a:t>IndexError</a:t>
            </a:r>
            <a:r>
              <a:rPr lang="en-US" altLang="en-US" b="1" dirty="0"/>
              <a:t> exception is raised if an  invalid index is used</a:t>
            </a:r>
            <a:endParaRPr lang="en-US"/>
          </a:p>
          <a:p>
            <a:pPr marL="255905" indent="-255270"/>
            <a:r>
              <a:rPr lang="en-US" altLang="en-US" b="1" dirty="0" err="1">
                <a:latin typeface="Courier New"/>
                <a:cs typeface="Courier New"/>
              </a:rPr>
              <a:t>len</a:t>
            </a:r>
            <a:r>
              <a:rPr lang="en-US" altLang="en-US" b="1" dirty="0">
                <a:cs typeface="Courier New"/>
              </a:rPr>
              <a:t> function: returns the length of a sequence such as a list</a:t>
            </a:r>
          </a:p>
          <a:p>
            <a:pPr lvl="1" indent="-283845"/>
            <a:r>
              <a:rPr lang="en-US" altLang="en-US" dirty="0">
                <a:cs typeface="Courier New" panose="02070309020205020404" pitchFamily="49" charset="0"/>
              </a:rPr>
              <a:t>Example: </a:t>
            </a:r>
            <a:r>
              <a:rPr lang="en-US" altLang="en-US" i="1" dirty="0">
                <a:latin typeface="Courier New" panose="02070309020205020404" pitchFamily="49" charset="0"/>
                <a:cs typeface="Courier New" panose="02070309020205020404" pitchFamily="49" charset="0"/>
              </a:rPr>
              <a:t>size</a:t>
            </a:r>
            <a:r>
              <a:rPr lang="en-US" altLang="en-US" dirty="0">
                <a:latin typeface="Courier New" panose="02070309020205020404" pitchFamily="49" charset="0"/>
                <a:cs typeface="Courier New" panose="02070309020205020404" pitchFamily="49" charset="0"/>
              </a:rPr>
              <a:t> = </a:t>
            </a:r>
            <a:r>
              <a:rPr lang="en-US" altLang="en-US" dirty="0" err="1">
                <a:latin typeface="Courier New" panose="02070309020205020404" pitchFamily="49" charset="0"/>
                <a:cs typeface="Courier New" panose="02070309020205020404" pitchFamily="49" charset="0"/>
              </a:rPr>
              <a:t>len</a:t>
            </a:r>
            <a:r>
              <a:rPr lang="en-US" altLang="en-US" dirty="0">
                <a:latin typeface="Courier New" panose="02070309020205020404" pitchFamily="49" charset="0"/>
                <a:cs typeface="Courier New" panose="02070309020205020404" pitchFamily="49" charset="0"/>
              </a:rPr>
              <a:t>(</a:t>
            </a:r>
            <a:r>
              <a:rPr lang="en-US" altLang="en-US" i="1" dirty="0" err="1">
                <a:latin typeface="Courier New" panose="02070309020205020404" pitchFamily="49" charset="0"/>
                <a:cs typeface="Courier New" panose="02070309020205020404" pitchFamily="49" charset="0"/>
              </a:rPr>
              <a:t>my_list</a:t>
            </a:r>
            <a:r>
              <a:rPr lang="en-US" altLang="en-US" dirty="0">
                <a:latin typeface="Courier New" panose="02070309020205020404" pitchFamily="49" charset="0"/>
                <a:cs typeface="Courier New" panose="02070309020205020404" pitchFamily="49" charset="0"/>
              </a:rPr>
              <a:t>)</a:t>
            </a:r>
            <a:endParaRPr lang="en-US" altLang="en-US">
              <a:latin typeface="Courier New" panose="02070309020205020404" pitchFamily="49" charset="0"/>
              <a:cs typeface="Courier New" panose="02070309020205020404" pitchFamily="49" charset="0"/>
            </a:endParaRPr>
          </a:p>
          <a:p>
            <a:pPr lvl="1" indent="-283845"/>
            <a:r>
              <a:rPr lang="en-US" altLang="en-US" dirty="0">
                <a:cs typeface="Courier New"/>
              </a:rPr>
              <a:t>Returns the number of elements in the list, </a:t>
            </a:r>
          </a:p>
          <a:p>
            <a:pPr lvl="2" indent="-229870"/>
            <a:r>
              <a:rPr lang="en-US" altLang="en-US">
                <a:cs typeface="Courier New"/>
              </a:rPr>
              <a:t>so the index of the last element in a list is </a:t>
            </a:r>
            <a:r>
              <a:rPr lang="en-US" altLang="en-US">
                <a:latin typeface="Courier New"/>
                <a:cs typeface="Courier New"/>
              </a:rPr>
              <a:t>len(my_list)-1</a:t>
            </a:r>
            <a:endParaRPr lang="en-US">
              <a:latin typeface="Courier New"/>
              <a:cs typeface="Courier New"/>
            </a:endParaRPr>
          </a:p>
          <a:p>
            <a:pPr lvl="1" indent="-283845"/>
            <a:r>
              <a:rPr lang="en-US" altLang="en-US" dirty="0">
                <a:cs typeface="Courier New" panose="02070309020205020404" pitchFamily="49" charset="0"/>
              </a:rPr>
              <a:t>Can be used to prevent an </a:t>
            </a:r>
            <a:r>
              <a:rPr lang="en-US" altLang="en-US" dirty="0" err="1">
                <a:latin typeface="Courier New" panose="02070309020205020404" pitchFamily="49" charset="0"/>
                <a:cs typeface="Courier New" panose="02070309020205020404" pitchFamily="49" charset="0"/>
              </a:rPr>
              <a:t>IndexError</a:t>
            </a:r>
            <a:r>
              <a:rPr lang="en-US" altLang="en-US" dirty="0">
                <a:latin typeface="Courier New" panose="02070309020205020404" pitchFamily="49" charset="0"/>
                <a:cs typeface="Courier New" panose="02070309020205020404" pitchFamily="49" charset="0"/>
              </a:rPr>
              <a:t> </a:t>
            </a:r>
            <a:r>
              <a:rPr lang="en-US" altLang="en-US" dirty="0">
                <a:cs typeface="Courier New" panose="02070309020205020404" pitchFamily="49" charset="0"/>
              </a:rPr>
              <a:t>exception when iterating over a list with a loop</a:t>
            </a:r>
          </a:p>
        </p:txBody>
      </p:sp>
    </p:spTree>
    <p:extLst>
      <p:ext uri="{BB962C8B-B14F-4D97-AF65-F5344CB8AC3E}">
        <p14:creationId xmlns:p14="http://schemas.microsoft.com/office/powerpoint/2010/main" val="10526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EB45-4301-487A-B158-BE880F229827}"/>
              </a:ext>
            </a:extLst>
          </p:cNvPr>
          <p:cNvSpPr>
            <a:spLocks noGrp="1"/>
          </p:cNvSpPr>
          <p:nvPr>
            <p:ph type="title"/>
          </p:nvPr>
        </p:nvSpPr>
        <p:spPr/>
        <p:txBody>
          <a:bodyPr/>
          <a:lstStyle/>
          <a:p>
            <a:r>
              <a:rPr lang="en-US" dirty="0"/>
              <a:t>Lists Are Mutable</a:t>
            </a:r>
          </a:p>
        </p:txBody>
      </p:sp>
      <p:sp>
        <p:nvSpPr>
          <p:cNvPr id="3" name="Content Placeholder 2">
            <a:extLst>
              <a:ext uri="{FF2B5EF4-FFF2-40B4-BE49-F238E27FC236}">
                <a16:creationId xmlns:a16="http://schemas.microsoft.com/office/drawing/2014/main" id="{8A8F66CC-1FBF-4C4C-B0A5-70FB6ABBCD80}"/>
              </a:ext>
            </a:extLst>
          </p:cNvPr>
          <p:cNvSpPr>
            <a:spLocks noGrp="1"/>
          </p:cNvSpPr>
          <p:nvPr>
            <p:ph sz="quarter" idx="13"/>
          </p:nvPr>
        </p:nvSpPr>
        <p:spPr>
          <a:xfrm>
            <a:off x="457200" y="1556327"/>
            <a:ext cx="8229600" cy="4036090"/>
          </a:xfrm>
        </p:spPr>
        <p:txBody>
          <a:bodyPr/>
          <a:lstStyle/>
          <a:p>
            <a:r>
              <a:rPr lang="en-US" altLang="en-US" b="1" dirty="0">
                <a:cs typeface="Courier New" panose="02070309020205020404" pitchFamily="49" charset="0"/>
              </a:rPr>
              <a:t>Mutable sequence: the items in the sequence can be changed</a:t>
            </a:r>
          </a:p>
          <a:p>
            <a:pPr lvl="1"/>
            <a:r>
              <a:rPr lang="en-US" altLang="en-US" dirty="0">
                <a:cs typeface="Courier New" panose="02070309020205020404" pitchFamily="49" charset="0"/>
              </a:rPr>
              <a:t>Lists are mutable, and so their elements can be changed</a:t>
            </a:r>
          </a:p>
          <a:p>
            <a:r>
              <a:rPr lang="en-US" altLang="en-US" b="1" dirty="0">
                <a:cs typeface="Courier New" panose="02070309020205020404" pitchFamily="49" charset="0"/>
              </a:rPr>
              <a:t>An expression such as </a:t>
            </a:r>
          </a:p>
          <a:p>
            <a:r>
              <a:rPr lang="en-US" altLang="en-US" b="1" dirty="0">
                <a:latin typeface="Courier New" panose="02070309020205020404" pitchFamily="49" charset="0"/>
                <a:cs typeface="Courier New" panose="02070309020205020404" pitchFamily="49" charset="0"/>
              </a:rPr>
              <a:t>list[1] = </a:t>
            </a:r>
            <a:r>
              <a:rPr lang="en-US" altLang="en-US" b="1" dirty="0" err="1">
                <a:latin typeface="Courier New" panose="02070309020205020404" pitchFamily="49" charset="0"/>
                <a:cs typeface="Courier New" panose="02070309020205020404" pitchFamily="49" charset="0"/>
              </a:rPr>
              <a:t>new_value</a:t>
            </a:r>
            <a:r>
              <a:rPr lang="en-US" altLang="en-US" b="1" dirty="0">
                <a:cs typeface="Courier New" panose="02070309020205020404" pitchFamily="49" charset="0"/>
              </a:rPr>
              <a:t> can be used to assign a new value to a list element</a:t>
            </a:r>
          </a:p>
          <a:p>
            <a:pPr lvl="1"/>
            <a:r>
              <a:rPr lang="en-US" altLang="en-US" dirty="0">
                <a:cs typeface="Courier New" panose="02070309020205020404" pitchFamily="49" charset="0"/>
              </a:rPr>
              <a:t>Must use a valid index to prevent raising of an </a:t>
            </a:r>
            <a:r>
              <a:rPr lang="en-US" altLang="en-US" dirty="0" err="1">
                <a:latin typeface="Courier New" panose="02070309020205020404" pitchFamily="49" charset="0"/>
                <a:cs typeface="Courier New" panose="02070309020205020404" pitchFamily="49" charset="0"/>
              </a:rPr>
              <a:t>IndexError</a:t>
            </a:r>
            <a:r>
              <a:rPr lang="en-US" altLang="en-US" dirty="0">
                <a:cs typeface="Courier New" panose="02070309020205020404" pitchFamily="49" charset="0"/>
              </a:rPr>
              <a:t> exception</a:t>
            </a:r>
            <a:endParaRPr lang="en-US" alt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85119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EA72-6C7F-4869-9F99-31D64FA2A511}"/>
              </a:ext>
            </a:extLst>
          </p:cNvPr>
          <p:cNvSpPr>
            <a:spLocks noGrp="1"/>
          </p:cNvSpPr>
          <p:nvPr>
            <p:ph type="title"/>
          </p:nvPr>
        </p:nvSpPr>
        <p:spPr/>
        <p:txBody>
          <a:bodyPr/>
          <a:lstStyle/>
          <a:p>
            <a:r>
              <a:rPr lang="en-US" altLang="en-US" dirty="0"/>
              <a:t>Concatenating Lists</a:t>
            </a:r>
            <a:endParaRPr lang="en-US" dirty="0"/>
          </a:p>
        </p:txBody>
      </p:sp>
      <p:sp>
        <p:nvSpPr>
          <p:cNvPr id="3" name="Content Placeholder 2">
            <a:extLst>
              <a:ext uri="{FF2B5EF4-FFF2-40B4-BE49-F238E27FC236}">
                <a16:creationId xmlns:a16="http://schemas.microsoft.com/office/drawing/2014/main" id="{90ABA65A-5F0D-4235-906D-913486E49C92}"/>
              </a:ext>
            </a:extLst>
          </p:cNvPr>
          <p:cNvSpPr>
            <a:spLocks noGrp="1"/>
          </p:cNvSpPr>
          <p:nvPr>
            <p:ph sz="quarter" idx="13"/>
          </p:nvPr>
        </p:nvSpPr>
        <p:spPr>
          <a:xfrm>
            <a:off x="457200" y="1556327"/>
            <a:ext cx="8229600" cy="2989169"/>
          </a:xfrm>
        </p:spPr>
        <p:txBody>
          <a:bodyPr/>
          <a:lstStyle/>
          <a:p>
            <a:r>
              <a:rPr lang="en-US" altLang="en-US" b="1" dirty="0"/>
              <a:t>Concatenate: join two things together </a:t>
            </a:r>
          </a:p>
          <a:p>
            <a:r>
              <a:rPr lang="en-US" altLang="en-US" b="1" dirty="0"/>
              <a:t>The </a:t>
            </a:r>
            <a:r>
              <a:rPr lang="en-US" altLang="en-US" b="1" dirty="0">
                <a:latin typeface="Courier New" panose="02070309020205020404" pitchFamily="49" charset="0"/>
                <a:cs typeface="Courier New" panose="02070309020205020404" pitchFamily="49" charset="0"/>
              </a:rPr>
              <a:t>+</a:t>
            </a:r>
            <a:r>
              <a:rPr lang="en-US" altLang="en-US" b="1" dirty="0"/>
              <a:t> operator can be used to concatenate two lists</a:t>
            </a:r>
          </a:p>
          <a:p>
            <a:pPr lvl="1"/>
            <a:r>
              <a:rPr lang="en-US" altLang="en-US" dirty="0"/>
              <a:t>Cannot concatenate a list with another data type, such as a number</a:t>
            </a:r>
          </a:p>
          <a:p>
            <a:r>
              <a:rPr lang="en-US" altLang="en-US" b="1" dirty="0">
                <a:cs typeface="Courier New" panose="02070309020205020404" pitchFamily="49" charset="0"/>
              </a:rPr>
              <a:t>The </a:t>
            </a:r>
            <a:r>
              <a:rPr lang="en-US" altLang="en-US" b="1" dirty="0">
                <a:latin typeface="Courier New" panose="02070309020205020404" pitchFamily="49" charset="0"/>
                <a:cs typeface="Courier New" panose="02070309020205020404" pitchFamily="49" charset="0"/>
              </a:rPr>
              <a:t>+=</a:t>
            </a:r>
            <a:r>
              <a:rPr lang="en-US" altLang="en-US" b="1" dirty="0">
                <a:cs typeface="Courier New" panose="02070309020205020404" pitchFamily="49" charset="0"/>
              </a:rPr>
              <a:t> augmented assignment operator can also be used to concatenate lists</a:t>
            </a:r>
            <a:endParaRPr lang="he-IL" altLang="en-US" b="1" dirty="0">
              <a:cs typeface="Courier New" panose="02070309020205020404" pitchFamily="49" charset="0"/>
            </a:endParaRPr>
          </a:p>
        </p:txBody>
      </p:sp>
    </p:spTree>
    <p:extLst>
      <p:ext uri="{BB962C8B-B14F-4D97-AF65-F5344CB8AC3E}">
        <p14:creationId xmlns:p14="http://schemas.microsoft.com/office/powerpoint/2010/main" val="701117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298CC-4CA8-5F88-5611-7D6A4C8C7A20}"/>
              </a:ext>
            </a:extLst>
          </p:cNvPr>
          <p:cNvSpPr>
            <a:spLocks noGrp="1"/>
          </p:cNvSpPr>
          <p:nvPr>
            <p:ph type="title"/>
          </p:nvPr>
        </p:nvSpPr>
        <p:spPr/>
        <p:txBody>
          <a:bodyPr/>
          <a:lstStyle/>
          <a:p>
            <a:r>
              <a:rPr lang="en-US" dirty="0"/>
              <a:t>Methods vs Functions</a:t>
            </a:r>
          </a:p>
        </p:txBody>
      </p:sp>
      <p:sp>
        <p:nvSpPr>
          <p:cNvPr id="3" name="Content Placeholder 2">
            <a:extLst>
              <a:ext uri="{FF2B5EF4-FFF2-40B4-BE49-F238E27FC236}">
                <a16:creationId xmlns:a16="http://schemas.microsoft.com/office/drawing/2014/main" id="{A5E05CFC-E8B4-CAF7-CD1B-F02D77490408}"/>
              </a:ext>
            </a:extLst>
          </p:cNvPr>
          <p:cNvSpPr>
            <a:spLocks noGrp="1"/>
          </p:cNvSpPr>
          <p:nvPr>
            <p:ph sz="quarter" idx="13"/>
          </p:nvPr>
        </p:nvSpPr>
        <p:spPr>
          <a:xfrm>
            <a:off x="457200" y="1556327"/>
            <a:ext cx="8501141" cy="4586896"/>
          </a:xfrm>
        </p:spPr>
        <p:txBody>
          <a:bodyPr/>
          <a:lstStyle/>
          <a:p>
            <a:pPr marL="255905" indent="-255270"/>
            <a:r>
              <a:rPr lang="en-US" b="1">
                <a:ea typeface="+mn-lt"/>
                <a:cs typeface="+mn-lt"/>
              </a:rPr>
              <a:t>Methods = Object’s own actions</a:t>
            </a:r>
            <a:br>
              <a:rPr lang="en-US" b="1">
                <a:ea typeface="+mn-lt"/>
                <a:cs typeface="+mn-lt"/>
              </a:rPr>
            </a:br>
            <a:r>
              <a:rPr lang="en-US" b="1">
                <a:ea typeface="+mn-lt"/>
                <a:cs typeface="+mn-lt"/>
              </a:rPr>
              <a:t>Functions = General-purpose helpers</a:t>
            </a:r>
            <a:endParaRPr lang="en-US"/>
          </a:p>
          <a:p>
            <a:pPr marL="255905" indent="-255270"/>
            <a:r>
              <a:rPr lang="en-US"/>
              <a:t>Method format: </a:t>
            </a:r>
            <a:r>
              <a:rPr lang="en-US">
                <a:solidFill>
                  <a:schemeClr val="accent1">
                    <a:lumMod val="60000"/>
                    <a:lumOff val="40000"/>
                  </a:schemeClr>
                </a:solidFill>
              </a:rPr>
              <a:t>&lt;object_name&gt;</a:t>
            </a:r>
            <a:r>
              <a:rPr lang="en-US" b="1">
                <a:solidFill>
                  <a:schemeClr val="accent3">
                    <a:lumMod val="76000"/>
                  </a:schemeClr>
                </a:solidFill>
              </a:rPr>
              <a:t>.</a:t>
            </a:r>
            <a:r>
              <a:rPr lang="en-US">
                <a:solidFill>
                  <a:schemeClr val="accent5">
                    <a:lumMod val="76000"/>
                  </a:schemeClr>
                </a:solidFill>
              </a:rPr>
              <a:t>&lt;method_name&gt;</a:t>
            </a:r>
            <a:r>
              <a:rPr lang="en-US" b="1">
                <a:solidFill>
                  <a:schemeClr val="accent3">
                    <a:lumMod val="76000"/>
                  </a:schemeClr>
                </a:solidFill>
              </a:rPr>
              <a:t>( )</a:t>
            </a:r>
          </a:p>
          <a:p>
            <a:pPr lvl="1" indent="-283845">
              <a:buFont typeface="Courier New"/>
              <a:buChar char="o"/>
            </a:pPr>
            <a:r>
              <a:rPr lang="en-US" b="1">
                <a:solidFill>
                  <a:schemeClr val="tx1"/>
                </a:solidFill>
              </a:rPr>
              <a:t>Ex: </a:t>
            </a:r>
            <a:r>
              <a:rPr lang="en-US" b="1">
                <a:solidFill>
                  <a:schemeClr val="accent1">
                    <a:lumMod val="60000"/>
                    <a:lumOff val="40000"/>
                  </a:schemeClr>
                </a:solidFill>
              </a:rPr>
              <a:t>mylist</a:t>
            </a:r>
            <a:r>
              <a:rPr lang="en-US" b="1">
                <a:solidFill>
                  <a:schemeClr val="accent3">
                    <a:lumMod val="76000"/>
                  </a:schemeClr>
                </a:solidFill>
              </a:rPr>
              <a:t>.</a:t>
            </a:r>
            <a:r>
              <a:rPr lang="en-US" b="1">
                <a:solidFill>
                  <a:schemeClr val="accent5">
                    <a:lumMod val="76000"/>
                  </a:schemeClr>
                </a:solidFill>
              </a:rPr>
              <a:t>append</a:t>
            </a:r>
            <a:r>
              <a:rPr lang="en-US" b="1">
                <a:solidFill>
                  <a:schemeClr val="accent3">
                    <a:lumMod val="76000"/>
                  </a:schemeClr>
                </a:solidFill>
              </a:rPr>
              <a:t>(</a:t>
            </a:r>
            <a:r>
              <a:rPr lang="en-US" b="1">
                <a:solidFill>
                  <a:schemeClr val="tx1"/>
                </a:solidFill>
              </a:rPr>
              <a:t> "dog" </a:t>
            </a:r>
            <a:r>
              <a:rPr lang="en-US" b="1">
                <a:solidFill>
                  <a:schemeClr val="accent3">
                    <a:lumMod val="76000"/>
                  </a:schemeClr>
                </a:solidFill>
              </a:rPr>
              <a:t>)</a:t>
            </a:r>
          </a:p>
          <a:p>
            <a:pPr marL="255905" indent="-255270"/>
            <a:endParaRPr lang="en-US"/>
          </a:p>
          <a:p>
            <a:pPr marL="255905" indent="-255270"/>
            <a:r>
              <a:rPr lang="en-US"/>
              <a:t>Function format: </a:t>
            </a:r>
            <a:r>
              <a:rPr lang="en-US">
                <a:solidFill>
                  <a:schemeClr val="accent5">
                    <a:lumMod val="76000"/>
                  </a:schemeClr>
                </a:solidFill>
              </a:rPr>
              <a:t>&lt;</a:t>
            </a:r>
            <a:r>
              <a:rPr lang="en-US" err="1">
                <a:solidFill>
                  <a:schemeClr val="accent5">
                    <a:lumMod val="76000"/>
                  </a:schemeClr>
                </a:solidFill>
              </a:rPr>
              <a:t>function_name</a:t>
            </a:r>
            <a:r>
              <a:rPr lang="en-US">
                <a:solidFill>
                  <a:schemeClr val="accent5">
                    <a:lumMod val="76000"/>
                  </a:schemeClr>
                </a:solidFill>
              </a:rPr>
              <a:t>&gt;</a:t>
            </a:r>
            <a:r>
              <a:rPr lang="en-US" b="1">
                <a:solidFill>
                  <a:schemeClr val="accent3">
                    <a:lumMod val="76000"/>
                  </a:schemeClr>
                </a:solidFill>
              </a:rPr>
              <a:t>(</a:t>
            </a:r>
            <a:r>
              <a:rPr lang="en-US">
                <a:solidFill>
                  <a:schemeClr val="accent1">
                    <a:lumMod val="60000"/>
                    <a:lumOff val="40000"/>
                  </a:schemeClr>
                </a:solidFill>
              </a:rPr>
              <a:t>&lt;</a:t>
            </a:r>
            <a:r>
              <a:rPr lang="en-US" err="1">
                <a:solidFill>
                  <a:schemeClr val="accent1">
                    <a:lumMod val="60000"/>
                    <a:lumOff val="40000"/>
                  </a:schemeClr>
                </a:solidFill>
              </a:rPr>
              <a:t>object_name</a:t>
            </a:r>
            <a:r>
              <a:rPr lang="en-US">
                <a:solidFill>
                  <a:schemeClr val="accent1">
                    <a:lumMod val="60000"/>
                    <a:lumOff val="40000"/>
                  </a:schemeClr>
                </a:solidFill>
              </a:rPr>
              <a:t>&gt;</a:t>
            </a:r>
            <a:r>
              <a:rPr lang="en-US" b="1">
                <a:solidFill>
                  <a:schemeClr val="accent3">
                    <a:lumMod val="76000"/>
                  </a:schemeClr>
                </a:solidFill>
              </a:rPr>
              <a:t>)</a:t>
            </a:r>
          </a:p>
          <a:p>
            <a:pPr lvl="1" indent="-283845">
              <a:buFont typeface="Courier New"/>
              <a:buChar char="o"/>
            </a:pPr>
            <a:r>
              <a:rPr lang="en-US" b="1">
                <a:solidFill>
                  <a:schemeClr val="tx1"/>
                </a:solidFill>
              </a:rPr>
              <a:t>Ex: </a:t>
            </a:r>
            <a:r>
              <a:rPr lang="en-US" b="1" err="1">
                <a:solidFill>
                  <a:schemeClr val="tx1"/>
                </a:solidFill>
              </a:rPr>
              <a:t>list_len</a:t>
            </a:r>
            <a:r>
              <a:rPr lang="en-US" b="1">
                <a:solidFill>
                  <a:schemeClr val="tx1"/>
                </a:solidFill>
              </a:rPr>
              <a:t> = </a:t>
            </a:r>
            <a:r>
              <a:rPr lang="en-US" b="1" err="1">
                <a:solidFill>
                  <a:schemeClr val="accent5">
                    <a:lumMod val="76000"/>
                  </a:schemeClr>
                </a:solidFill>
              </a:rPr>
              <a:t>len</a:t>
            </a:r>
            <a:r>
              <a:rPr lang="en-US" b="1">
                <a:solidFill>
                  <a:schemeClr val="accent3">
                    <a:lumMod val="76000"/>
                  </a:schemeClr>
                </a:solidFill>
              </a:rPr>
              <a:t>( </a:t>
            </a:r>
            <a:r>
              <a:rPr lang="en-US" b="1" err="1">
                <a:solidFill>
                  <a:schemeClr val="accent1">
                    <a:lumMod val="60000"/>
                    <a:lumOff val="40000"/>
                  </a:schemeClr>
                </a:solidFill>
              </a:rPr>
              <a:t>mylist</a:t>
            </a:r>
            <a:r>
              <a:rPr lang="en-US" b="1">
                <a:solidFill>
                  <a:schemeClr val="accent1">
                    <a:lumMod val="60000"/>
                    <a:lumOff val="40000"/>
                  </a:schemeClr>
                </a:solidFill>
              </a:rPr>
              <a:t> </a:t>
            </a:r>
            <a:r>
              <a:rPr lang="en-US" b="1">
                <a:solidFill>
                  <a:schemeClr val="accent3">
                    <a:lumMod val="76000"/>
                  </a:schemeClr>
                </a:solidFill>
              </a:rPr>
              <a:t>)</a:t>
            </a:r>
          </a:p>
        </p:txBody>
      </p:sp>
    </p:spTree>
    <p:extLst>
      <p:ext uri="{BB962C8B-B14F-4D97-AF65-F5344CB8AC3E}">
        <p14:creationId xmlns:p14="http://schemas.microsoft.com/office/powerpoint/2010/main" val="3204472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5E50-1830-4395-96FA-2C68EF9D2F50}"/>
              </a:ext>
            </a:extLst>
          </p:cNvPr>
          <p:cNvSpPr>
            <a:spLocks noGrp="1"/>
          </p:cNvSpPr>
          <p:nvPr>
            <p:ph type="title"/>
          </p:nvPr>
        </p:nvSpPr>
        <p:spPr/>
        <p:txBody>
          <a:bodyPr/>
          <a:lstStyle/>
          <a:p>
            <a:r>
              <a:rPr lang="en-US" altLang="en-US" sz="3200" dirty="0"/>
              <a:t>List Methods </a:t>
            </a:r>
            <a:br>
              <a:rPr lang="en-US" altLang="en-US" sz="3200" dirty="0"/>
            </a:br>
            <a:r>
              <a:rPr lang="en-US" altLang="en-US" sz="3200" dirty="0"/>
              <a:t>Format: &lt;</a:t>
            </a:r>
            <a:r>
              <a:rPr lang="en-US" altLang="en-US" sz="3200" dirty="0" err="1"/>
              <a:t>list_name</a:t>
            </a:r>
            <a:r>
              <a:rPr lang="en-US" altLang="en-US" sz="3200" dirty="0"/>
              <a:t>&gt;.&lt;</a:t>
            </a:r>
            <a:r>
              <a:rPr lang="en-US" altLang="en-US" sz="3200" dirty="0" err="1"/>
              <a:t>method_name</a:t>
            </a:r>
            <a:r>
              <a:rPr lang="en-US" altLang="en-US" sz="3200" dirty="0"/>
              <a:t>&gt;()</a:t>
            </a:r>
            <a:endParaRPr lang="en-US" altLang="en-US" sz="2000" b="0" dirty="0"/>
          </a:p>
        </p:txBody>
      </p:sp>
      <p:sp>
        <p:nvSpPr>
          <p:cNvPr id="3" name="Content Placeholder 2">
            <a:extLst>
              <a:ext uri="{FF2B5EF4-FFF2-40B4-BE49-F238E27FC236}">
                <a16:creationId xmlns:a16="http://schemas.microsoft.com/office/drawing/2014/main" id="{D748D8BE-B279-497F-9148-DD4B91CC97FA}"/>
              </a:ext>
            </a:extLst>
          </p:cNvPr>
          <p:cNvSpPr>
            <a:spLocks noGrp="1"/>
          </p:cNvSpPr>
          <p:nvPr>
            <p:ph sz="quarter" idx="13"/>
          </p:nvPr>
        </p:nvSpPr>
        <p:spPr>
          <a:xfrm>
            <a:off x="457200" y="1556327"/>
            <a:ext cx="8229600" cy="4009586"/>
          </a:xfrm>
        </p:spPr>
        <p:txBody>
          <a:bodyPr/>
          <a:lstStyle/>
          <a:p>
            <a:pPr marL="255905" indent="-255270"/>
            <a:r>
              <a:rPr lang="en-US" altLang="en-US" b="1" dirty="0">
                <a:latin typeface="Courier New"/>
                <a:cs typeface="Courier New"/>
              </a:rPr>
              <a:t>append(</a:t>
            </a:r>
            <a:r>
              <a:rPr lang="en-US" altLang="en-US" b="1" i="1" dirty="0">
                <a:latin typeface="Courier New"/>
                <a:cs typeface="Courier New"/>
              </a:rPr>
              <a:t>item</a:t>
            </a:r>
            <a:r>
              <a:rPr lang="en-US" altLang="en-US" b="1" dirty="0">
                <a:latin typeface="Courier New"/>
                <a:cs typeface="Courier New"/>
              </a:rPr>
              <a:t>)</a:t>
            </a:r>
            <a:r>
              <a:rPr lang="en-US" altLang="en-US" b="1" dirty="0">
                <a:cs typeface="Courier New"/>
              </a:rPr>
              <a:t>:</a:t>
            </a:r>
            <a:r>
              <a:rPr lang="en-US" altLang="en-US" dirty="0">
                <a:cs typeface="Courier New"/>
              </a:rPr>
              <a:t> used to add items to a list – </a:t>
            </a:r>
            <a:r>
              <a:rPr lang="en-US" altLang="en-US" i="1" dirty="0">
                <a:latin typeface="Courier New"/>
                <a:cs typeface="Courier New"/>
              </a:rPr>
              <a:t>item</a:t>
            </a:r>
            <a:r>
              <a:rPr lang="en-US" altLang="en-US" dirty="0">
                <a:cs typeface="Courier New"/>
              </a:rPr>
              <a:t> is appended to the end of the existing list</a:t>
            </a:r>
          </a:p>
          <a:p>
            <a:pPr marL="255905" indent="-255270"/>
            <a:r>
              <a:rPr lang="en-US" altLang="en-US" b="1" dirty="0">
                <a:latin typeface="Courier New"/>
                <a:cs typeface="Courier New"/>
              </a:rPr>
              <a:t>count(</a:t>
            </a:r>
            <a:r>
              <a:rPr lang="en-US" altLang="en-US" b="1" i="1" dirty="0">
                <a:latin typeface="Courier New"/>
                <a:cs typeface="Courier New"/>
              </a:rPr>
              <a:t>item</a:t>
            </a:r>
            <a:r>
              <a:rPr lang="en-US" altLang="en-US" b="1" dirty="0">
                <a:latin typeface="Courier New"/>
                <a:cs typeface="Courier New"/>
              </a:rPr>
              <a:t>)</a:t>
            </a:r>
            <a:r>
              <a:rPr lang="en-US" altLang="en-US" b="1" dirty="0">
                <a:cs typeface="Courier New"/>
              </a:rPr>
              <a:t>:</a:t>
            </a:r>
            <a:r>
              <a:rPr lang="en-US" altLang="en-US" dirty="0">
                <a:cs typeface="Courier New"/>
              </a:rPr>
              <a:t> returns the number of times </a:t>
            </a:r>
            <a:r>
              <a:rPr lang="en-US" altLang="en-US" i="1" dirty="0">
                <a:latin typeface="Courier New"/>
                <a:cs typeface="Courier New"/>
              </a:rPr>
              <a:t>item</a:t>
            </a:r>
            <a:r>
              <a:rPr lang="en-US" altLang="en-US" dirty="0">
                <a:cs typeface="Courier New"/>
              </a:rPr>
              <a:t> appears in the list</a:t>
            </a:r>
            <a:endParaRPr lang="en-US" altLang="en-US" dirty="0">
              <a:latin typeface="Courier New" panose="02070309020205020404" pitchFamily="49" charset="0"/>
              <a:cs typeface="Courier New"/>
            </a:endParaRPr>
          </a:p>
          <a:p>
            <a:pPr marL="255905" indent="-255270"/>
            <a:r>
              <a:rPr lang="en-US" altLang="en-US" b="1" dirty="0">
                <a:latin typeface="Courier New"/>
                <a:cs typeface="Courier New"/>
              </a:rPr>
              <a:t>index(</a:t>
            </a:r>
            <a:r>
              <a:rPr lang="en-US" altLang="en-US" b="1" i="1" dirty="0">
                <a:latin typeface="Courier New"/>
                <a:cs typeface="Courier New"/>
              </a:rPr>
              <a:t>item</a:t>
            </a:r>
            <a:r>
              <a:rPr lang="en-US" altLang="en-US" b="1" dirty="0">
                <a:latin typeface="Courier New"/>
                <a:cs typeface="Courier New"/>
              </a:rPr>
              <a:t>)</a:t>
            </a:r>
            <a:r>
              <a:rPr lang="en-US" altLang="en-US" b="1" dirty="0">
                <a:cs typeface="Courier New"/>
              </a:rPr>
              <a:t>: </a:t>
            </a:r>
            <a:r>
              <a:rPr lang="en-US" altLang="en-US" dirty="0">
                <a:cs typeface="Courier New"/>
              </a:rPr>
              <a:t>used to determine where an item is located in a list </a:t>
            </a:r>
          </a:p>
          <a:p>
            <a:pPr lvl="1" indent="-283845"/>
            <a:r>
              <a:rPr lang="en-US" altLang="en-US" dirty="0">
                <a:cs typeface="Courier New" panose="02070309020205020404" pitchFamily="49" charset="0"/>
              </a:rPr>
              <a:t>Returns the index of the first element in the list containing </a:t>
            </a:r>
            <a:r>
              <a:rPr lang="en-US" altLang="en-US" dirty="0">
                <a:latin typeface="Courier New" panose="02070309020205020404" pitchFamily="49" charset="0"/>
                <a:cs typeface="Courier New" panose="02070309020205020404" pitchFamily="49" charset="0"/>
              </a:rPr>
              <a:t>item</a:t>
            </a:r>
          </a:p>
          <a:p>
            <a:pPr lvl="1" indent="-283845"/>
            <a:r>
              <a:rPr lang="en-US" altLang="en-US" dirty="0">
                <a:cs typeface="Courier New" panose="02070309020205020404" pitchFamily="49" charset="0"/>
              </a:rPr>
              <a:t>Raises</a:t>
            </a:r>
            <a:r>
              <a:rPr lang="en-US" altLang="en-US" dirty="0">
                <a:latin typeface="Courier New" panose="02070309020205020404" pitchFamily="49" charset="0"/>
                <a:cs typeface="Courier New" panose="02070309020205020404" pitchFamily="49" charset="0"/>
              </a:rPr>
              <a:t> ValueError</a:t>
            </a:r>
            <a:r>
              <a:rPr lang="en-US" altLang="en-US" dirty="0">
                <a:cs typeface="Courier New" panose="02070309020205020404" pitchFamily="49" charset="0"/>
              </a:rPr>
              <a:t> exception if </a:t>
            </a:r>
            <a:r>
              <a:rPr lang="en-US" altLang="en-US" i="1" dirty="0">
                <a:latin typeface="Courier New" panose="02070309020205020404" pitchFamily="49" charset="0"/>
                <a:cs typeface="Courier New" panose="02070309020205020404" pitchFamily="49" charset="0"/>
              </a:rPr>
              <a:t>item</a:t>
            </a:r>
            <a:r>
              <a:rPr lang="en-US" altLang="en-US" dirty="0">
                <a:cs typeface="Courier New" panose="02070309020205020404" pitchFamily="49" charset="0"/>
              </a:rPr>
              <a:t> not in the list</a:t>
            </a:r>
            <a:endParaRPr lang="en-US" alt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43892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5E50-1830-4395-96FA-2C68EF9D2F50}"/>
              </a:ext>
            </a:extLst>
          </p:cNvPr>
          <p:cNvSpPr>
            <a:spLocks noGrp="1"/>
          </p:cNvSpPr>
          <p:nvPr>
            <p:ph type="title"/>
          </p:nvPr>
        </p:nvSpPr>
        <p:spPr/>
        <p:txBody>
          <a:bodyPr/>
          <a:lstStyle/>
          <a:p>
            <a:r>
              <a:rPr lang="en-US" sz="3200" dirty="0">
                <a:cs typeface="Arial"/>
              </a:rPr>
              <a:t>List Methods </a:t>
            </a:r>
            <a:br>
              <a:rPr lang="en-US" sz="3200" dirty="0">
                <a:cs typeface="Arial"/>
              </a:rPr>
            </a:br>
            <a:r>
              <a:rPr lang="en-US" sz="3200" dirty="0">
                <a:cs typeface="Arial"/>
              </a:rPr>
              <a:t>Format: &lt;</a:t>
            </a:r>
            <a:r>
              <a:rPr lang="en-US" sz="3200" dirty="0" err="1">
                <a:cs typeface="Arial"/>
              </a:rPr>
              <a:t>list_name</a:t>
            </a:r>
            <a:r>
              <a:rPr lang="en-US" sz="3200" dirty="0">
                <a:cs typeface="Arial"/>
              </a:rPr>
              <a:t>&gt;.&lt;</a:t>
            </a:r>
            <a:r>
              <a:rPr lang="en-US" sz="3200" dirty="0" err="1">
                <a:cs typeface="Arial"/>
              </a:rPr>
              <a:t>method_name</a:t>
            </a:r>
            <a:r>
              <a:rPr lang="en-US" sz="3200" dirty="0">
                <a:cs typeface="Arial"/>
              </a:rPr>
              <a:t>&gt;()</a:t>
            </a:r>
            <a:endParaRPr lang="en-US" dirty="0"/>
          </a:p>
        </p:txBody>
      </p:sp>
      <p:sp>
        <p:nvSpPr>
          <p:cNvPr id="3" name="Content Placeholder 2">
            <a:extLst>
              <a:ext uri="{FF2B5EF4-FFF2-40B4-BE49-F238E27FC236}">
                <a16:creationId xmlns:a16="http://schemas.microsoft.com/office/drawing/2014/main" id="{D748D8BE-B279-497F-9148-DD4B91CC97FA}"/>
              </a:ext>
            </a:extLst>
          </p:cNvPr>
          <p:cNvSpPr>
            <a:spLocks noGrp="1"/>
          </p:cNvSpPr>
          <p:nvPr>
            <p:ph sz="quarter" idx="13"/>
          </p:nvPr>
        </p:nvSpPr>
        <p:spPr>
          <a:xfrm>
            <a:off x="457200" y="1556327"/>
            <a:ext cx="8318500" cy="3373482"/>
          </a:xfrm>
        </p:spPr>
        <p:txBody>
          <a:bodyPr/>
          <a:lstStyle/>
          <a:p>
            <a:pPr marL="255905" indent="-255270"/>
            <a:r>
              <a:rPr lang="en-US" altLang="en-US" b="1" dirty="0">
                <a:latin typeface="Courier New"/>
                <a:cs typeface="Courier New"/>
              </a:rPr>
              <a:t>insert(</a:t>
            </a:r>
            <a:r>
              <a:rPr lang="en-US" altLang="en-US" b="1" i="1" dirty="0">
                <a:latin typeface="Courier New"/>
                <a:cs typeface="Courier New"/>
              </a:rPr>
              <a:t>index, item</a:t>
            </a:r>
            <a:r>
              <a:rPr lang="en-US" altLang="en-US" b="1" dirty="0">
                <a:latin typeface="Courier New"/>
                <a:cs typeface="Courier New"/>
              </a:rPr>
              <a:t>)</a:t>
            </a:r>
            <a:r>
              <a:rPr lang="en-US" altLang="en-US" b="1" dirty="0"/>
              <a:t>:</a:t>
            </a:r>
            <a:r>
              <a:rPr lang="en-US" altLang="en-US" dirty="0"/>
              <a:t> used to insert </a:t>
            </a:r>
            <a:r>
              <a:rPr lang="en-US" altLang="en-US" i="1" dirty="0">
                <a:latin typeface="Courier New"/>
                <a:cs typeface="Courier New"/>
              </a:rPr>
              <a:t>item</a:t>
            </a:r>
            <a:r>
              <a:rPr lang="en-US" altLang="en-US" dirty="0"/>
              <a:t> at position </a:t>
            </a:r>
            <a:r>
              <a:rPr lang="en-US" altLang="en-US" i="1" dirty="0">
                <a:latin typeface="Courier New"/>
                <a:cs typeface="Courier New"/>
              </a:rPr>
              <a:t>index</a:t>
            </a:r>
            <a:r>
              <a:rPr lang="en-US" altLang="en-US" dirty="0"/>
              <a:t> in the list</a:t>
            </a:r>
            <a:endParaRPr lang="en-US"/>
          </a:p>
          <a:p>
            <a:pPr marL="255905" indent="-255270"/>
            <a:r>
              <a:rPr lang="en-US" altLang="en-US" b="1" dirty="0">
                <a:latin typeface="Courier New"/>
                <a:cs typeface="Courier New"/>
              </a:rPr>
              <a:t>sort()</a:t>
            </a:r>
            <a:r>
              <a:rPr lang="en-US" altLang="en-US" b="1" dirty="0"/>
              <a:t>:</a:t>
            </a:r>
            <a:r>
              <a:rPr lang="en-US" altLang="en-US" dirty="0"/>
              <a:t> used to sort the elements of the list in ascending order</a:t>
            </a:r>
          </a:p>
          <a:p>
            <a:pPr marL="255905" indent="-255270"/>
            <a:r>
              <a:rPr lang="en-US" altLang="en-US" b="1" dirty="0">
                <a:latin typeface="Courier New"/>
                <a:cs typeface="Courier New"/>
              </a:rPr>
              <a:t>remove(</a:t>
            </a:r>
            <a:r>
              <a:rPr lang="en-US" altLang="en-US" b="1" i="1" dirty="0">
                <a:latin typeface="Courier New"/>
                <a:cs typeface="Courier New"/>
              </a:rPr>
              <a:t>item</a:t>
            </a:r>
            <a:r>
              <a:rPr lang="en-US" altLang="en-US" b="1" dirty="0">
                <a:latin typeface="Courier New"/>
                <a:cs typeface="Courier New"/>
              </a:rPr>
              <a:t>)</a:t>
            </a:r>
            <a:r>
              <a:rPr lang="en-US" altLang="en-US" b="1" dirty="0"/>
              <a:t>:</a:t>
            </a:r>
            <a:r>
              <a:rPr lang="en-US" altLang="en-US" dirty="0"/>
              <a:t> removes the first occurrence of </a:t>
            </a:r>
            <a:r>
              <a:rPr lang="en-US" altLang="en-US" i="1" dirty="0">
                <a:latin typeface="Courier New"/>
                <a:cs typeface="Courier New"/>
              </a:rPr>
              <a:t>item</a:t>
            </a:r>
            <a:r>
              <a:rPr lang="en-US" altLang="en-US" dirty="0"/>
              <a:t> in the list</a:t>
            </a:r>
          </a:p>
          <a:p>
            <a:pPr marL="255905" indent="-255270"/>
            <a:r>
              <a:rPr lang="en-US" altLang="en-US" b="1">
                <a:latin typeface="Arial"/>
              </a:rPr>
              <a:t>pop(</a:t>
            </a:r>
            <a:r>
              <a:rPr lang="en-US" altLang="en-US" b="1" i="1">
                <a:latin typeface="Arial"/>
              </a:rPr>
              <a:t>index</a:t>
            </a:r>
            <a:r>
              <a:rPr lang="en-US" altLang="en-US" b="1">
                <a:latin typeface="Arial"/>
              </a:rPr>
              <a:t>): </a:t>
            </a:r>
            <a:r>
              <a:rPr lang="en-US" altLang="en-US">
                <a:latin typeface="Arial"/>
              </a:rPr>
              <a:t>removes the element at the index provided</a:t>
            </a:r>
          </a:p>
          <a:p>
            <a:pPr marL="255905" indent="-255270"/>
            <a:r>
              <a:rPr lang="en-US" altLang="en-US" b="1" dirty="0">
                <a:latin typeface="Courier New"/>
                <a:cs typeface="Courier New"/>
              </a:rPr>
              <a:t>reverse()</a:t>
            </a:r>
            <a:r>
              <a:rPr lang="en-US" altLang="en-US" b="1" dirty="0"/>
              <a:t>: </a:t>
            </a:r>
            <a:r>
              <a:rPr lang="en-US" altLang="en-US" dirty="0"/>
              <a:t>reverses the order of the elements in the list</a:t>
            </a:r>
          </a:p>
        </p:txBody>
      </p:sp>
    </p:spTree>
    <p:extLst>
      <p:ext uri="{BB962C8B-B14F-4D97-AF65-F5344CB8AC3E}">
        <p14:creationId xmlns:p14="http://schemas.microsoft.com/office/powerpoint/2010/main" val="438724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5E50-1830-4395-96FA-2C68EF9D2F50}"/>
              </a:ext>
            </a:extLst>
          </p:cNvPr>
          <p:cNvSpPr>
            <a:spLocks noGrp="1"/>
          </p:cNvSpPr>
          <p:nvPr>
            <p:ph type="title"/>
          </p:nvPr>
        </p:nvSpPr>
        <p:spPr/>
        <p:txBody>
          <a:bodyPr/>
          <a:lstStyle/>
          <a:p>
            <a:r>
              <a:rPr lang="en-US" sz="3200" dirty="0">
                <a:cs typeface="Arial"/>
              </a:rPr>
              <a:t>Built in Functions</a:t>
            </a:r>
            <a:br>
              <a:rPr lang="en-US" sz="3200" dirty="0">
                <a:cs typeface="Arial"/>
              </a:rPr>
            </a:br>
            <a:endParaRPr lang="en-US" sz="3200">
              <a:cs typeface="Arial"/>
            </a:endParaRPr>
          </a:p>
        </p:txBody>
      </p:sp>
      <p:sp>
        <p:nvSpPr>
          <p:cNvPr id="3" name="Content Placeholder 2">
            <a:extLst>
              <a:ext uri="{FF2B5EF4-FFF2-40B4-BE49-F238E27FC236}">
                <a16:creationId xmlns:a16="http://schemas.microsoft.com/office/drawing/2014/main" id="{D748D8BE-B279-497F-9148-DD4B91CC97FA}"/>
              </a:ext>
            </a:extLst>
          </p:cNvPr>
          <p:cNvSpPr>
            <a:spLocks noGrp="1"/>
          </p:cNvSpPr>
          <p:nvPr>
            <p:ph sz="quarter" idx="13"/>
          </p:nvPr>
        </p:nvSpPr>
        <p:spPr>
          <a:xfrm>
            <a:off x="457200" y="1556327"/>
            <a:ext cx="8229600" cy="4486664"/>
          </a:xfrm>
        </p:spPr>
        <p:txBody>
          <a:bodyPr/>
          <a:lstStyle/>
          <a:p>
            <a:pPr marL="255905" indent="-255270"/>
            <a:r>
              <a:rPr lang="en-US" altLang="en-US" b="1" dirty="0">
                <a:latin typeface="Courier New"/>
                <a:cs typeface="Courier New"/>
              </a:rPr>
              <a:t>sum </a:t>
            </a:r>
            <a:r>
              <a:rPr lang="en-US" altLang="en-US" b="1" dirty="0">
                <a:cs typeface="Courier New"/>
              </a:rPr>
              <a:t>function: returns the sum of the values in a </a:t>
            </a:r>
            <a:r>
              <a:rPr lang="en-US" altLang="en-US" b="1">
                <a:cs typeface="Courier New"/>
              </a:rPr>
              <a:t>numeric sequence</a:t>
            </a:r>
            <a:endParaRPr lang="en-US">
              <a:cs typeface="Courier New"/>
            </a:endParaRPr>
          </a:p>
          <a:p>
            <a:pPr lvl="1" indent="-283845"/>
            <a:r>
              <a:rPr lang="en-US" altLang="en-US" dirty="0">
                <a:cs typeface="Courier New" panose="02070309020205020404" pitchFamily="49" charset="0"/>
              </a:rPr>
              <a:t>Example</a:t>
            </a:r>
            <a:r>
              <a:rPr lang="en-US" altLang="en-US" b="1" dirty="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total = sum(</a:t>
            </a:r>
            <a:r>
              <a:rPr lang="en-US" altLang="en-US" b="1" dirty="0" err="1">
                <a:latin typeface="Courier New" panose="02070309020205020404" pitchFamily="49" charset="0"/>
                <a:cs typeface="Courier New" panose="02070309020205020404" pitchFamily="49" charset="0"/>
              </a:rPr>
              <a:t>my_list</a:t>
            </a:r>
            <a:r>
              <a:rPr lang="en-US" altLang="en-US" b="1" dirty="0">
                <a:latin typeface="Courier New" panose="02070309020205020404" pitchFamily="49" charset="0"/>
                <a:cs typeface="Courier New" panose="02070309020205020404" pitchFamily="49" charset="0"/>
              </a:rPr>
              <a:t>)</a:t>
            </a:r>
          </a:p>
          <a:p>
            <a:pPr marL="255905" indent="-255270"/>
            <a:r>
              <a:rPr lang="en-US" altLang="en-US" b="1" dirty="0">
                <a:latin typeface="Courier New" panose="02070309020205020404" pitchFamily="49" charset="0"/>
                <a:cs typeface="Courier New" panose="02070309020205020404" pitchFamily="49" charset="0"/>
              </a:rPr>
              <a:t>min </a:t>
            </a:r>
            <a:r>
              <a:rPr lang="en-US" altLang="en-US" b="1" dirty="0">
                <a:cs typeface="Courier New" panose="02070309020205020404" pitchFamily="49" charset="0"/>
              </a:rPr>
              <a:t>and</a:t>
            </a:r>
            <a:r>
              <a:rPr lang="en-US" altLang="en-US" b="1" dirty="0">
                <a:latin typeface="Courier New" panose="02070309020205020404" pitchFamily="49" charset="0"/>
                <a:cs typeface="Courier New" panose="02070309020205020404" pitchFamily="49" charset="0"/>
              </a:rPr>
              <a:t> max </a:t>
            </a:r>
            <a:r>
              <a:rPr lang="en-US" altLang="en-US" b="1" dirty="0">
                <a:cs typeface="Courier New" panose="02070309020205020404" pitchFamily="49" charset="0"/>
              </a:rPr>
              <a:t>functions: built-in functions that returns the item that has the lowest or highest value in a sequence</a:t>
            </a:r>
          </a:p>
          <a:p>
            <a:pPr lvl="1" indent="-283845"/>
            <a:r>
              <a:rPr lang="en-US" altLang="en-US" dirty="0">
                <a:cs typeface="Courier New" panose="02070309020205020404" pitchFamily="49" charset="0"/>
              </a:rPr>
              <a:t>The sequence is passed as an argument</a:t>
            </a:r>
            <a:endParaRPr lang="en-US" alt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3611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438F-9775-4E6A-AFB8-B08FDC8E55BB}"/>
              </a:ext>
            </a:extLst>
          </p:cNvPr>
          <p:cNvSpPr>
            <a:spLocks noGrp="1"/>
          </p:cNvSpPr>
          <p:nvPr>
            <p:ph type="title"/>
          </p:nvPr>
        </p:nvSpPr>
        <p:spPr/>
        <p:txBody>
          <a:bodyPr/>
          <a:lstStyle/>
          <a:p>
            <a:r>
              <a:rPr lang="en-US" altLang="en-US" sz="3200" dirty="0"/>
              <a:t>Finding Items in Lists With the </a:t>
            </a:r>
            <a:r>
              <a:rPr lang="en-US" altLang="en-US" sz="3200" dirty="0">
                <a:latin typeface="Courier New" panose="02070309020205020404" pitchFamily="49" charset="0"/>
                <a:cs typeface="Courier New" panose="02070309020205020404" pitchFamily="49" charset="0"/>
              </a:rPr>
              <a:t>in</a:t>
            </a:r>
            <a:r>
              <a:rPr lang="en-US" altLang="en-US" sz="3200" dirty="0"/>
              <a:t> Operator</a:t>
            </a:r>
            <a:endParaRPr lang="en-US" sz="3200" dirty="0"/>
          </a:p>
        </p:txBody>
      </p:sp>
      <p:sp>
        <p:nvSpPr>
          <p:cNvPr id="3" name="Content Placeholder 2">
            <a:extLst>
              <a:ext uri="{FF2B5EF4-FFF2-40B4-BE49-F238E27FC236}">
                <a16:creationId xmlns:a16="http://schemas.microsoft.com/office/drawing/2014/main" id="{EF32E533-3D45-4FAE-8D70-649AE7862694}"/>
              </a:ext>
            </a:extLst>
          </p:cNvPr>
          <p:cNvSpPr>
            <a:spLocks noGrp="1"/>
          </p:cNvSpPr>
          <p:nvPr>
            <p:ph sz="quarter" idx="13"/>
          </p:nvPr>
        </p:nvSpPr>
        <p:spPr>
          <a:xfrm>
            <a:off x="457200" y="1556327"/>
            <a:ext cx="8229600" cy="3096000"/>
          </a:xfrm>
        </p:spPr>
        <p:txBody>
          <a:bodyPr/>
          <a:lstStyle/>
          <a:p>
            <a:pPr marL="255905" indent="-255270"/>
            <a:r>
              <a:rPr lang="en-US" altLang="en-US" b="1" dirty="0"/>
              <a:t>You can use the </a:t>
            </a:r>
            <a:r>
              <a:rPr lang="en-US" altLang="en-US" b="1" dirty="0">
                <a:latin typeface="Courier New" panose="02070309020205020404" pitchFamily="49" charset="0"/>
                <a:cs typeface="Courier New" panose="02070309020205020404" pitchFamily="49" charset="0"/>
              </a:rPr>
              <a:t>in</a:t>
            </a:r>
            <a:r>
              <a:rPr lang="en-US" altLang="en-US" b="1" dirty="0"/>
              <a:t> operator to determine whether an item is contained in a list</a:t>
            </a:r>
            <a:endParaRPr lang="en-US"/>
          </a:p>
          <a:p>
            <a:pPr lvl="1" indent="-283845"/>
            <a:r>
              <a:rPr lang="en-US" altLang="en-US" dirty="0"/>
              <a:t>General format: </a:t>
            </a:r>
            <a:r>
              <a:rPr lang="en-US" altLang="en-US" i="1" dirty="0">
                <a:latin typeface="Courier New" panose="02070309020205020404" pitchFamily="49" charset="0"/>
                <a:cs typeface="Courier New" panose="02070309020205020404" pitchFamily="49" charset="0"/>
              </a:rPr>
              <a:t>item</a:t>
            </a:r>
            <a:r>
              <a:rPr lang="en-US" altLang="en-US" dirty="0">
                <a:latin typeface="Courier New" panose="02070309020205020404" pitchFamily="49" charset="0"/>
                <a:cs typeface="Courier New" panose="02070309020205020404" pitchFamily="49" charset="0"/>
              </a:rPr>
              <a:t> in </a:t>
            </a:r>
            <a:r>
              <a:rPr lang="en-US" altLang="en-US" i="1" dirty="0">
                <a:latin typeface="Courier New" panose="02070309020205020404" pitchFamily="49" charset="0"/>
                <a:cs typeface="Courier New" panose="02070309020205020404" pitchFamily="49" charset="0"/>
              </a:rPr>
              <a:t>list</a:t>
            </a:r>
          </a:p>
          <a:p>
            <a:pPr lvl="1" indent="-283845"/>
            <a:r>
              <a:rPr lang="en-US" altLang="en-US" dirty="0">
                <a:cs typeface="Courier New" panose="02070309020205020404" pitchFamily="49" charset="0"/>
              </a:rPr>
              <a:t>Returns </a:t>
            </a:r>
            <a:r>
              <a:rPr lang="en-US" altLang="en-US" dirty="0">
                <a:latin typeface="Courier New" panose="02070309020205020404" pitchFamily="49" charset="0"/>
                <a:cs typeface="Courier New" panose="02070309020205020404" pitchFamily="49" charset="0"/>
              </a:rPr>
              <a:t>True</a:t>
            </a:r>
            <a:r>
              <a:rPr lang="en-US" altLang="en-US" dirty="0">
                <a:cs typeface="Courier New" panose="02070309020205020404" pitchFamily="49" charset="0"/>
              </a:rPr>
              <a:t> if the item is in the list, or </a:t>
            </a:r>
            <a:r>
              <a:rPr lang="en-US" altLang="en-US" dirty="0">
                <a:latin typeface="Courier New" panose="02070309020205020404" pitchFamily="49" charset="0"/>
                <a:cs typeface="Courier New" panose="02070309020205020404" pitchFamily="49" charset="0"/>
              </a:rPr>
              <a:t>False</a:t>
            </a:r>
            <a:r>
              <a:rPr lang="en-US" altLang="en-US" dirty="0">
                <a:cs typeface="Courier New" panose="02070309020205020404" pitchFamily="49" charset="0"/>
              </a:rPr>
              <a:t> if it is not in the list</a:t>
            </a:r>
          </a:p>
          <a:p>
            <a:pPr marL="255905" indent="-255270"/>
            <a:r>
              <a:rPr lang="en-US" altLang="en-US" b="1" dirty="0">
                <a:cs typeface="Courier New"/>
              </a:rPr>
              <a:t>Similarly you can use the </a:t>
            </a:r>
            <a:r>
              <a:rPr lang="en-US" altLang="en-US" b="1">
                <a:latin typeface="Courier New"/>
                <a:cs typeface="Courier New"/>
              </a:rPr>
              <a:t>not in</a:t>
            </a:r>
            <a:r>
              <a:rPr lang="en-US" altLang="en-US" b="1" dirty="0">
                <a:cs typeface="Courier New"/>
              </a:rPr>
              <a:t> operator to determine whether an item is not in a list</a:t>
            </a:r>
            <a:endParaRPr lang="he-IL" altLang="en-US" b="1" dirty="0">
              <a:cs typeface="Courier New"/>
            </a:endParaRPr>
          </a:p>
        </p:txBody>
      </p:sp>
    </p:spTree>
    <p:extLst>
      <p:ext uri="{BB962C8B-B14F-4D97-AF65-F5344CB8AC3E}">
        <p14:creationId xmlns:p14="http://schemas.microsoft.com/office/powerpoint/2010/main" val="3191682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F86800-BAFE-4155-8EDD-B3C779EE6786}"/>
              </a:ext>
            </a:extLst>
          </p:cNvPr>
          <p:cNvSpPr>
            <a:spLocks noGrp="1"/>
          </p:cNvSpPr>
          <p:nvPr>
            <p:ph type="title"/>
          </p:nvPr>
        </p:nvSpPr>
        <p:spPr/>
        <p:txBody>
          <a:bodyPr/>
          <a:lstStyle/>
          <a:p>
            <a:r>
              <a:rPr lang="en-US" altLang="en-US" dirty="0"/>
              <a:t>Tuples </a:t>
            </a:r>
            <a:r>
              <a:rPr lang="en-US" altLang="en-US" sz="2000" b="0" dirty="0"/>
              <a:t>(1 of 4)</a:t>
            </a:r>
            <a:endParaRPr lang="en-US" sz="2000" b="0" dirty="0"/>
          </a:p>
        </p:txBody>
      </p:sp>
      <p:sp>
        <p:nvSpPr>
          <p:cNvPr id="6" name="Content Placeholder 5">
            <a:extLst>
              <a:ext uri="{FF2B5EF4-FFF2-40B4-BE49-F238E27FC236}">
                <a16:creationId xmlns:a16="http://schemas.microsoft.com/office/drawing/2014/main" id="{24BCAC9D-6936-4632-B969-D14E5710DAD2}"/>
              </a:ext>
            </a:extLst>
          </p:cNvPr>
          <p:cNvSpPr>
            <a:spLocks noGrp="1"/>
          </p:cNvSpPr>
          <p:nvPr>
            <p:ph sz="quarter" idx="13"/>
          </p:nvPr>
        </p:nvSpPr>
        <p:spPr>
          <a:xfrm>
            <a:off x="457200" y="1556327"/>
            <a:ext cx="8229600" cy="3161447"/>
          </a:xfrm>
        </p:spPr>
        <p:txBody>
          <a:bodyPr/>
          <a:lstStyle/>
          <a:p>
            <a:r>
              <a:rPr lang="en-US" altLang="en-US" b="1" dirty="0">
                <a:cs typeface="Courier New" panose="02070309020205020404" pitchFamily="49" charset="0"/>
              </a:rPr>
              <a:t>Tuple: an immutable sequence</a:t>
            </a:r>
          </a:p>
          <a:p>
            <a:pPr lvl="1"/>
            <a:r>
              <a:rPr lang="en-US" altLang="en-US" dirty="0">
                <a:cs typeface="Courier New" panose="02070309020205020404" pitchFamily="49" charset="0"/>
              </a:rPr>
              <a:t>Similar to a list</a:t>
            </a:r>
          </a:p>
          <a:p>
            <a:pPr lvl="1"/>
            <a:r>
              <a:rPr lang="en-US" altLang="en-US" dirty="0">
                <a:cs typeface="Courier New" panose="02070309020205020404" pitchFamily="49" charset="0"/>
              </a:rPr>
              <a:t>Tuples are immutable. Once a tuple is created:</a:t>
            </a:r>
          </a:p>
          <a:p>
            <a:pPr lvl="2"/>
            <a:r>
              <a:rPr lang="en-US" altLang="en-US" dirty="0">
                <a:cs typeface="Courier New" panose="02070309020205020404" pitchFamily="49" charset="0"/>
              </a:rPr>
              <a:t>New elements cannot be added to the tuple</a:t>
            </a:r>
          </a:p>
          <a:p>
            <a:pPr lvl="2"/>
            <a:r>
              <a:rPr lang="en-US" altLang="en-US" dirty="0">
                <a:cs typeface="Courier New" panose="02070309020205020404" pitchFamily="49" charset="0"/>
              </a:rPr>
              <a:t>Elements cannot be removed from the tuple</a:t>
            </a:r>
          </a:p>
          <a:p>
            <a:pPr lvl="2"/>
            <a:r>
              <a:rPr lang="en-US" altLang="en-US" dirty="0">
                <a:cs typeface="Courier New" panose="02070309020205020404" pitchFamily="49" charset="0"/>
              </a:rPr>
              <a:t>The values stored in tuple elements cannot be changed</a:t>
            </a:r>
          </a:p>
        </p:txBody>
      </p:sp>
    </p:spTree>
    <p:extLst>
      <p:ext uri="{BB962C8B-B14F-4D97-AF65-F5344CB8AC3E}">
        <p14:creationId xmlns:p14="http://schemas.microsoft.com/office/powerpoint/2010/main" val="1462196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F86800-BAFE-4155-8EDD-B3C779EE6786}"/>
              </a:ext>
            </a:extLst>
          </p:cNvPr>
          <p:cNvSpPr>
            <a:spLocks noGrp="1"/>
          </p:cNvSpPr>
          <p:nvPr>
            <p:ph type="title"/>
          </p:nvPr>
        </p:nvSpPr>
        <p:spPr/>
        <p:txBody>
          <a:bodyPr/>
          <a:lstStyle/>
          <a:p>
            <a:r>
              <a:rPr lang="en-US" altLang="en-US" dirty="0"/>
              <a:t>Tuples </a:t>
            </a:r>
            <a:r>
              <a:rPr lang="en-US" altLang="en-US" sz="2000" b="0" dirty="0"/>
              <a:t>(2 of 4)</a:t>
            </a:r>
            <a:endParaRPr lang="en-US" sz="2000" dirty="0"/>
          </a:p>
        </p:txBody>
      </p:sp>
      <p:sp>
        <p:nvSpPr>
          <p:cNvPr id="6" name="Content Placeholder 5">
            <a:extLst>
              <a:ext uri="{FF2B5EF4-FFF2-40B4-BE49-F238E27FC236}">
                <a16:creationId xmlns:a16="http://schemas.microsoft.com/office/drawing/2014/main" id="{24BCAC9D-6936-4632-B969-D14E5710DAD2}"/>
              </a:ext>
            </a:extLst>
          </p:cNvPr>
          <p:cNvSpPr>
            <a:spLocks noGrp="1"/>
          </p:cNvSpPr>
          <p:nvPr>
            <p:ph sz="quarter" idx="13"/>
          </p:nvPr>
        </p:nvSpPr>
        <p:spPr>
          <a:xfrm>
            <a:off x="457200" y="1556327"/>
            <a:ext cx="8229600" cy="4181864"/>
          </a:xfrm>
        </p:spPr>
        <p:txBody>
          <a:bodyPr/>
          <a:lstStyle/>
          <a:p>
            <a:pPr marL="255905" indent="-255270"/>
            <a:r>
              <a:rPr lang="en-US" altLang="en-US" b="1" dirty="0">
                <a:cs typeface="Courier New" panose="02070309020205020404" pitchFamily="49" charset="0"/>
              </a:rPr>
              <a:t>Creating a Tuple</a:t>
            </a:r>
            <a:endParaRPr lang="en-US"/>
          </a:p>
          <a:p>
            <a:pPr lvl="1" indent="-283845"/>
            <a:r>
              <a:rPr lang="en-US" altLang="en-US" dirty="0" err="1">
                <a:latin typeface="Courier New" panose="02070309020205020404" pitchFamily="49" charset="0"/>
                <a:cs typeface="Courier New" panose="02070309020205020404" pitchFamily="49" charset="0"/>
              </a:rPr>
              <a:t>my_tuple</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item1</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item2</a:t>
            </a:r>
            <a:r>
              <a:rPr lang="en-US" altLang="en-US" dirty="0">
                <a:latin typeface="Courier New" panose="02070309020205020404" pitchFamily="49" charset="0"/>
                <a:cs typeface="Courier New" panose="02070309020205020404" pitchFamily="49" charset="0"/>
              </a:rPr>
              <a:t>)</a:t>
            </a:r>
          </a:p>
          <a:p>
            <a:pPr lvl="1" indent="-283845"/>
            <a:r>
              <a:rPr lang="en-US" altLang="en-US" dirty="0" err="1">
                <a:latin typeface="Courier New" panose="02070309020205020404" pitchFamily="49" charset="0"/>
                <a:cs typeface="Courier New" panose="02070309020205020404" pitchFamily="49" charset="0"/>
              </a:rPr>
              <a:t>my_tuple</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item1</a:t>
            </a:r>
            <a:r>
              <a:rPr lang="en-US" altLang="en-US" dirty="0">
                <a:latin typeface="Courier New" panose="02070309020205020404" pitchFamily="49" charset="0"/>
                <a:cs typeface="Courier New" panose="02070309020205020404" pitchFamily="49" charset="0"/>
              </a:rPr>
              <a:t>,)</a:t>
            </a:r>
          </a:p>
          <a:p>
            <a:pPr marL="255905" indent="-255270"/>
            <a:r>
              <a:rPr lang="en-US" altLang="en-US" b="1" dirty="0">
                <a:cs typeface="Courier New" panose="02070309020205020404" pitchFamily="49" charset="0"/>
              </a:rPr>
              <a:t>Tuples support many list operations</a:t>
            </a:r>
          </a:p>
          <a:p>
            <a:pPr lvl="1" indent="-283845"/>
            <a:r>
              <a:rPr lang="en-US" altLang="en-US" dirty="0">
                <a:cs typeface="Courier New" panose="02070309020205020404" pitchFamily="49" charset="0"/>
              </a:rPr>
              <a:t>Subscript indexing for retrieving elements</a:t>
            </a:r>
          </a:p>
          <a:p>
            <a:pPr lvl="1" indent="-283845"/>
            <a:r>
              <a:rPr lang="en-US" altLang="en-US" dirty="0">
                <a:cs typeface="Courier New" panose="02070309020205020404" pitchFamily="49" charset="0"/>
              </a:rPr>
              <a:t>Methods such as </a:t>
            </a:r>
            <a:r>
              <a:rPr lang="en-US" altLang="en-US" dirty="0">
                <a:latin typeface="Courier New" panose="02070309020205020404" pitchFamily="49" charset="0"/>
                <a:cs typeface="Courier New" panose="02070309020205020404" pitchFamily="49" charset="0"/>
              </a:rPr>
              <a:t>index</a:t>
            </a:r>
          </a:p>
          <a:p>
            <a:pPr lvl="1" indent="-283845"/>
            <a:r>
              <a:rPr lang="en-US" altLang="en-US" dirty="0">
                <a:cs typeface="Courier New"/>
              </a:rPr>
              <a:t>Built in functions such as </a:t>
            </a:r>
            <a:r>
              <a:rPr lang="en-US" altLang="en-US" dirty="0" err="1">
                <a:latin typeface="Courier New"/>
                <a:cs typeface="Courier New"/>
              </a:rPr>
              <a:t>len</a:t>
            </a:r>
            <a:r>
              <a:rPr lang="en-US" altLang="en-US">
                <a:latin typeface="Courier New"/>
                <a:cs typeface="Courier New"/>
              </a:rPr>
              <a:t>, min, max</a:t>
            </a:r>
          </a:p>
          <a:p>
            <a:pPr lvl="1" indent="-283845"/>
            <a:r>
              <a:rPr lang="en-US" altLang="en-US" dirty="0">
                <a:cs typeface="Courier New" panose="02070309020205020404" pitchFamily="49" charset="0"/>
              </a:rPr>
              <a:t>The </a:t>
            </a:r>
            <a:r>
              <a:rPr lang="en-US" altLang="en-US" dirty="0">
                <a:latin typeface="Courier New" panose="02070309020205020404" pitchFamily="49" charset="0"/>
                <a:cs typeface="Courier New" panose="02070309020205020404" pitchFamily="49" charset="0"/>
              </a:rPr>
              <a:t>in</a:t>
            </a:r>
            <a:r>
              <a:rPr lang="en-US" altLang="en-US" dirty="0">
                <a:cs typeface="Courier New" panose="02070309020205020404" pitchFamily="49" charset="0"/>
              </a:rPr>
              <a:t>, </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and </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operators</a:t>
            </a:r>
          </a:p>
        </p:txBody>
      </p:sp>
    </p:spTree>
    <p:extLst>
      <p:ext uri="{BB962C8B-B14F-4D97-AF65-F5344CB8AC3E}">
        <p14:creationId xmlns:p14="http://schemas.microsoft.com/office/powerpoint/2010/main" val="3076149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F86800-BAFE-4155-8EDD-B3C779EE6786}"/>
              </a:ext>
            </a:extLst>
          </p:cNvPr>
          <p:cNvSpPr>
            <a:spLocks noGrp="1"/>
          </p:cNvSpPr>
          <p:nvPr>
            <p:ph type="title"/>
          </p:nvPr>
        </p:nvSpPr>
        <p:spPr/>
        <p:txBody>
          <a:bodyPr/>
          <a:lstStyle/>
          <a:p>
            <a:r>
              <a:rPr lang="en-US" altLang="en-US" dirty="0"/>
              <a:t>Tuples </a:t>
            </a:r>
            <a:r>
              <a:rPr lang="en-US" altLang="en-US" sz="2000" b="0" dirty="0"/>
              <a:t>(3 of 4)</a:t>
            </a:r>
            <a:endParaRPr lang="en-US" sz="2000" dirty="0"/>
          </a:p>
        </p:txBody>
      </p:sp>
      <p:sp>
        <p:nvSpPr>
          <p:cNvPr id="6" name="Content Placeholder 5">
            <a:extLst>
              <a:ext uri="{FF2B5EF4-FFF2-40B4-BE49-F238E27FC236}">
                <a16:creationId xmlns:a16="http://schemas.microsoft.com/office/drawing/2014/main" id="{24BCAC9D-6936-4632-B969-D14E5710DAD2}"/>
              </a:ext>
            </a:extLst>
          </p:cNvPr>
          <p:cNvSpPr>
            <a:spLocks noGrp="1"/>
          </p:cNvSpPr>
          <p:nvPr>
            <p:ph sz="quarter" idx="13"/>
          </p:nvPr>
        </p:nvSpPr>
        <p:spPr>
          <a:xfrm>
            <a:off x="457200" y="1556327"/>
            <a:ext cx="8229600" cy="2737377"/>
          </a:xfrm>
        </p:spPr>
        <p:txBody>
          <a:bodyPr/>
          <a:lstStyle/>
          <a:p>
            <a:r>
              <a:rPr lang="en-US" altLang="en-US" b="1" dirty="0"/>
              <a:t>Tuples do not support the methods:</a:t>
            </a:r>
          </a:p>
          <a:p>
            <a:pPr lvl="1"/>
            <a:r>
              <a:rPr lang="en-US" altLang="en-US" dirty="0">
                <a:latin typeface="Courier New" panose="02070309020205020404" pitchFamily="49" charset="0"/>
                <a:cs typeface="Courier New" panose="02070309020205020404" pitchFamily="49" charset="0"/>
              </a:rPr>
              <a:t>append</a:t>
            </a:r>
          </a:p>
          <a:p>
            <a:pPr lvl="1"/>
            <a:r>
              <a:rPr lang="en-US" altLang="en-US" dirty="0">
                <a:latin typeface="Courier New" panose="02070309020205020404" pitchFamily="49" charset="0"/>
                <a:cs typeface="Courier New" panose="02070309020205020404" pitchFamily="49" charset="0"/>
              </a:rPr>
              <a:t>remove</a:t>
            </a:r>
          </a:p>
          <a:p>
            <a:pPr lvl="1"/>
            <a:r>
              <a:rPr lang="en-US" altLang="en-US" dirty="0">
                <a:latin typeface="Courier New" panose="02070309020205020404" pitchFamily="49" charset="0"/>
                <a:cs typeface="Courier New" panose="02070309020205020404" pitchFamily="49" charset="0"/>
              </a:rPr>
              <a:t>insert</a:t>
            </a:r>
          </a:p>
          <a:p>
            <a:pPr lvl="1"/>
            <a:r>
              <a:rPr lang="en-US" altLang="en-US" dirty="0">
                <a:latin typeface="Courier New" panose="02070309020205020404" pitchFamily="49" charset="0"/>
                <a:cs typeface="Courier New" panose="02070309020205020404" pitchFamily="49" charset="0"/>
              </a:rPr>
              <a:t>reverse</a:t>
            </a:r>
          </a:p>
          <a:p>
            <a:pPr lvl="1"/>
            <a:r>
              <a:rPr lang="en-US" altLang="en-US" dirty="0">
                <a:latin typeface="Courier New" panose="02070309020205020404" pitchFamily="49" charset="0"/>
                <a:cs typeface="Courier New" panose="02070309020205020404" pitchFamily="49" charset="0"/>
              </a:rPr>
              <a:t>sort</a:t>
            </a:r>
          </a:p>
        </p:txBody>
      </p:sp>
    </p:spTree>
    <p:extLst>
      <p:ext uri="{BB962C8B-B14F-4D97-AF65-F5344CB8AC3E}">
        <p14:creationId xmlns:p14="http://schemas.microsoft.com/office/powerpoint/2010/main" val="4229305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64E5C-8805-4639-B08D-690ED9991AF2}"/>
              </a:ext>
            </a:extLst>
          </p:cNvPr>
          <p:cNvSpPr>
            <a:spLocks noGrp="1"/>
          </p:cNvSpPr>
          <p:nvPr>
            <p:ph type="title"/>
          </p:nvPr>
        </p:nvSpPr>
        <p:spPr/>
        <p:txBody>
          <a:bodyPr/>
          <a:lstStyle/>
          <a:p>
            <a:r>
              <a:rPr lang="en-US" altLang="en-US" sz="3200" dirty="0"/>
              <a:t>Storing Mutable Objects in a Tuple </a:t>
            </a:r>
            <a:r>
              <a:rPr lang="en-US" altLang="en-US" sz="2000" b="0" dirty="0"/>
              <a:t>(1 of 2)</a:t>
            </a:r>
            <a:endParaRPr lang="en-US" sz="2000" b="0" dirty="0"/>
          </a:p>
        </p:txBody>
      </p:sp>
      <p:sp>
        <p:nvSpPr>
          <p:cNvPr id="5" name="Content Placeholder 4">
            <a:extLst>
              <a:ext uri="{FF2B5EF4-FFF2-40B4-BE49-F238E27FC236}">
                <a16:creationId xmlns:a16="http://schemas.microsoft.com/office/drawing/2014/main" id="{C8810324-FA72-4854-B7A7-E06C97636A96}"/>
              </a:ext>
            </a:extLst>
          </p:cNvPr>
          <p:cNvSpPr>
            <a:spLocks noGrp="1"/>
          </p:cNvSpPr>
          <p:nvPr>
            <p:ph sz="quarter" idx="13"/>
          </p:nvPr>
        </p:nvSpPr>
        <p:spPr>
          <a:xfrm>
            <a:off x="466602" y="1552575"/>
            <a:ext cx="8220197" cy="1707460"/>
          </a:xfrm>
        </p:spPr>
        <p:txBody>
          <a:bodyPr/>
          <a:lstStyle/>
          <a:p>
            <a:r>
              <a:rPr lang="en-US" altLang="en-US" b="1" dirty="0"/>
              <a:t>Although tuples are immutable, you can store mutable objects in a tuple.</a:t>
            </a:r>
          </a:p>
          <a:p>
            <a:pPr lvl="1"/>
            <a:r>
              <a:rPr lang="en-US" altLang="en-US" dirty="0"/>
              <a:t>For example, the following statement creates a tuple that contains a list as its 3</a:t>
            </a:r>
            <a:r>
              <a:rPr lang="en-US" altLang="en-US" baseline="30000" dirty="0"/>
              <a:t>rd</a:t>
            </a:r>
            <a:r>
              <a:rPr lang="en-US" altLang="en-US" dirty="0"/>
              <a:t> element:</a:t>
            </a:r>
          </a:p>
        </p:txBody>
      </p:sp>
      <p:sp>
        <p:nvSpPr>
          <p:cNvPr id="6" name="Content Placeholder 5">
            <a:extLst>
              <a:ext uri="{FF2B5EF4-FFF2-40B4-BE49-F238E27FC236}">
                <a16:creationId xmlns:a16="http://schemas.microsoft.com/office/drawing/2014/main" id="{016BC41F-ECE3-4A87-A286-EE799AB5FD74}"/>
              </a:ext>
            </a:extLst>
          </p:cNvPr>
          <p:cNvSpPr>
            <a:spLocks noGrp="1"/>
          </p:cNvSpPr>
          <p:nvPr>
            <p:ph sz="quarter" idx="14"/>
          </p:nvPr>
        </p:nvSpPr>
        <p:spPr>
          <a:xfrm>
            <a:off x="2070000" y="3363337"/>
            <a:ext cx="5004000" cy="540000"/>
          </a:xfrm>
        </p:spPr>
        <p:txBody>
          <a:bodyPr/>
          <a:lstStyle/>
          <a:p>
            <a:pPr marL="432" indent="0">
              <a:buNone/>
            </a:pPr>
            <a:r>
              <a:rPr lang="en-US" altLang="en-US" dirty="0">
                <a:latin typeface="Courier New" panose="02070309020205020404" pitchFamily="49" charset="0"/>
                <a:cs typeface="Calibri" panose="020F0502020204030204" pitchFamily="34" charset="0"/>
              </a:rPr>
              <a:t>t = (10, 20, [97, 98, 99])</a:t>
            </a:r>
            <a:endParaRPr lang="en-US" altLang="en-US" dirty="0"/>
          </a:p>
        </p:txBody>
      </p:sp>
      <p:pic>
        <p:nvPicPr>
          <p:cNvPr id="9" name="Content Placeholder 8" descr="A computer code and a diagram. For long description in Notes pane, press F6.">
            <a:extLst>
              <a:ext uri="{FF2B5EF4-FFF2-40B4-BE49-F238E27FC236}">
                <a16:creationId xmlns:a16="http://schemas.microsoft.com/office/drawing/2014/main" id="{0008D928-3EA8-4973-B080-27441DE2FFD2}"/>
              </a:ext>
            </a:extLst>
          </p:cNvPr>
          <p:cNvPicPr>
            <a:picLocks noGrp="1" noChangeAspect="1"/>
          </p:cNvPicPr>
          <p:nvPr>
            <p:ph sz="quarter" idx="15"/>
          </p:nvPr>
        </p:nvPicPr>
        <p:blipFill rotWithShape="1">
          <a:blip r:embed="rId3"/>
          <a:srcRect t="22850"/>
          <a:stretch/>
        </p:blipFill>
        <p:spPr>
          <a:xfrm>
            <a:off x="2222309" y="4182817"/>
            <a:ext cx="4699382" cy="2008142"/>
          </a:xfrm>
        </p:spPr>
      </p:pic>
    </p:spTree>
    <p:extLst>
      <p:ext uri="{BB962C8B-B14F-4D97-AF65-F5344CB8AC3E}">
        <p14:creationId xmlns:p14="http://schemas.microsoft.com/office/powerpoint/2010/main" val="218460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64E5C-8805-4639-B08D-690ED9991AF2}"/>
              </a:ext>
            </a:extLst>
          </p:cNvPr>
          <p:cNvSpPr>
            <a:spLocks noGrp="1"/>
          </p:cNvSpPr>
          <p:nvPr>
            <p:ph type="title"/>
          </p:nvPr>
        </p:nvSpPr>
        <p:spPr/>
        <p:txBody>
          <a:bodyPr/>
          <a:lstStyle/>
          <a:p>
            <a:r>
              <a:rPr lang="en-US" altLang="en-US" sz="3200" dirty="0"/>
              <a:t>Storing Mutable Objects in a Tuple </a:t>
            </a:r>
            <a:r>
              <a:rPr lang="en-US" altLang="en-US" sz="2000" b="0" dirty="0"/>
              <a:t>(2 of 2)</a:t>
            </a:r>
            <a:endParaRPr lang="en-US" sz="3200" dirty="0"/>
          </a:p>
        </p:txBody>
      </p:sp>
      <p:sp>
        <p:nvSpPr>
          <p:cNvPr id="5" name="Content Placeholder 4">
            <a:extLst>
              <a:ext uri="{FF2B5EF4-FFF2-40B4-BE49-F238E27FC236}">
                <a16:creationId xmlns:a16="http://schemas.microsoft.com/office/drawing/2014/main" id="{C8810324-FA72-4854-B7A7-E06C97636A96}"/>
              </a:ext>
            </a:extLst>
          </p:cNvPr>
          <p:cNvSpPr>
            <a:spLocks noGrp="1"/>
          </p:cNvSpPr>
          <p:nvPr>
            <p:ph sz="quarter" idx="13"/>
          </p:nvPr>
        </p:nvSpPr>
        <p:spPr>
          <a:xfrm>
            <a:off x="466602" y="1552575"/>
            <a:ext cx="8220197" cy="938834"/>
          </a:xfrm>
        </p:spPr>
        <p:txBody>
          <a:bodyPr/>
          <a:lstStyle/>
          <a:p>
            <a:r>
              <a:rPr lang="en-US" altLang="en-US" b="1" dirty="0"/>
              <a:t>When a tuple element refers to a mutable object, that object's data can be changed.</a:t>
            </a:r>
          </a:p>
        </p:txBody>
      </p:sp>
      <p:sp>
        <p:nvSpPr>
          <p:cNvPr id="6" name="Content Placeholder 5">
            <a:extLst>
              <a:ext uri="{FF2B5EF4-FFF2-40B4-BE49-F238E27FC236}">
                <a16:creationId xmlns:a16="http://schemas.microsoft.com/office/drawing/2014/main" id="{016BC41F-ECE3-4A87-A286-EE799AB5FD74}"/>
              </a:ext>
            </a:extLst>
          </p:cNvPr>
          <p:cNvSpPr>
            <a:spLocks noGrp="1"/>
          </p:cNvSpPr>
          <p:nvPr>
            <p:ph sz="quarter" idx="14"/>
          </p:nvPr>
        </p:nvSpPr>
        <p:spPr>
          <a:xfrm>
            <a:off x="1616765" y="2782592"/>
            <a:ext cx="5910469" cy="3168000"/>
          </a:xfrm>
        </p:spPr>
        <p:txBody>
          <a:bodyPr/>
          <a:lstStyle/>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&gt;&gt;&gt; t = (10, 20, [97, 98, 99])</a:t>
            </a:r>
            <a:endParaRPr lang="en-US" altLang="en-US" dirty="0">
              <a:latin typeface="Courier New" panose="02070309020205020404" pitchFamily="49" charset="0"/>
              <a:ea typeface="Calibri" panose="020F0502020204030204" pitchFamily="34" charset="0"/>
              <a:cs typeface="Courier New" panose="02070309020205020404" pitchFamily="49" charset="0"/>
            </a:endParaRPr>
          </a:p>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&gt;&gt;&gt; print(t)</a:t>
            </a:r>
            <a:endParaRPr lang="en-US" altLang="en-US" dirty="0">
              <a:latin typeface="Courier New" panose="02070309020205020404" pitchFamily="49" charset="0"/>
              <a:ea typeface="Calibri" panose="020F0502020204030204" pitchFamily="34" charset="0"/>
              <a:cs typeface="Courier New" panose="02070309020205020404" pitchFamily="49" charset="0"/>
            </a:endParaRPr>
          </a:p>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(10, 20, [97, 98, 99])</a:t>
            </a:r>
          </a:p>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&gt;&gt;&gt;</a:t>
            </a:r>
            <a:endParaRPr lang="en-US" altLang="en-US" dirty="0">
              <a:latin typeface="Courier New" panose="02070309020205020404" pitchFamily="49" charset="0"/>
              <a:ea typeface="Calibri" panose="020F0502020204030204" pitchFamily="34" charset="0"/>
              <a:cs typeface="Courier New" panose="02070309020205020404" pitchFamily="49" charset="0"/>
            </a:endParaRPr>
          </a:p>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&gt;&gt;&gt; t[2].append(100)</a:t>
            </a:r>
            <a:endParaRPr lang="en-US" altLang="en-US" dirty="0">
              <a:latin typeface="Courier New" panose="02070309020205020404" pitchFamily="49" charset="0"/>
              <a:ea typeface="Calibri" panose="020F0502020204030204" pitchFamily="34" charset="0"/>
              <a:cs typeface="Courier New" panose="02070309020205020404" pitchFamily="49" charset="0"/>
            </a:endParaRPr>
          </a:p>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&gt;&gt;&gt; print(t)</a:t>
            </a:r>
            <a:endParaRPr lang="en-US" altLang="en-US" dirty="0">
              <a:latin typeface="Courier New" panose="02070309020205020404" pitchFamily="49" charset="0"/>
              <a:ea typeface="Calibri" panose="020F0502020204030204" pitchFamily="34" charset="0"/>
              <a:cs typeface="Courier New" panose="02070309020205020404" pitchFamily="49" charset="0"/>
            </a:endParaRPr>
          </a:p>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(10, 20, [97, 98, 99, 100])</a:t>
            </a:r>
            <a:endParaRPr lang="en-US" altLang="en-US" dirty="0">
              <a:latin typeface="Courier New" panose="02070309020205020404" pitchFamily="49" charset="0"/>
              <a:ea typeface="Calibri" panose="020F0502020204030204" pitchFamily="34" charset="0"/>
              <a:cs typeface="Courier New" panose="02070309020205020404" pitchFamily="49" charset="0"/>
            </a:endParaRPr>
          </a:p>
          <a:p>
            <a:pPr>
              <a:spcBef>
                <a:spcPct val="0"/>
              </a:spcBef>
              <a:buFontTx/>
              <a:buNone/>
            </a:pPr>
            <a:r>
              <a:rPr lang="en-US" altLang="en-US" dirty="0">
                <a:solidFill>
                  <a:srgbClr val="000000"/>
                </a:solidFill>
                <a:latin typeface="Courier New" panose="02070309020205020404" pitchFamily="49" charset="0"/>
                <a:ea typeface="Calibri" panose="020F0502020204030204" pitchFamily="34" charset="0"/>
                <a:cs typeface="Courier New" panose="02070309020205020404" pitchFamily="49" charset="0"/>
              </a:rPr>
              <a:t>&gt;&gt;&gt;</a:t>
            </a:r>
            <a:endParaRPr lang="en-US" altLang="en-US" dirty="0">
              <a:latin typeface="Courier New" panose="02070309020205020404" pitchFamily="49" charset="0"/>
              <a:ea typeface="Calibri" panose="020F0502020204030204" pitchFamily="34" charset="0"/>
              <a:cs typeface="Courier New" panose="02070309020205020404" pitchFamily="49" charset="0"/>
            </a:endParaRPr>
          </a:p>
        </p:txBody>
      </p:sp>
    </p:spTree>
    <p:extLst>
      <p:ext uri="{BB962C8B-B14F-4D97-AF65-F5344CB8AC3E}">
        <p14:creationId xmlns:p14="http://schemas.microsoft.com/office/powerpoint/2010/main" val="1152917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F86800-BAFE-4155-8EDD-B3C779EE6786}"/>
              </a:ext>
            </a:extLst>
          </p:cNvPr>
          <p:cNvSpPr>
            <a:spLocks noGrp="1"/>
          </p:cNvSpPr>
          <p:nvPr>
            <p:ph type="title"/>
          </p:nvPr>
        </p:nvSpPr>
        <p:spPr/>
        <p:txBody>
          <a:bodyPr/>
          <a:lstStyle/>
          <a:p>
            <a:r>
              <a:rPr lang="en-US" altLang="en-US" dirty="0"/>
              <a:t>Tuples </a:t>
            </a:r>
            <a:r>
              <a:rPr lang="en-US" altLang="en-US" sz="2000" b="0" dirty="0"/>
              <a:t>(4 of 4)</a:t>
            </a:r>
            <a:endParaRPr lang="en-US" sz="2000" dirty="0"/>
          </a:p>
        </p:txBody>
      </p:sp>
      <p:sp>
        <p:nvSpPr>
          <p:cNvPr id="6" name="Content Placeholder 5">
            <a:extLst>
              <a:ext uri="{FF2B5EF4-FFF2-40B4-BE49-F238E27FC236}">
                <a16:creationId xmlns:a16="http://schemas.microsoft.com/office/drawing/2014/main" id="{24BCAC9D-6936-4632-B969-D14E5710DAD2}"/>
              </a:ext>
            </a:extLst>
          </p:cNvPr>
          <p:cNvSpPr>
            <a:spLocks noGrp="1"/>
          </p:cNvSpPr>
          <p:nvPr>
            <p:ph sz="quarter" idx="13"/>
          </p:nvPr>
        </p:nvSpPr>
        <p:spPr>
          <a:xfrm>
            <a:off x="457200" y="1556326"/>
            <a:ext cx="8229600" cy="4608000"/>
          </a:xfrm>
        </p:spPr>
        <p:txBody>
          <a:bodyPr/>
          <a:lstStyle/>
          <a:p>
            <a:r>
              <a:rPr lang="en-US" altLang="en-US" b="1" dirty="0"/>
              <a:t>Reasons for using tuples:</a:t>
            </a:r>
          </a:p>
          <a:p>
            <a:pPr lvl="1"/>
            <a:r>
              <a:rPr lang="en-US" altLang="en-US" dirty="0">
                <a:cs typeface="Courier New" panose="02070309020205020404" pitchFamily="49" charset="0"/>
              </a:rPr>
              <a:t>Processing tuples is faster than processing lists</a:t>
            </a:r>
          </a:p>
          <a:p>
            <a:pPr lvl="1"/>
            <a:r>
              <a:rPr lang="en-US" altLang="en-US" dirty="0">
                <a:cs typeface="Courier New" panose="02070309020205020404" pitchFamily="49" charset="0"/>
              </a:rPr>
              <a:t>Tuples provide safety:</a:t>
            </a:r>
          </a:p>
          <a:p>
            <a:pPr lvl="2"/>
            <a:r>
              <a:rPr lang="en-US" altLang="en-US" dirty="0">
                <a:cs typeface="Courier New" panose="02070309020205020404" pitchFamily="49" charset="0"/>
              </a:rPr>
              <a:t>no elements can be added to or deleted from a tuple</a:t>
            </a:r>
          </a:p>
          <a:p>
            <a:pPr lvl="2"/>
            <a:r>
              <a:rPr lang="en-US" altLang="en-US" dirty="0">
                <a:cs typeface="Courier New" panose="02070309020205020404" pitchFamily="49" charset="0"/>
              </a:rPr>
              <a:t>once a tuple is created, the elements of the tuple will always refer to the same objects</a:t>
            </a:r>
          </a:p>
          <a:p>
            <a:pPr lvl="1"/>
            <a:r>
              <a:rPr lang="en-US" altLang="en-US" dirty="0">
                <a:cs typeface="Courier New" panose="02070309020205020404" pitchFamily="49" charset="0"/>
              </a:rPr>
              <a:t>Some operations in Python require use of tuples</a:t>
            </a:r>
          </a:p>
          <a:p>
            <a:r>
              <a:rPr lang="en-US" altLang="en-US" b="1" dirty="0">
                <a:latin typeface="Courier New" panose="02070309020205020404" pitchFamily="49" charset="0"/>
                <a:cs typeface="Courier New" panose="02070309020205020404" pitchFamily="49" charset="0"/>
              </a:rPr>
              <a:t>list()</a:t>
            </a:r>
            <a:r>
              <a:rPr lang="en-US" altLang="en-US" b="1" dirty="0">
                <a:cs typeface="Courier New" panose="02070309020205020404" pitchFamily="49" charset="0"/>
              </a:rPr>
              <a:t> function: converts tuple to list</a:t>
            </a:r>
          </a:p>
          <a:p>
            <a:r>
              <a:rPr lang="en-US" altLang="en-US" b="1" dirty="0">
                <a:latin typeface="Courier New" panose="02070309020205020404" pitchFamily="49" charset="0"/>
                <a:cs typeface="Courier New" panose="02070309020205020404" pitchFamily="49" charset="0"/>
              </a:rPr>
              <a:t>tuple()</a:t>
            </a:r>
            <a:r>
              <a:rPr lang="en-US" altLang="en-US" b="1" dirty="0">
                <a:cs typeface="Courier New" panose="02070309020205020404" pitchFamily="49" charset="0"/>
              </a:rPr>
              <a:t> function: converts list to tuple</a:t>
            </a:r>
          </a:p>
        </p:txBody>
      </p:sp>
    </p:spTree>
    <p:extLst>
      <p:ext uri="{BB962C8B-B14F-4D97-AF65-F5344CB8AC3E}">
        <p14:creationId xmlns:p14="http://schemas.microsoft.com/office/powerpoint/2010/main" val="4027469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0BEF2-BDE8-8EC5-5338-762261B28D16}"/>
              </a:ext>
            </a:extLst>
          </p:cNvPr>
          <p:cNvSpPr>
            <a:spLocks noGrp="1"/>
          </p:cNvSpPr>
          <p:nvPr>
            <p:ph type="title"/>
          </p:nvPr>
        </p:nvSpPr>
        <p:spPr/>
        <p:txBody>
          <a:bodyPr/>
          <a:lstStyle/>
          <a:p>
            <a:r>
              <a:rPr lang="en-US" dirty="0"/>
              <a:t>Pass By Object Reference </a:t>
            </a:r>
          </a:p>
        </p:txBody>
      </p:sp>
      <p:sp>
        <p:nvSpPr>
          <p:cNvPr id="3" name="Content Placeholder 2">
            <a:extLst>
              <a:ext uri="{FF2B5EF4-FFF2-40B4-BE49-F238E27FC236}">
                <a16:creationId xmlns:a16="http://schemas.microsoft.com/office/drawing/2014/main" id="{E5D93883-7BA8-1D78-8C94-04A8E813B92E}"/>
              </a:ext>
            </a:extLst>
          </p:cNvPr>
          <p:cNvSpPr>
            <a:spLocks noGrp="1"/>
          </p:cNvSpPr>
          <p:nvPr>
            <p:ph sz="quarter" idx="13"/>
          </p:nvPr>
        </p:nvSpPr>
        <p:spPr>
          <a:xfrm>
            <a:off x="457200" y="1433271"/>
            <a:ext cx="8523040" cy="5074148"/>
          </a:xfrm>
        </p:spPr>
        <p:txBody>
          <a:bodyPr/>
          <a:lstStyle/>
          <a:p>
            <a:pPr marL="255905" indent="-255270"/>
            <a:r>
              <a:rPr lang="en-US" b="1" dirty="0"/>
              <a:t>Mutable objects</a:t>
            </a:r>
            <a:r>
              <a:rPr lang="en-US" dirty="0"/>
              <a:t> (like lists) </a:t>
            </a:r>
          </a:p>
          <a:p>
            <a:pPr lvl="1" indent="-283845">
              <a:buFont typeface="Courier New"/>
              <a:buChar char="o"/>
            </a:pPr>
            <a:r>
              <a:rPr lang="en-US" b="1"/>
              <a:t>Functional Meaning:</a:t>
            </a:r>
            <a:r>
              <a:rPr lang="en-US" dirty="0"/>
              <a:t> </a:t>
            </a:r>
            <a:r>
              <a:rPr lang="en-US">
                <a:ea typeface="+mn-lt"/>
                <a:cs typeface="+mn-lt"/>
              </a:rPr>
              <a:t>if your function changes the </a:t>
            </a:r>
            <a:r>
              <a:rPr lang="en-US" dirty="0">
                <a:ea typeface="+mn-lt"/>
                <a:cs typeface="+mn-lt"/>
              </a:rPr>
              <a:t>object</a:t>
            </a:r>
            <a:r>
              <a:rPr lang="en-US">
                <a:ea typeface="+mn-lt"/>
                <a:cs typeface="+mn-lt"/>
              </a:rPr>
              <a:t> (append, remove</a:t>
            </a:r>
            <a:r>
              <a:rPr lang="en-US" dirty="0">
                <a:ea typeface="+mn-lt"/>
                <a:cs typeface="+mn-lt"/>
              </a:rPr>
              <a:t>, </a:t>
            </a:r>
            <a:r>
              <a:rPr lang="en-US">
                <a:ea typeface="+mn-lt"/>
                <a:cs typeface="+mn-lt"/>
              </a:rPr>
              <a:t>update), </a:t>
            </a:r>
            <a:r>
              <a:rPr lang="en-US" dirty="0">
                <a:ea typeface="+mn-lt"/>
                <a:cs typeface="+mn-lt"/>
              </a:rPr>
              <a:t>the </a:t>
            </a:r>
            <a:r>
              <a:rPr lang="en-US">
                <a:ea typeface="+mn-lt"/>
                <a:cs typeface="+mn-lt"/>
              </a:rPr>
              <a:t>caller’s copy changes too. You don’t need to return it—those edits stick.</a:t>
            </a:r>
          </a:p>
          <a:p>
            <a:pPr marL="255905" indent="-255270"/>
            <a:r>
              <a:rPr lang="en-US" b="1" dirty="0"/>
              <a:t>Immutable objects</a:t>
            </a:r>
            <a:r>
              <a:rPr lang="en-US" dirty="0"/>
              <a:t> (</a:t>
            </a:r>
            <a:r>
              <a:rPr lang="en-US" dirty="0" err="1"/>
              <a:t>ints</a:t>
            </a:r>
            <a:r>
              <a:rPr lang="en-US" dirty="0"/>
              <a:t>, floats, strings, tuples)</a:t>
            </a:r>
            <a:endParaRPr lang="en-US" b="1" dirty="0"/>
          </a:p>
          <a:p>
            <a:pPr lvl="1" indent="-283845">
              <a:buFont typeface="Courier New"/>
              <a:buChar char="o"/>
            </a:pPr>
            <a:r>
              <a:rPr lang="en-US" b="1" dirty="0"/>
              <a:t>Functional Meaning: </a:t>
            </a:r>
            <a:r>
              <a:rPr lang="en-US">
                <a:ea typeface="+mn-lt"/>
                <a:cs typeface="+mn-lt"/>
              </a:rPr>
              <a:t>You can’t change the original in place. If you “modify” it (like </a:t>
            </a:r>
            <a:r>
              <a:rPr lang="en-US">
                <a:latin typeface="Consolas"/>
              </a:rPr>
              <a:t>x += 1</a:t>
            </a:r>
            <a:r>
              <a:rPr lang="en-US">
                <a:ea typeface="+mn-lt"/>
                <a:cs typeface="+mn-lt"/>
              </a:rPr>
              <a:t> or </a:t>
            </a:r>
            <a:r>
              <a:rPr lang="en-US">
                <a:latin typeface="Consolas"/>
              </a:rPr>
              <a:t>s = "a"</a:t>
            </a:r>
            <a:r>
              <a:rPr lang="en-US">
                <a:ea typeface="+mn-lt"/>
                <a:cs typeface="+mn-lt"/>
              </a:rPr>
              <a:t>), you’re making</a:t>
            </a:r>
            <a:r>
              <a:rPr lang="en-US" dirty="0">
                <a:ea typeface="+mn-lt"/>
                <a:cs typeface="+mn-lt"/>
              </a:rPr>
              <a:t> a </a:t>
            </a:r>
            <a:r>
              <a:rPr lang="en-US">
                <a:ea typeface="+mn-lt"/>
                <a:cs typeface="+mn-lt"/>
              </a:rPr>
              <a:t>new </a:t>
            </a:r>
            <a:r>
              <a:rPr lang="en-US" dirty="0">
                <a:ea typeface="+mn-lt"/>
                <a:cs typeface="+mn-lt"/>
              </a:rPr>
              <a:t>object inside the function</a:t>
            </a:r>
            <a:r>
              <a:rPr lang="en-US">
                <a:ea typeface="+mn-lt"/>
                <a:cs typeface="+mn-lt"/>
              </a:rPr>
              <a:t>. The caller’s value stays the same unless you return</a:t>
            </a:r>
            <a:r>
              <a:rPr lang="en-US" dirty="0">
                <a:ea typeface="+mn-lt"/>
                <a:cs typeface="+mn-lt"/>
              </a:rPr>
              <a:t> the </a:t>
            </a:r>
            <a:r>
              <a:rPr lang="en-US">
                <a:ea typeface="+mn-lt"/>
                <a:cs typeface="+mn-lt"/>
              </a:rPr>
              <a:t>new one and assign it</a:t>
            </a:r>
          </a:p>
          <a:p>
            <a:pPr marL="255905" indent="-255270"/>
            <a:endParaRPr lang="en-US"/>
          </a:p>
          <a:p>
            <a:pPr marL="255905" indent="-255270"/>
            <a:endParaRPr lang="en-US"/>
          </a:p>
        </p:txBody>
      </p:sp>
    </p:spTree>
    <p:extLst>
      <p:ext uri="{BB962C8B-B14F-4D97-AF65-F5344CB8AC3E}">
        <p14:creationId xmlns:p14="http://schemas.microsoft.com/office/powerpoint/2010/main" val="1475700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4380D-3D95-094E-9639-2C4B3C955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8C870-AAAB-A62A-E1EA-A6442FE2A682}"/>
              </a:ext>
            </a:extLst>
          </p:cNvPr>
          <p:cNvSpPr>
            <a:spLocks noGrp="1"/>
          </p:cNvSpPr>
          <p:nvPr>
            <p:ph type="title"/>
          </p:nvPr>
        </p:nvSpPr>
        <p:spPr/>
        <p:txBody>
          <a:bodyPr/>
          <a:lstStyle/>
          <a:p>
            <a:r>
              <a:rPr lang="en-US" dirty="0"/>
              <a:t>Pass By Object Reference </a:t>
            </a:r>
          </a:p>
        </p:txBody>
      </p:sp>
      <p:sp>
        <p:nvSpPr>
          <p:cNvPr id="3" name="Content Placeholder 2">
            <a:extLst>
              <a:ext uri="{FF2B5EF4-FFF2-40B4-BE49-F238E27FC236}">
                <a16:creationId xmlns:a16="http://schemas.microsoft.com/office/drawing/2014/main" id="{654B0049-CAA9-EE0E-56A6-9497E237B016}"/>
              </a:ext>
            </a:extLst>
          </p:cNvPr>
          <p:cNvSpPr>
            <a:spLocks noGrp="1"/>
          </p:cNvSpPr>
          <p:nvPr>
            <p:ph sz="quarter" idx="13"/>
          </p:nvPr>
        </p:nvSpPr>
        <p:spPr>
          <a:xfrm>
            <a:off x="457200" y="1433271"/>
            <a:ext cx="8523040" cy="5074148"/>
          </a:xfrm>
        </p:spPr>
        <p:txBody>
          <a:bodyPr/>
          <a:lstStyle/>
          <a:p>
            <a:pPr marL="255905" indent="-255270"/>
            <a:r>
              <a:rPr lang="en-US" b="1">
                <a:ea typeface="+mn-lt"/>
                <a:cs typeface="+mn-lt"/>
              </a:rPr>
              <a:t>Watch out</a:t>
            </a:r>
            <a:r>
              <a:rPr lang="en-US" b="1" dirty="0">
                <a:ea typeface="+mn-lt"/>
                <a:cs typeface="+mn-lt"/>
              </a:rPr>
              <a:t>:</a:t>
            </a:r>
            <a:r>
              <a:rPr lang="en-US">
                <a:ea typeface="+mn-lt"/>
                <a:cs typeface="+mn-lt"/>
              </a:rPr>
              <a:t> </a:t>
            </a:r>
            <a:endParaRPr lang="en-US"/>
          </a:p>
          <a:p>
            <a:pPr lvl="1" indent="-283845">
              <a:buFont typeface="Arial"/>
              <a:buChar char="•"/>
            </a:pPr>
            <a:r>
              <a:rPr lang="en-US">
                <a:ea typeface="+mn-lt"/>
                <a:cs typeface="+mn-lt"/>
              </a:rPr>
              <a:t>Rebinding a parameter (</a:t>
            </a:r>
            <a:r>
              <a:rPr lang="en-US" b="1">
                <a:latin typeface="Consolas"/>
              </a:rPr>
              <a:t>a = []</a:t>
            </a:r>
            <a:r>
              <a:rPr lang="en-US">
                <a:ea typeface="+mn-lt"/>
                <a:cs typeface="+mn-lt"/>
              </a:rPr>
              <a:t>) </a:t>
            </a:r>
            <a:r>
              <a:rPr lang="en-US" b="1">
                <a:ea typeface="+mn-lt"/>
                <a:cs typeface="+mn-lt"/>
              </a:rPr>
              <a:t>doesn’t </a:t>
            </a:r>
            <a:r>
              <a:rPr lang="en-US">
                <a:ea typeface="+mn-lt"/>
                <a:cs typeface="+mn-lt"/>
              </a:rPr>
              <a:t>affect </a:t>
            </a:r>
            <a:r>
              <a:rPr lang="en-US" dirty="0">
                <a:ea typeface="+mn-lt"/>
                <a:cs typeface="+mn-lt"/>
              </a:rPr>
              <a:t>the </a:t>
            </a:r>
            <a:r>
              <a:rPr lang="en-US">
                <a:ea typeface="+mn-lt"/>
                <a:cs typeface="+mn-lt"/>
              </a:rPr>
              <a:t>caller; </a:t>
            </a:r>
            <a:endParaRPr lang="en-US"/>
          </a:p>
          <a:p>
            <a:pPr lvl="1" indent="-283845">
              <a:buFont typeface="Arial"/>
              <a:buChar char="•"/>
            </a:pPr>
            <a:r>
              <a:rPr lang="en-US">
                <a:ea typeface="+mn-lt"/>
                <a:cs typeface="+mn-lt"/>
              </a:rPr>
              <a:t>mutating it </a:t>
            </a:r>
            <a:r>
              <a:rPr lang="en-US" b="1">
                <a:ea typeface="+mn-lt"/>
                <a:cs typeface="+mn-lt"/>
              </a:rPr>
              <a:t>does </a:t>
            </a:r>
            <a:r>
              <a:rPr lang="en-US">
                <a:ea typeface="+mn-lt"/>
                <a:cs typeface="+mn-lt"/>
              </a:rPr>
              <a:t>affect the caller:</a:t>
            </a:r>
            <a:endParaRPr lang="en-US"/>
          </a:p>
          <a:p>
            <a:pPr lvl="2" indent="-229870">
              <a:buFont typeface="Arial"/>
              <a:buChar char="•"/>
            </a:pPr>
            <a:r>
              <a:rPr lang="en-US"/>
              <a:t>Operations such as those below all update the object and therefore does affect the original</a:t>
            </a:r>
          </a:p>
          <a:p>
            <a:pPr lvl="3" indent="-229870">
              <a:buChar char="•"/>
            </a:pPr>
            <a:r>
              <a:rPr lang="en-US"/>
              <a:t>a[0] = 5</a:t>
            </a:r>
          </a:p>
          <a:p>
            <a:pPr lvl="3" indent="-229870">
              <a:buChar char="•"/>
            </a:pPr>
            <a:r>
              <a:rPr lang="en-US"/>
              <a:t>a.append(6)</a:t>
            </a:r>
          </a:p>
          <a:p>
            <a:pPr lvl="3" indent="-229870">
              <a:buChar char="•"/>
            </a:pPr>
            <a:r>
              <a:rPr lang="en-US"/>
              <a:t>aremove(5)</a:t>
            </a:r>
          </a:p>
          <a:p>
            <a:pPr marL="255905" indent="-255270"/>
            <a:endParaRPr lang="en-US"/>
          </a:p>
          <a:p>
            <a:pPr marL="255905" indent="-255270"/>
            <a:endParaRPr lang="en-US"/>
          </a:p>
        </p:txBody>
      </p:sp>
    </p:spTree>
    <p:extLst>
      <p:ext uri="{BB962C8B-B14F-4D97-AF65-F5344CB8AC3E}">
        <p14:creationId xmlns:p14="http://schemas.microsoft.com/office/powerpoint/2010/main" val="3897612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2126-0280-4A82-8F70-B9A3FF53BD0A}"/>
              </a:ext>
            </a:extLst>
          </p:cNvPr>
          <p:cNvSpPr>
            <a:spLocks noGrp="1"/>
          </p:cNvSpPr>
          <p:nvPr>
            <p:ph type="title"/>
          </p:nvPr>
        </p:nvSpPr>
        <p:spPr/>
        <p:txBody>
          <a:bodyPr/>
          <a:lstStyle/>
          <a:p>
            <a:r>
              <a:rPr lang="en-US" altLang="en-US" dirty="0"/>
              <a:t>Copying Lists </a:t>
            </a:r>
            <a:r>
              <a:rPr lang="en-US" altLang="en-US" sz="2000" b="0" dirty="0"/>
              <a:t>(1 of 2)</a:t>
            </a:r>
            <a:endParaRPr lang="en-US" sz="2000" b="0" dirty="0"/>
          </a:p>
        </p:txBody>
      </p:sp>
      <p:sp>
        <p:nvSpPr>
          <p:cNvPr id="3" name="Content Placeholder 2">
            <a:extLst>
              <a:ext uri="{FF2B5EF4-FFF2-40B4-BE49-F238E27FC236}">
                <a16:creationId xmlns:a16="http://schemas.microsoft.com/office/drawing/2014/main" id="{4A66D817-07F6-4A51-972C-2FDDB016B425}"/>
              </a:ext>
            </a:extLst>
          </p:cNvPr>
          <p:cNvSpPr>
            <a:spLocks noGrp="1"/>
          </p:cNvSpPr>
          <p:nvPr>
            <p:ph sz="quarter" idx="13"/>
          </p:nvPr>
        </p:nvSpPr>
        <p:spPr>
          <a:xfrm>
            <a:off x="457200" y="1556327"/>
            <a:ext cx="8229600" cy="3360230"/>
          </a:xfrm>
        </p:spPr>
        <p:txBody>
          <a:bodyPr/>
          <a:lstStyle/>
          <a:p>
            <a:pPr marL="255905" indent="-255270"/>
            <a:r>
              <a:rPr lang="en-US" altLang="en-US" b="1" dirty="0"/>
              <a:t>To make a copy of a list you must copy each element </a:t>
            </a:r>
            <a:r>
              <a:rPr lang="en-US" altLang="en-US" b="1"/>
              <a:t>of the list into another list</a:t>
            </a:r>
            <a:endParaRPr lang="en-US"/>
          </a:p>
          <a:p>
            <a:pPr lvl="1" indent="-283845"/>
            <a:r>
              <a:rPr lang="en-US" altLang="en-US" dirty="0"/>
              <a:t>Two methods to do this:</a:t>
            </a:r>
          </a:p>
          <a:p>
            <a:pPr lvl="2" indent="-229870"/>
            <a:r>
              <a:rPr lang="en-US" altLang="en-US" dirty="0"/>
              <a:t>Creating a new empty list and using a </a:t>
            </a:r>
            <a:r>
              <a:rPr lang="en-US" altLang="en-US" dirty="0">
                <a:latin typeface="Courier New" panose="02070309020205020404" pitchFamily="49" charset="0"/>
                <a:cs typeface="Courier New" panose="02070309020205020404" pitchFamily="49" charset="0"/>
              </a:rPr>
              <a:t>for</a:t>
            </a:r>
            <a:r>
              <a:rPr lang="en-US" altLang="en-US" dirty="0"/>
              <a:t> loop to add a copy of each element from the original list to the new list</a:t>
            </a:r>
          </a:p>
          <a:p>
            <a:pPr lvl="2" indent="-229870"/>
            <a:r>
              <a:rPr lang="en-US" altLang="en-US" dirty="0"/>
              <a:t>Creating a new empty list and concatenating the old list to the new empty list</a:t>
            </a:r>
            <a:endParaRPr lang="he-IL" altLang="en-US" dirty="0"/>
          </a:p>
        </p:txBody>
      </p:sp>
    </p:spTree>
    <p:extLst>
      <p:ext uri="{BB962C8B-B14F-4D97-AF65-F5344CB8AC3E}">
        <p14:creationId xmlns:p14="http://schemas.microsoft.com/office/powerpoint/2010/main" val="764944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2126-0280-4A82-8F70-B9A3FF53BD0A}"/>
              </a:ext>
            </a:extLst>
          </p:cNvPr>
          <p:cNvSpPr>
            <a:spLocks noGrp="1"/>
          </p:cNvSpPr>
          <p:nvPr>
            <p:ph type="title"/>
          </p:nvPr>
        </p:nvSpPr>
        <p:spPr/>
        <p:txBody>
          <a:bodyPr/>
          <a:lstStyle/>
          <a:p>
            <a:r>
              <a:rPr lang="en-US" altLang="en-US" dirty="0"/>
              <a:t>Copying Lists </a:t>
            </a:r>
            <a:r>
              <a:rPr lang="en-US" altLang="en-US" sz="2000" b="0" dirty="0"/>
              <a:t>(2 of 2)</a:t>
            </a:r>
            <a:endParaRPr lang="en-US" dirty="0"/>
          </a:p>
        </p:txBody>
      </p:sp>
      <p:sp>
        <p:nvSpPr>
          <p:cNvPr id="3" name="Content Placeholder 2">
            <a:extLst>
              <a:ext uri="{FF2B5EF4-FFF2-40B4-BE49-F238E27FC236}">
                <a16:creationId xmlns:a16="http://schemas.microsoft.com/office/drawing/2014/main" id="{4A66D817-07F6-4A51-972C-2FDDB016B425}"/>
              </a:ext>
            </a:extLst>
          </p:cNvPr>
          <p:cNvSpPr>
            <a:spLocks noGrp="1"/>
          </p:cNvSpPr>
          <p:nvPr>
            <p:ph sz="quarter" idx="13"/>
          </p:nvPr>
        </p:nvSpPr>
        <p:spPr>
          <a:xfrm>
            <a:off x="457200" y="1556327"/>
            <a:ext cx="8229600" cy="540000"/>
          </a:xfrm>
        </p:spPr>
        <p:txBody>
          <a:bodyPr/>
          <a:lstStyle/>
          <a:p>
            <a:pPr marL="432" indent="0">
              <a:buNone/>
            </a:pPr>
            <a:r>
              <a:rPr lang="en-US" altLang="en-US" b="1" dirty="0"/>
              <a:t>Figure 7-4 </a:t>
            </a:r>
            <a:r>
              <a:rPr lang="en-US" altLang="en-US" dirty="0">
                <a:latin typeface="Courier New" panose="02070309020205020404" pitchFamily="49" charset="0"/>
                <a:cs typeface="Courier New" panose="02070309020205020404" pitchFamily="49" charset="0"/>
              </a:rPr>
              <a:t>list1</a:t>
            </a:r>
            <a:r>
              <a:rPr lang="en-US" altLang="en-US" dirty="0"/>
              <a:t> and </a:t>
            </a:r>
            <a:r>
              <a:rPr lang="en-US" altLang="en-US" dirty="0">
                <a:latin typeface="Courier New" panose="02070309020205020404" pitchFamily="49" charset="0"/>
                <a:cs typeface="Courier New" panose="02070309020205020404" pitchFamily="49" charset="0"/>
              </a:rPr>
              <a:t>list2</a:t>
            </a:r>
            <a:r>
              <a:rPr lang="en-US" altLang="en-US" dirty="0"/>
              <a:t> reference the same list</a:t>
            </a:r>
            <a:endParaRPr lang="he-IL" altLang="en-US" dirty="0"/>
          </a:p>
        </p:txBody>
      </p:sp>
      <p:pic>
        <p:nvPicPr>
          <p:cNvPr id="6" name="Content Placeholder 5" descr="List 1 and list 2 point to the first element of the list, which is depicted as a 1 by 4 array in which the following elements are entered in each of the cells. 1, 2, 3, and 4.">
            <a:extLst>
              <a:ext uri="{FF2B5EF4-FFF2-40B4-BE49-F238E27FC236}">
                <a16:creationId xmlns:a16="http://schemas.microsoft.com/office/drawing/2014/main" id="{C85FB2AE-802E-4314-A46B-B9C0E5605FF1}"/>
              </a:ext>
            </a:extLst>
          </p:cNvPr>
          <p:cNvPicPr>
            <a:picLocks noGrp="1" noChangeAspect="1"/>
          </p:cNvPicPr>
          <p:nvPr>
            <p:ph sz="quarter" idx="14"/>
          </p:nvPr>
        </p:nvPicPr>
        <p:blipFill rotWithShape="1">
          <a:blip r:embed="rId2"/>
          <a:srcRect l="30130" t="27721" r="26139"/>
          <a:stretch/>
        </p:blipFill>
        <p:spPr>
          <a:xfrm>
            <a:off x="2428247" y="2443046"/>
            <a:ext cx="4287504" cy="1118924"/>
          </a:xfrm>
        </p:spPr>
      </p:pic>
      <p:sp>
        <p:nvSpPr>
          <p:cNvPr id="4" name="TextBox 3">
            <a:extLst>
              <a:ext uri="{FF2B5EF4-FFF2-40B4-BE49-F238E27FC236}">
                <a16:creationId xmlns:a16="http://schemas.microsoft.com/office/drawing/2014/main" id="{DC1200E8-1C75-83F1-5083-F4C023175DAB}"/>
              </a:ext>
            </a:extLst>
          </p:cNvPr>
          <p:cNvSpPr txBox="1"/>
          <p:nvPr/>
        </p:nvSpPr>
        <p:spPr>
          <a:xfrm>
            <a:off x="1251850" y="4060278"/>
            <a:ext cx="6821803"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list1 = [1,2,3,4]</a:t>
            </a:r>
          </a:p>
          <a:p>
            <a:r>
              <a:rPr lang="en-US" sz="2000" b="1" dirty="0"/>
              <a:t>list2 = list1 </a:t>
            </a:r>
          </a:p>
          <a:p>
            <a:endParaRPr lang="en-US" dirty="0"/>
          </a:p>
          <a:p>
            <a:r>
              <a:rPr lang="en-US" sz="1600" b="1" dirty="0">
                <a:solidFill>
                  <a:srgbClr val="C00000"/>
                </a:solidFill>
              </a:rPr>
              <a:t># These variables, list1 and list2, reference the same list! Meaning, changes to one list will result in changes to the other!</a:t>
            </a:r>
          </a:p>
        </p:txBody>
      </p:sp>
    </p:spTree>
    <p:extLst>
      <p:ext uri="{BB962C8B-B14F-4D97-AF65-F5344CB8AC3E}">
        <p14:creationId xmlns:p14="http://schemas.microsoft.com/office/powerpoint/2010/main" val="661287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2126-0280-4A82-8F70-B9A3FF53BD0A}"/>
              </a:ext>
            </a:extLst>
          </p:cNvPr>
          <p:cNvSpPr>
            <a:spLocks noGrp="1"/>
          </p:cNvSpPr>
          <p:nvPr>
            <p:ph type="title"/>
          </p:nvPr>
        </p:nvSpPr>
        <p:spPr/>
        <p:txBody>
          <a:bodyPr/>
          <a:lstStyle/>
          <a:p>
            <a:r>
              <a:rPr lang="en-US" altLang="en-US" dirty="0"/>
              <a:t>Processing Lists </a:t>
            </a:r>
            <a:r>
              <a:rPr lang="en-US" altLang="en-US" sz="2000" b="0" dirty="0"/>
              <a:t>(1 of 2)</a:t>
            </a:r>
            <a:endParaRPr lang="en-US" sz="2000" b="0" dirty="0"/>
          </a:p>
        </p:txBody>
      </p:sp>
      <p:sp>
        <p:nvSpPr>
          <p:cNvPr id="3" name="Content Placeholder 2">
            <a:extLst>
              <a:ext uri="{FF2B5EF4-FFF2-40B4-BE49-F238E27FC236}">
                <a16:creationId xmlns:a16="http://schemas.microsoft.com/office/drawing/2014/main" id="{4A66D817-07F6-4A51-972C-2FDDB016B425}"/>
              </a:ext>
            </a:extLst>
          </p:cNvPr>
          <p:cNvSpPr>
            <a:spLocks noGrp="1"/>
          </p:cNvSpPr>
          <p:nvPr>
            <p:ph sz="quarter" idx="13"/>
          </p:nvPr>
        </p:nvSpPr>
        <p:spPr>
          <a:xfrm>
            <a:off x="457200" y="1556326"/>
            <a:ext cx="8229600" cy="3506003"/>
          </a:xfrm>
        </p:spPr>
        <p:txBody>
          <a:bodyPr/>
          <a:lstStyle/>
          <a:p>
            <a:r>
              <a:rPr lang="en-US" altLang="en-US" b="1" dirty="0">
                <a:cs typeface="Courier New" panose="02070309020205020404" pitchFamily="49" charset="0"/>
              </a:rPr>
              <a:t>List elements can be used in calculations</a:t>
            </a:r>
          </a:p>
          <a:p>
            <a:r>
              <a:rPr lang="en-US" altLang="en-US" b="1" dirty="0">
                <a:cs typeface="Courier New" panose="02070309020205020404" pitchFamily="49" charset="0"/>
              </a:rPr>
              <a:t>To calculate total of numeric values in a list use loop with accumulator variable</a:t>
            </a:r>
          </a:p>
          <a:p>
            <a:r>
              <a:rPr lang="en-US" altLang="en-US" b="1" dirty="0">
                <a:cs typeface="Courier New" panose="02070309020205020404" pitchFamily="49" charset="0"/>
              </a:rPr>
              <a:t>To average numeric values in a list:</a:t>
            </a:r>
          </a:p>
          <a:p>
            <a:pPr lvl="1"/>
            <a:r>
              <a:rPr lang="en-US" altLang="en-US" dirty="0">
                <a:cs typeface="Courier New" panose="02070309020205020404" pitchFamily="49" charset="0"/>
              </a:rPr>
              <a:t>Calculate total of the values</a:t>
            </a:r>
          </a:p>
          <a:p>
            <a:pPr lvl="1"/>
            <a:r>
              <a:rPr lang="en-US" altLang="en-US" dirty="0">
                <a:cs typeface="Courier New" panose="02070309020205020404" pitchFamily="49" charset="0"/>
              </a:rPr>
              <a:t>Divide total of the values by </a:t>
            </a:r>
            <a:r>
              <a:rPr lang="en-US" altLang="en-US" dirty="0" err="1">
                <a:latin typeface="Courier New" panose="02070309020205020404" pitchFamily="49" charset="0"/>
                <a:cs typeface="Courier New" panose="02070309020205020404" pitchFamily="49" charset="0"/>
              </a:rPr>
              <a:t>len</a:t>
            </a:r>
            <a:r>
              <a:rPr lang="en-US" altLang="en-US" dirty="0">
                <a:latin typeface="Courier New" panose="02070309020205020404" pitchFamily="49" charset="0"/>
                <a:cs typeface="Courier New" panose="02070309020205020404" pitchFamily="49" charset="0"/>
              </a:rPr>
              <a:t>(list)</a:t>
            </a:r>
          </a:p>
          <a:p>
            <a:r>
              <a:rPr lang="en-US" altLang="en-US" b="1" dirty="0">
                <a:cs typeface="Courier New" panose="02070309020205020404" pitchFamily="49" charset="0"/>
              </a:rPr>
              <a:t>List can be passed as an argument to a function</a:t>
            </a:r>
          </a:p>
        </p:txBody>
      </p:sp>
    </p:spTree>
    <p:extLst>
      <p:ext uri="{BB962C8B-B14F-4D97-AF65-F5344CB8AC3E}">
        <p14:creationId xmlns:p14="http://schemas.microsoft.com/office/powerpoint/2010/main" val="3058550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658E2-01C0-4C04-B47C-4AD792FF2280}"/>
              </a:ext>
            </a:extLst>
          </p:cNvPr>
          <p:cNvSpPr>
            <a:spLocks noGrp="1"/>
          </p:cNvSpPr>
          <p:nvPr>
            <p:ph type="title"/>
          </p:nvPr>
        </p:nvSpPr>
        <p:spPr/>
        <p:txBody>
          <a:bodyPr/>
          <a:lstStyle/>
          <a:p>
            <a:r>
              <a:rPr lang="en-US" altLang="en-US" sz="3200" dirty="0"/>
              <a:t>Iterating Over a List</a:t>
            </a:r>
            <a:endParaRPr lang="en-IN" sz="3200" dirty="0"/>
          </a:p>
        </p:txBody>
      </p:sp>
      <p:sp>
        <p:nvSpPr>
          <p:cNvPr id="3" name="Content Placeholder 2">
            <a:extLst>
              <a:ext uri="{FF2B5EF4-FFF2-40B4-BE49-F238E27FC236}">
                <a16:creationId xmlns:a16="http://schemas.microsoft.com/office/drawing/2014/main" id="{ADF384C9-A271-48B8-81A8-257E7C03BFB0}"/>
              </a:ext>
            </a:extLst>
          </p:cNvPr>
          <p:cNvSpPr>
            <a:spLocks noGrp="1"/>
          </p:cNvSpPr>
          <p:nvPr>
            <p:ph sz="quarter" idx="13"/>
          </p:nvPr>
        </p:nvSpPr>
        <p:spPr>
          <a:xfrm>
            <a:off x="457200" y="1556326"/>
            <a:ext cx="8229600" cy="4812477"/>
          </a:xfrm>
        </p:spPr>
        <p:txBody>
          <a:bodyPr/>
          <a:lstStyle/>
          <a:p>
            <a:pPr marL="255905" indent="-255270">
              <a:buFont typeface="Calibri"/>
              <a:buChar char="-"/>
            </a:pPr>
            <a:r>
              <a:rPr lang="en-US" altLang="en-US" dirty="0">
                <a:cs typeface="Courier New"/>
              </a:rPr>
              <a:t>You can iterate over a list using a </a:t>
            </a:r>
            <a:r>
              <a:rPr lang="en-US" altLang="en-US" dirty="0">
                <a:latin typeface="Courier New"/>
                <a:cs typeface="Courier New"/>
              </a:rPr>
              <a:t>for </a:t>
            </a:r>
            <a:r>
              <a:rPr lang="en-US" altLang="en-US">
                <a:cs typeface="Courier New"/>
              </a:rPr>
              <a:t>loop</a:t>
            </a:r>
            <a:endParaRPr lang="en-US">
              <a:cs typeface="Courier New"/>
            </a:endParaRPr>
          </a:p>
          <a:p>
            <a:pPr lvl="1" indent="-283845"/>
            <a:r>
              <a:rPr lang="en-US" altLang="en-US">
                <a:cs typeface="Courier New"/>
              </a:rPr>
              <a:t>Format: </a:t>
            </a:r>
            <a:r>
              <a:rPr lang="en-US" altLang="en-US" b="1">
                <a:latin typeface="Courier New"/>
                <a:cs typeface="Courier New"/>
              </a:rPr>
              <a:t>for </a:t>
            </a:r>
            <a:r>
              <a:rPr lang="en-US" altLang="en-US" b="1" i="1">
                <a:latin typeface="Courier New"/>
                <a:cs typeface="Courier New"/>
              </a:rPr>
              <a:t>x</a:t>
            </a:r>
            <a:r>
              <a:rPr lang="en-US" altLang="en-US" b="1">
                <a:latin typeface="Courier New"/>
                <a:cs typeface="Courier New"/>
              </a:rPr>
              <a:t> in </a:t>
            </a:r>
            <a:r>
              <a:rPr lang="en-US" altLang="en-US" b="1" i="1">
                <a:latin typeface="Courier New"/>
                <a:cs typeface="Courier New"/>
              </a:rPr>
              <a:t>list</a:t>
            </a:r>
            <a:r>
              <a:rPr lang="en-US" altLang="en-US" b="1">
                <a:latin typeface="Courier New"/>
                <a:cs typeface="Courier New"/>
              </a:rPr>
              <a:t>:</a:t>
            </a:r>
            <a:endParaRPr lang="en-US" altLang="en-US" b="1">
              <a:latin typeface="Courier New" panose="02070309020205020404" pitchFamily="49" charset="0"/>
              <a:cs typeface="Courier New"/>
            </a:endParaRPr>
          </a:p>
          <a:p>
            <a:pPr marL="255905" indent="-255270">
              <a:buFont typeface="Calibri"/>
              <a:buChar char="-"/>
            </a:pPr>
            <a:r>
              <a:rPr lang="en-US" altLang="en-US">
                <a:latin typeface="Courier New"/>
                <a:cs typeface="Courier New"/>
              </a:rPr>
              <a:t>You can iterate over a list using a while loop</a:t>
            </a:r>
          </a:p>
          <a:p>
            <a:pPr lvl="1" indent="-283845"/>
            <a:r>
              <a:rPr lang="en-US" altLang="en-US">
                <a:latin typeface="Courier New"/>
                <a:cs typeface="Courier New"/>
              </a:rPr>
              <a:t>Format: </a:t>
            </a:r>
          </a:p>
          <a:p>
            <a:pPr marL="459105" lvl="1" indent="0">
              <a:buNone/>
            </a:pPr>
            <a:r>
              <a:rPr lang="en-US" altLang="en-US">
                <a:latin typeface="Courier New"/>
                <a:cs typeface="Courier New"/>
              </a:rPr>
              <a:t>       l_index = 0</a:t>
            </a:r>
            <a:endParaRPr lang="en-US"/>
          </a:p>
          <a:p>
            <a:pPr marL="1827530" lvl="4" indent="0">
              <a:buNone/>
            </a:pPr>
            <a:r>
              <a:rPr lang="en-US" altLang="en-US">
                <a:latin typeface="Courier New"/>
                <a:cs typeface="Courier New"/>
              </a:rPr>
              <a:t>while (l_index &lt; len(list)):</a:t>
            </a:r>
          </a:p>
          <a:p>
            <a:pPr marL="1827530" lvl="4" indent="0">
              <a:buNone/>
            </a:pPr>
            <a:r>
              <a:rPr lang="en-US" altLang="en-US">
                <a:latin typeface="Courier New"/>
                <a:cs typeface="Courier New"/>
              </a:rPr>
              <a:t>     # do something with list</a:t>
            </a:r>
          </a:p>
          <a:p>
            <a:pPr marL="1827530" lvl="4" indent="0">
              <a:buNone/>
            </a:pPr>
            <a:r>
              <a:rPr lang="en-US" altLang="en-US">
                <a:latin typeface="Courier New"/>
                <a:cs typeface="Courier New"/>
              </a:rPr>
              <a:t>     </a:t>
            </a:r>
            <a:r>
              <a:rPr lang="en-US" altLang="en-US" err="1">
                <a:latin typeface="Courier New"/>
                <a:cs typeface="Courier New"/>
              </a:rPr>
              <a:t>l_index</a:t>
            </a:r>
            <a:r>
              <a:rPr lang="en-US" altLang="en-US">
                <a:latin typeface="Courier New"/>
                <a:cs typeface="Courier New"/>
              </a:rPr>
              <a:t> += 1</a:t>
            </a:r>
            <a:endParaRPr lang="en-US"/>
          </a:p>
        </p:txBody>
      </p:sp>
    </p:spTree>
    <p:extLst>
      <p:ext uri="{BB962C8B-B14F-4D97-AF65-F5344CB8AC3E}">
        <p14:creationId xmlns:p14="http://schemas.microsoft.com/office/powerpoint/2010/main" val="412489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2126-0280-4A82-8F70-B9A3FF53BD0A}"/>
              </a:ext>
            </a:extLst>
          </p:cNvPr>
          <p:cNvSpPr>
            <a:spLocks noGrp="1"/>
          </p:cNvSpPr>
          <p:nvPr>
            <p:ph type="title"/>
          </p:nvPr>
        </p:nvSpPr>
        <p:spPr/>
        <p:txBody>
          <a:bodyPr/>
          <a:lstStyle/>
          <a:p>
            <a:r>
              <a:rPr lang="en-US" altLang="en-US" dirty="0"/>
              <a:t>Processing Lists </a:t>
            </a:r>
            <a:r>
              <a:rPr lang="en-US" altLang="en-US" sz="2000" b="0" dirty="0"/>
              <a:t>(2 of 2)</a:t>
            </a:r>
            <a:endParaRPr lang="en-US" dirty="0"/>
          </a:p>
        </p:txBody>
      </p:sp>
      <p:sp>
        <p:nvSpPr>
          <p:cNvPr id="3" name="Content Placeholder 2">
            <a:extLst>
              <a:ext uri="{FF2B5EF4-FFF2-40B4-BE49-F238E27FC236}">
                <a16:creationId xmlns:a16="http://schemas.microsoft.com/office/drawing/2014/main" id="{4A66D817-07F6-4A51-972C-2FDDB016B425}"/>
              </a:ext>
            </a:extLst>
          </p:cNvPr>
          <p:cNvSpPr>
            <a:spLocks noGrp="1"/>
          </p:cNvSpPr>
          <p:nvPr>
            <p:ph sz="quarter" idx="13"/>
          </p:nvPr>
        </p:nvSpPr>
        <p:spPr>
          <a:xfrm>
            <a:off x="457200" y="1556326"/>
            <a:ext cx="8229600" cy="3691535"/>
          </a:xfrm>
        </p:spPr>
        <p:txBody>
          <a:bodyPr/>
          <a:lstStyle/>
          <a:p>
            <a:r>
              <a:rPr lang="en-US" altLang="en-US" b="1" dirty="0">
                <a:cs typeface="Courier New" panose="02070309020205020404" pitchFamily="49" charset="0"/>
              </a:rPr>
              <a:t>A function can return a reference to a list</a:t>
            </a:r>
          </a:p>
          <a:p>
            <a:r>
              <a:rPr lang="en-US" altLang="en-US" b="1" dirty="0">
                <a:cs typeface="Courier New" panose="02070309020205020404" pitchFamily="49" charset="0"/>
              </a:rPr>
              <a:t>To save the contents of a list to a file:</a:t>
            </a:r>
          </a:p>
          <a:p>
            <a:pPr lvl="1"/>
            <a:r>
              <a:rPr lang="en-US" altLang="en-US" dirty="0">
                <a:cs typeface="Courier New" panose="02070309020205020404" pitchFamily="49" charset="0"/>
              </a:rPr>
              <a:t>Use the file object’s </a:t>
            </a:r>
            <a:r>
              <a:rPr lang="en-US" altLang="en-US" dirty="0" err="1">
                <a:latin typeface="Courier New" panose="02070309020205020404" pitchFamily="49" charset="0"/>
                <a:cs typeface="Courier New" panose="02070309020205020404" pitchFamily="49" charset="0"/>
              </a:rPr>
              <a:t>writelines</a:t>
            </a:r>
            <a:r>
              <a:rPr lang="en-US" altLang="en-US" dirty="0">
                <a:cs typeface="Courier New" panose="02070309020205020404" pitchFamily="49" charset="0"/>
              </a:rPr>
              <a:t> method</a:t>
            </a:r>
          </a:p>
          <a:p>
            <a:pPr lvl="2"/>
            <a:r>
              <a:rPr lang="en-US" altLang="en-US" dirty="0">
                <a:cs typeface="Courier New" panose="02070309020205020404" pitchFamily="49" charset="0"/>
              </a:rPr>
              <a:t>Does not automatically write </a:t>
            </a:r>
            <a:r>
              <a:rPr lang="en-US" altLang="en-US" dirty="0">
                <a:latin typeface="Courier New" panose="02070309020205020404" pitchFamily="49" charset="0"/>
                <a:cs typeface="Courier New" panose="02070309020205020404" pitchFamily="49" charset="0"/>
              </a:rPr>
              <a:t>\n</a:t>
            </a:r>
            <a:r>
              <a:rPr lang="en-US" altLang="en-US" dirty="0">
                <a:cs typeface="Courier New" panose="02070309020205020404" pitchFamily="49" charset="0"/>
              </a:rPr>
              <a:t> at then end of each item</a:t>
            </a:r>
          </a:p>
          <a:p>
            <a:pPr lvl="1"/>
            <a:r>
              <a:rPr lang="en-US" altLang="en-US" dirty="0">
                <a:cs typeface="Courier New" panose="02070309020205020404" pitchFamily="49" charset="0"/>
              </a:rPr>
              <a:t>Use a </a:t>
            </a:r>
            <a:r>
              <a:rPr lang="en-US" altLang="en-US" dirty="0">
                <a:latin typeface="Courier New" panose="02070309020205020404" pitchFamily="49" charset="0"/>
                <a:cs typeface="Courier New" panose="02070309020205020404" pitchFamily="49" charset="0"/>
              </a:rPr>
              <a:t>for</a:t>
            </a:r>
            <a:r>
              <a:rPr lang="en-US" altLang="en-US" dirty="0">
                <a:cs typeface="Courier New" panose="02070309020205020404" pitchFamily="49" charset="0"/>
              </a:rPr>
              <a:t> loop to write each element and </a:t>
            </a:r>
            <a:r>
              <a:rPr lang="en-US" altLang="en-US" dirty="0">
                <a:latin typeface="Courier New" panose="02070309020205020404" pitchFamily="49" charset="0"/>
                <a:cs typeface="Courier New" panose="02070309020205020404" pitchFamily="49" charset="0"/>
              </a:rPr>
              <a:t>\n</a:t>
            </a:r>
          </a:p>
          <a:p>
            <a:r>
              <a:rPr lang="en-US" altLang="en-US" b="1" dirty="0">
                <a:cs typeface="Courier New" panose="02070309020205020404" pitchFamily="49" charset="0"/>
              </a:rPr>
              <a:t>To read data from a file use the file object’s </a:t>
            </a:r>
            <a:r>
              <a:rPr lang="en-US" altLang="en-US" b="1" dirty="0" err="1">
                <a:latin typeface="Courier New" panose="02070309020205020404" pitchFamily="49" charset="0"/>
                <a:cs typeface="Courier New" panose="02070309020205020404" pitchFamily="49" charset="0"/>
              </a:rPr>
              <a:t>readlines</a:t>
            </a:r>
            <a:r>
              <a:rPr lang="en-US" altLang="en-US" b="1" dirty="0">
                <a:latin typeface="Courier New" panose="02070309020205020404" pitchFamily="49" charset="0"/>
                <a:cs typeface="Courier New" panose="02070309020205020404" pitchFamily="49" charset="0"/>
              </a:rPr>
              <a:t> </a:t>
            </a:r>
            <a:r>
              <a:rPr lang="en-US" altLang="en-US" b="1" dirty="0">
                <a:cs typeface="Courier New" panose="02070309020205020404" pitchFamily="49" charset="0"/>
              </a:rPr>
              <a:t>method</a:t>
            </a:r>
            <a:endParaRPr lang="he-IL" altLang="en-US" b="1" dirty="0">
              <a:cs typeface="Courier New" panose="02070309020205020404" pitchFamily="49" charset="0"/>
            </a:endParaRPr>
          </a:p>
        </p:txBody>
      </p:sp>
    </p:spTree>
    <p:extLst>
      <p:ext uri="{BB962C8B-B14F-4D97-AF65-F5344CB8AC3E}">
        <p14:creationId xmlns:p14="http://schemas.microsoft.com/office/powerpoint/2010/main" val="124325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375DA2-CA41-DC94-F7B9-B1822EF72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1EA7F-7A47-BA56-BB45-376918F34302}"/>
              </a:ext>
            </a:extLst>
          </p:cNvPr>
          <p:cNvSpPr>
            <a:spLocks noGrp="1"/>
          </p:cNvSpPr>
          <p:nvPr>
            <p:ph type="title"/>
          </p:nvPr>
        </p:nvSpPr>
        <p:spPr/>
        <p:txBody>
          <a:bodyPr/>
          <a:lstStyle/>
          <a:p>
            <a:r>
              <a:rPr lang="en-US" altLang="en-US" sz="3200" dirty="0"/>
              <a:t>The Repetition Operator</a:t>
            </a:r>
          </a:p>
        </p:txBody>
      </p:sp>
      <p:sp>
        <p:nvSpPr>
          <p:cNvPr id="3" name="Content Placeholder 2">
            <a:extLst>
              <a:ext uri="{FF2B5EF4-FFF2-40B4-BE49-F238E27FC236}">
                <a16:creationId xmlns:a16="http://schemas.microsoft.com/office/drawing/2014/main" id="{E729EBC8-0E0D-90F0-8103-AE99A5AAE916}"/>
              </a:ext>
            </a:extLst>
          </p:cNvPr>
          <p:cNvSpPr>
            <a:spLocks noGrp="1"/>
          </p:cNvSpPr>
          <p:nvPr>
            <p:ph sz="quarter" idx="13"/>
          </p:nvPr>
        </p:nvSpPr>
        <p:spPr>
          <a:xfrm>
            <a:off x="457200" y="1556326"/>
            <a:ext cx="8229600" cy="3625273"/>
          </a:xfrm>
        </p:spPr>
        <p:txBody>
          <a:bodyPr/>
          <a:lstStyle/>
          <a:p>
            <a:pPr marL="255905" indent="-255270"/>
            <a:r>
              <a:rPr lang="en-US" altLang="en-US" b="1" dirty="0"/>
              <a:t>Repetition operator: makes multiple copies of a list and joins them together</a:t>
            </a:r>
            <a:endParaRPr lang="en-US"/>
          </a:p>
          <a:p>
            <a:pPr lvl="1" indent="-283845"/>
            <a:r>
              <a:rPr lang="en-US" altLang="en-US" dirty="0"/>
              <a:t>The </a:t>
            </a:r>
            <a:r>
              <a:rPr lang="en-US" altLang="en-US" b="1" dirty="0">
                <a:latin typeface="Courier New" panose="02070309020205020404" pitchFamily="49" charset="0"/>
                <a:cs typeface="Courier New" panose="02070309020205020404" pitchFamily="49" charset="0"/>
              </a:rPr>
              <a:t>*</a:t>
            </a:r>
            <a:r>
              <a:rPr lang="en-US" altLang="en-US" dirty="0"/>
              <a:t> symbol is a repetition operator when applied to a sequence and an integer</a:t>
            </a:r>
          </a:p>
          <a:p>
            <a:pPr lvl="2" indent="-229870"/>
            <a:r>
              <a:rPr lang="en-US" altLang="en-US" dirty="0"/>
              <a:t>Sequence is left operand, number is right</a:t>
            </a:r>
          </a:p>
          <a:p>
            <a:pPr lvl="1" indent="-283845"/>
            <a:r>
              <a:rPr lang="en-US" altLang="en-US" dirty="0"/>
              <a:t>General format: </a:t>
            </a:r>
            <a:r>
              <a:rPr lang="en-US" altLang="en-US" i="1" dirty="0">
                <a:latin typeface="Courier New" panose="02070309020205020404" pitchFamily="49" charset="0"/>
                <a:cs typeface="Courier New" panose="02070309020205020404" pitchFamily="49" charset="0"/>
              </a:rPr>
              <a:t>list</a:t>
            </a:r>
            <a:r>
              <a:rPr lang="en-US" altLang="en-US" dirty="0">
                <a:latin typeface="Courier New" panose="02070309020205020404" pitchFamily="49" charset="0"/>
                <a:cs typeface="Courier New" panose="02070309020205020404" pitchFamily="49" charset="0"/>
              </a:rPr>
              <a:t> * </a:t>
            </a:r>
            <a:r>
              <a:rPr lang="en-US" altLang="en-US" i="1" dirty="0">
                <a:latin typeface="Courier New" panose="02070309020205020404" pitchFamily="49" charset="0"/>
                <a:cs typeface="Courier New" panose="02070309020205020404" pitchFamily="49" charset="0"/>
              </a:rPr>
              <a:t>n</a:t>
            </a:r>
          </a:p>
          <a:p>
            <a:pPr marL="635" indent="0">
              <a:buNone/>
            </a:pPr>
            <a:endParaRPr lang="en-US" altLang="en-US" dirty="0">
              <a:latin typeface="Arial"/>
              <a:cs typeface="Courier New" panose="02070309020205020404" pitchFamily="49" charset="0"/>
            </a:endParaRPr>
          </a:p>
        </p:txBody>
      </p:sp>
    </p:spTree>
    <p:extLst>
      <p:ext uri="{BB962C8B-B14F-4D97-AF65-F5344CB8AC3E}">
        <p14:creationId xmlns:p14="http://schemas.microsoft.com/office/powerpoint/2010/main" val="1204928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8396C-4BA9-4A90-8F10-4E53DF7206BE}"/>
              </a:ext>
            </a:extLst>
          </p:cNvPr>
          <p:cNvSpPr>
            <a:spLocks noGrp="1"/>
          </p:cNvSpPr>
          <p:nvPr>
            <p:ph type="title"/>
          </p:nvPr>
        </p:nvSpPr>
        <p:spPr/>
        <p:txBody>
          <a:bodyPr/>
          <a:lstStyle/>
          <a:p>
            <a:r>
              <a:rPr lang="en-US" altLang="en-US" dirty="0"/>
              <a:t>List Comprehensions </a:t>
            </a:r>
            <a:r>
              <a:rPr lang="en-US" altLang="en-US" sz="2000" b="0" dirty="0"/>
              <a:t>(1 of 7)</a:t>
            </a:r>
            <a:endParaRPr lang="en-US" sz="2000" b="0" dirty="0"/>
          </a:p>
        </p:txBody>
      </p:sp>
      <p:sp>
        <p:nvSpPr>
          <p:cNvPr id="3" name="Content Placeholder 2">
            <a:extLst>
              <a:ext uri="{FF2B5EF4-FFF2-40B4-BE49-F238E27FC236}">
                <a16:creationId xmlns:a16="http://schemas.microsoft.com/office/drawing/2014/main" id="{DD11A170-2FA9-476D-9A8D-E64F6D35796E}"/>
              </a:ext>
            </a:extLst>
          </p:cNvPr>
          <p:cNvSpPr>
            <a:spLocks noGrp="1"/>
          </p:cNvSpPr>
          <p:nvPr>
            <p:ph sz="quarter" idx="13"/>
          </p:nvPr>
        </p:nvSpPr>
        <p:spPr>
          <a:xfrm>
            <a:off x="457200" y="1556327"/>
            <a:ext cx="8229600" cy="908577"/>
          </a:xfrm>
        </p:spPr>
        <p:txBody>
          <a:bodyPr/>
          <a:lstStyle/>
          <a:p>
            <a:r>
              <a:rPr lang="en-US" altLang="en-US" dirty="0"/>
              <a:t>List comprehension: a concise expression that creates a new list by iterating over the elements of an existing list.</a:t>
            </a:r>
          </a:p>
        </p:txBody>
      </p:sp>
    </p:spTree>
    <p:extLst>
      <p:ext uri="{BB962C8B-B14F-4D97-AF65-F5344CB8AC3E}">
        <p14:creationId xmlns:p14="http://schemas.microsoft.com/office/powerpoint/2010/main" val="2410681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538FD9-2D2E-40CB-B5B9-790B30D1F674}"/>
              </a:ext>
            </a:extLst>
          </p:cNvPr>
          <p:cNvSpPr>
            <a:spLocks noGrp="1"/>
          </p:cNvSpPr>
          <p:nvPr>
            <p:ph type="title"/>
          </p:nvPr>
        </p:nvSpPr>
        <p:spPr/>
        <p:txBody>
          <a:bodyPr/>
          <a:lstStyle/>
          <a:p>
            <a:r>
              <a:rPr lang="en-US" altLang="en-US" dirty="0"/>
              <a:t>List Comprehensions </a:t>
            </a:r>
            <a:r>
              <a:rPr lang="en-US" altLang="en-US" sz="2000" b="0" dirty="0"/>
              <a:t>(2 of 7)</a:t>
            </a:r>
            <a:endParaRPr lang="en-US" dirty="0"/>
          </a:p>
        </p:txBody>
      </p:sp>
      <p:sp>
        <p:nvSpPr>
          <p:cNvPr id="5" name="Content Placeholder 4">
            <a:extLst>
              <a:ext uri="{FF2B5EF4-FFF2-40B4-BE49-F238E27FC236}">
                <a16:creationId xmlns:a16="http://schemas.microsoft.com/office/drawing/2014/main" id="{821273D7-7E64-4682-BA62-4AF29CEB0C7D}"/>
              </a:ext>
            </a:extLst>
          </p:cNvPr>
          <p:cNvSpPr>
            <a:spLocks noGrp="1"/>
          </p:cNvSpPr>
          <p:nvPr>
            <p:ph sz="quarter" idx="13"/>
          </p:nvPr>
        </p:nvSpPr>
        <p:spPr>
          <a:xfrm>
            <a:off x="457200" y="1552575"/>
            <a:ext cx="8232128" cy="435251"/>
          </a:xfrm>
        </p:spPr>
        <p:txBody>
          <a:bodyPr/>
          <a:lstStyle/>
          <a:p>
            <a:r>
              <a:rPr lang="en-US" altLang="en-US" sz="2000" b="1" dirty="0"/>
              <a:t>The following code uses a </a:t>
            </a:r>
            <a:r>
              <a:rPr lang="en-US" altLang="en-US" sz="2000" b="1" dirty="0">
                <a:latin typeface="Courier New" panose="02070309020205020404" pitchFamily="49" charset="0"/>
                <a:cs typeface="Courier New" panose="02070309020205020404" pitchFamily="49" charset="0"/>
              </a:rPr>
              <a:t>for</a:t>
            </a:r>
            <a:r>
              <a:rPr lang="en-US" altLang="en-US" sz="2000" b="1" dirty="0"/>
              <a:t> loop to make a copy of a list:</a:t>
            </a:r>
          </a:p>
        </p:txBody>
      </p:sp>
      <p:sp>
        <p:nvSpPr>
          <p:cNvPr id="6" name="Content Placeholder 5">
            <a:extLst>
              <a:ext uri="{FF2B5EF4-FFF2-40B4-BE49-F238E27FC236}">
                <a16:creationId xmlns:a16="http://schemas.microsoft.com/office/drawing/2014/main" id="{AA57367B-A958-4008-8529-9510A10225D1}"/>
              </a:ext>
            </a:extLst>
          </p:cNvPr>
          <p:cNvSpPr>
            <a:spLocks noGrp="1"/>
          </p:cNvSpPr>
          <p:nvPr>
            <p:ph sz="quarter" idx="14"/>
          </p:nvPr>
        </p:nvSpPr>
        <p:spPr>
          <a:xfrm>
            <a:off x="2673004" y="2227750"/>
            <a:ext cx="3797991" cy="1726717"/>
          </a:xfrm>
        </p:spPr>
        <p:txBody>
          <a:bodyPr/>
          <a:lstStyle/>
          <a:p>
            <a:pPr>
              <a:spcBef>
                <a:spcPct val="0"/>
              </a:spcBef>
              <a:buFontTx/>
              <a:buNone/>
            </a:pPr>
            <a:r>
              <a:rPr lang="en-US" altLang="en-US" sz="2000" dirty="0">
                <a:latin typeface="Courier New" panose="02070309020205020404" pitchFamily="49" charset="0"/>
                <a:cs typeface="Courier New" panose="02070309020205020404" pitchFamily="49" charset="0"/>
              </a:rPr>
              <a:t>list1 = [1, 2, 3, 4]</a:t>
            </a:r>
          </a:p>
          <a:p>
            <a:pPr>
              <a:spcBef>
                <a:spcPct val="0"/>
              </a:spcBef>
              <a:buFontTx/>
              <a:buNone/>
            </a:pPr>
            <a:r>
              <a:rPr lang="en-US" altLang="en-US" sz="2000" dirty="0">
                <a:latin typeface="Courier New" panose="02070309020205020404" pitchFamily="49" charset="0"/>
                <a:cs typeface="Courier New" panose="02070309020205020404" pitchFamily="49" charset="0"/>
              </a:rPr>
              <a:t>list2 = []</a:t>
            </a:r>
          </a:p>
          <a:p>
            <a:pPr>
              <a:spcBef>
                <a:spcPct val="0"/>
              </a:spcBef>
              <a:buFontTx/>
              <a:buNone/>
            </a:pPr>
            <a:r>
              <a:rPr lang="en-US" altLang="en-US" sz="2000" dirty="0">
                <a:latin typeface="Courier New" panose="02070309020205020404" pitchFamily="49" charset="0"/>
                <a:cs typeface="Courier New" panose="02070309020205020404" pitchFamily="49" charset="0"/>
              </a:rPr>
              <a:t> </a:t>
            </a:r>
          </a:p>
          <a:p>
            <a:pPr>
              <a:spcBef>
                <a:spcPct val="0"/>
              </a:spcBef>
              <a:buFontTx/>
              <a:buNone/>
            </a:pPr>
            <a:r>
              <a:rPr lang="en-US" altLang="en-US" sz="2000" dirty="0">
                <a:latin typeface="Courier New" panose="02070309020205020404" pitchFamily="49" charset="0"/>
                <a:cs typeface="Courier New" panose="02070309020205020404" pitchFamily="49" charset="0"/>
              </a:rPr>
              <a:t>for item in list1:</a:t>
            </a:r>
          </a:p>
          <a:p>
            <a:pPr>
              <a:spcBef>
                <a:spcPct val="0"/>
              </a:spcBef>
              <a:buFontTx/>
              <a:buNone/>
            </a:pPr>
            <a:r>
              <a:rPr lang="en-US" altLang="en-US" sz="2000" dirty="0">
                <a:latin typeface="Courier New" panose="02070309020205020404" pitchFamily="49" charset="0"/>
                <a:cs typeface="Courier New" panose="02070309020205020404" pitchFamily="49" charset="0"/>
              </a:rPr>
              <a:t>    list2.append(item)</a:t>
            </a:r>
          </a:p>
        </p:txBody>
      </p:sp>
      <p:sp>
        <p:nvSpPr>
          <p:cNvPr id="7" name="Content Placeholder 6">
            <a:extLst>
              <a:ext uri="{FF2B5EF4-FFF2-40B4-BE49-F238E27FC236}">
                <a16:creationId xmlns:a16="http://schemas.microsoft.com/office/drawing/2014/main" id="{FD230916-86DC-442B-94BF-CEB52A2088C6}"/>
              </a:ext>
            </a:extLst>
          </p:cNvPr>
          <p:cNvSpPr>
            <a:spLocks noGrp="1"/>
          </p:cNvSpPr>
          <p:nvPr>
            <p:ph sz="quarter" idx="15"/>
          </p:nvPr>
        </p:nvSpPr>
        <p:spPr>
          <a:xfrm>
            <a:off x="468312" y="4194391"/>
            <a:ext cx="8215959" cy="756000"/>
          </a:xfrm>
        </p:spPr>
        <p:txBody>
          <a:bodyPr/>
          <a:lstStyle/>
          <a:p>
            <a:r>
              <a:rPr lang="en-US" altLang="en-US" sz="2000" b="1" dirty="0"/>
              <a:t>The following code uses a list comprehension to make a copy of a list:</a:t>
            </a:r>
          </a:p>
        </p:txBody>
      </p:sp>
      <p:sp>
        <p:nvSpPr>
          <p:cNvPr id="8" name="Content Placeholder 7">
            <a:extLst>
              <a:ext uri="{FF2B5EF4-FFF2-40B4-BE49-F238E27FC236}">
                <a16:creationId xmlns:a16="http://schemas.microsoft.com/office/drawing/2014/main" id="{AEB9BB41-E11F-48C3-AD39-2CD99261F79E}"/>
              </a:ext>
            </a:extLst>
          </p:cNvPr>
          <p:cNvSpPr>
            <a:spLocks noGrp="1"/>
          </p:cNvSpPr>
          <p:nvPr>
            <p:ph sz="quarter" idx="16"/>
          </p:nvPr>
        </p:nvSpPr>
        <p:spPr>
          <a:xfrm>
            <a:off x="1961999" y="5305425"/>
            <a:ext cx="5220000" cy="792000"/>
          </a:xfrm>
        </p:spPr>
        <p:txBody>
          <a:bodyPr/>
          <a:lstStyle/>
          <a:p>
            <a:pPr>
              <a:spcBef>
                <a:spcPct val="0"/>
              </a:spcBef>
              <a:buFontTx/>
              <a:buNone/>
            </a:pPr>
            <a:r>
              <a:rPr lang="en-US" altLang="en-US" sz="2000" dirty="0">
                <a:latin typeface="Courier New" panose="02070309020205020404" pitchFamily="49" charset="0"/>
                <a:cs typeface="Courier New" panose="02070309020205020404" pitchFamily="49" charset="0"/>
              </a:rPr>
              <a:t>list1 = [1, 2, 3, 4]</a:t>
            </a:r>
          </a:p>
          <a:p>
            <a:pPr>
              <a:spcBef>
                <a:spcPct val="0"/>
              </a:spcBef>
              <a:buFontTx/>
              <a:buNone/>
            </a:pPr>
            <a:r>
              <a:rPr lang="en-US" altLang="en-US" sz="2000" dirty="0">
                <a:latin typeface="Courier New" panose="02070309020205020404" pitchFamily="49" charset="0"/>
                <a:cs typeface="Courier New" panose="02070309020205020404" pitchFamily="49" charset="0"/>
              </a:rPr>
              <a:t>list2 = [item for item in list1]</a:t>
            </a:r>
          </a:p>
        </p:txBody>
      </p:sp>
    </p:spTree>
    <p:extLst>
      <p:ext uri="{BB962C8B-B14F-4D97-AF65-F5344CB8AC3E}">
        <p14:creationId xmlns:p14="http://schemas.microsoft.com/office/powerpoint/2010/main" val="296409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F48EAD-86FD-4A1A-9E0B-BA409FA169D3}"/>
              </a:ext>
            </a:extLst>
          </p:cNvPr>
          <p:cNvSpPr>
            <a:spLocks noGrp="1"/>
          </p:cNvSpPr>
          <p:nvPr>
            <p:ph type="title"/>
          </p:nvPr>
        </p:nvSpPr>
        <p:spPr/>
        <p:txBody>
          <a:bodyPr/>
          <a:lstStyle/>
          <a:p>
            <a:r>
              <a:rPr lang="en-US" altLang="en-US" dirty="0"/>
              <a:t>List Comprehensions </a:t>
            </a:r>
            <a:r>
              <a:rPr lang="en-US" altLang="en-US" sz="2000" b="0" dirty="0"/>
              <a:t>(3 of 7)</a:t>
            </a:r>
            <a:endParaRPr lang="en-US" dirty="0"/>
          </a:p>
        </p:txBody>
      </p:sp>
      <p:pic>
        <p:nvPicPr>
          <p:cNvPr id="11" name="Content Placeholder 10" descr="list 2 equals left bracket item for item in list 1 right bracket. The result expression is the first part of the expression, item, and the iteration expression is the latter part, for item in list 1.">
            <a:extLst>
              <a:ext uri="{FF2B5EF4-FFF2-40B4-BE49-F238E27FC236}">
                <a16:creationId xmlns:a16="http://schemas.microsoft.com/office/drawing/2014/main" id="{FAEB4219-29A4-4148-8499-802883A31BFC}"/>
              </a:ext>
            </a:extLst>
          </p:cNvPr>
          <p:cNvPicPr>
            <a:picLocks noGrp="1" noChangeAspect="1"/>
          </p:cNvPicPr>
          <p:nvPr>
            <p:ph sz="quarter" idx="13"/>
          </p:nvPr>
        </p:nvPicPr>
        <p:blipFill>
          <a:blip r:embed="rId2"/>
          <a:stretch>
            <a:fillRect/>
          </a:stretch>
        </p:blipFill>
        <p:spPr>
          <a:xfrm>
            <a:off x="2057049" y="1962021"/>
            <a:ext cx="5029902" cy="924054"/>
          </a:xfrm>
        </p:spPr>
      </p:pic>
      <p:sp>
        <p:nvSpPr>
          <p:cNvPr id="9" name="Content Placeholder 8">
            <a:extLst>
              <a:ext uri="{FF2B5EF4-FFF2-40B4-BE49-F238E27FC236}">
                <a16:creationId xmlns:a16="http://schemas.microsoft.com/office/drawing/2014/main" id="{A37A7AD1-727F-4339-AE5B-F1D8F30832AF}"/>
              </a:ext>
            </a:extLst>
          </p:cNvPr>
          <p:cNvSpPr>
            <a:spLocks noGrp="1"/>
          </p:cNvSpPr>
          <p:nvPr>
            <p:ph sz="quarter" idx="14"/>
          </p:nvPr>
        </p:nvSpPr>
        <p:spPr>
          <a:xfrm>
            <a:off x="457200" y="3061253"/>
            <a:ext cx="8229600" cy="3015698"/>
          </a:xfrm>
        </p:spPr>
        <p:txBody>
          <a:bodyPr/>
          <a:lstStyle/>
          <a:p>
            <a:r>
              <a:rPr lang="en-US" altLang="en-US" dirty="0"/>
              <a:t>The iteration expression works like a </a:t>
            </a:r>
            <a:r>
              <a:rPr lang="en-US" altLang="en-US" dirty="0">
                <a:latin typeface="Courier New" panose="02070309020205020404" pitchFamily="49" charset="0"/>
                <a:cs typeface="Courier New" panose="02070309020205020404" pitchFamily="49" charset="0"/>
              </a:rPr>
              <a:t>for</a:t>
            </a:r>
            <a:r>
              <a:rPr lang="en-US" altLang="en-US" dirty="0"/>
              <a:t> loop</a:t>
            </a:r>
          </a:p>
          <a:p>
            <a:r>
              <a:rPr lang="en-US" altLang="en-US" dirty="0"/>
              <a:t>In this example, it iterates over the elements of </a:t>
            </a:r>
            <a:r>
              <a:rPr lang="en-US" altLang="en-US" dirty="0">
                <a:latin typeface="Courier New" panose="02070309020205020404" pitchFamily="49" charset="0"/>
                <a:cs typeface="Courier New" panose="02070309020205020404" pitchFamily="49" charset="0"/>
              </a:rPr>
              <a:t>list1</a:t>
            </a:r>
          </a:p>
          <a:p>
            <a:r>
              <a:rPr lang="en-US" altLang="en-US" dirty="0"/>
              <a:t>Each time it iterates, the target variable </a:t>
            </a:r>
            <a:r>
              <a:rPr lang="en-US" altLang="en-US" dirty="0">
                <a:latin typeface="Courier New" panose="02070309020205020404" pitchFamily="49" charset="0"/>
                <a:cs typeface="Courier New" panose="02070309020205020404" pitchFamily="49" charset="0"/>
              </a:rPr>
              <a:t>item</a:t>
            </a:r>
            <a:r>
              <a:rPr lang="en-US" altLang="en-US" dirty="0"/>
              <a:t> is assigned the value of an element. </a:t>
            </a:r>
          </a:p>
          <a:p>
            <a:r>
              <a:rPr lang="en-US" altLang="en-US" dirty="0"/>
              <a:t>At the end of each iteration, the value of the result expression is appended to the new list. </a:t>
            </a:r>
          </a:p>
        </p:txBody>
      </p:sp>
    </p:spTree>
    <p:extLst>
      <p:ext uri="{BB962C8B-B14F-4D97-AF65-F5344CB8AC3E}">
        <p14:creationId xmlns:p14="http://schemas.microsoft.com/office/powerpoint/2010/main" val="204389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CB39-F6AC-421B-92F4-225E5A0E9C0F}"/>
              </a:ext>
            </a:extLst>
          </p:cNvPr>
          <p:cNvSpPr>
            <a:spLocks noGrp="1"/>
          </p:cNvSpPr>
          <p:nvPr>
            <p:ph type="title"/>
          </p:nvPr>
        </p:nvSpPr>
        <p:spPr/>
        <p:txBody>
          <a:bodyPr/>
          <a:lstStyle/>
          <a:p>
            <a:r>
              <a:rPr lang="en-US" altLang="en-US" dirty="0"/>
              <a:t>List Comprehensions </a:t>
            </a:r>
            <a:r>
              <a:rPr lang="en-US" altLang="en-US" sz="2000" b="0" dirty="0"/>
              <a:t>(4 of 7)</a:t>
            </a:r>
            <a:endParaRPr lang="en-US" dirty="0"/>
          </a:p>
        </p:txBody>
      </p:sp>
      <p:sp>
        <p:nvSpPr>
          <p:cNvPr id="3" name="Content Placeholder 2">
            <a:extLst>
              <a:ext uri="{FF2B5EF4-FFF2-40B4-BE49-F238E27FC236}">
                <a16:creationId xmlns:a16="http://schemas.microsoft.com/office/drawing/2014/main" id="{706F7180-AC36-4B9F-BF22-91221E4B5758}"/>
              </a:ext>
            </a:extLst>
          </p:cNvPr>
          <p:cNvSpPr>
            <a:spLocks noGrp="1"/>
          </p:cNvSpPr>
          <p:nvPr>
            <p:ph sz="quarter" idx="13"/>
          </p:nvPr>
        </p:nvSpPr>
        <p:spPr>
          <a:xfrm>
            <a:off x="1106558" y="1556327"/>
            <a:ext cx="6858000" cy="908577"/>
          </a:xfrm>
        </p:spPr>
        <p:txBody>
          <a:bodyPr/>
          <a:lstStyle/>
          <a:p>
            <a:pPr>
              <a:spcBef>
                <a:spcPct val="0"/>
              </a:spcBef>
              <a:buFontTx/>
              <a:buNone/>
            </a:pPr>
            <a:r>
              <a:rPr lang="en-US" altLang="en-US" dirty="0">
                <a:latin typeface="Courier New" panose="02070309020205020404" pitchFamily="49" charset="0"/>
                <a:cs typeface="Courier New" panose="02070309020205020404" pitchFamily="49" charset="0"/>
              </a:rPr>
              <a:t>list1 = [1, 2, 3, 4]</a:t>
            </a:r>
          </a:p>
          <a:p>
            <a:pPr>
              <a:spcBef>
                <a:spcPct val="0"/>
              </a:spcBef>
              <a:buFontTx/>
              <a:buNone/>
            </a:pPr>
            <a:r>
              <a:rPr lang="en-US" altLang="en-US" dirty="0">
                <a:latin typeface="Courier New" panose="02070309020205020404" pitchFamily="49" charset="0"/>
                <a:cs typeface="Courier New" panose="02070309020205020404" pitchFamily="49" charset="0"/>
              </a:rPr>
              <a:t>list2 = [item**2 for item in list1]</a:t>
            </a:r>
          </a:p>
        </p:txBody>
      </p:sp>
      <p:sp>
        <p:nvSpPr>
          <p:cNvPr id="4" name="Content Placeholder 3">
            <a:extLst>
              <a:ext uri="{FF2B5EF4-FFF2-40B4-BE49-F238E27FC236}">
                <a16:creationId xmlns:a16="http://schemas.microsoft.com/office/drawing/2014/main" id="{22975E43-80B1-4F55-B71D-266A389B9040}"/>
              </a:ext>
            </a:extLst>
          </p:cNvPr>
          <p:cNvSpPr>
            <a:spLocks noGrp="1"/>
          </p:cNvSpPr>
          <p:nvPr>
            <p:ph sz="quarter" idx="14"/>
          </p:nvPr>
        </p:nvSpPr>
        <p:spPr>
          <a:xfrm>
            <a:off x="457200" y="2708582"/>
            <a:ext cx="8229600" cy="908578"/>
          </a:xfrm>
        </p:spPr>
        <p:txBody>
          <a:bodyPr/>
          <a:lstStyle/>
          <a:p>
            <a:r>
              <a:rPr lang="en-US" altLang="en-US" dirty="0"/>
              <a:t>After this code executes, </a:t>
            </a:r>
            <a:r>
              <a:rPr lang="en-US" altLang="en-US" dirty="0">
                <a:latin typeface="Courier New" panose="02070309020205020404" pitchFamily="49" charset="0"/>
                <a:cs typeface="Courier New" panose="02070309020205020404" pitchFamily="49" charset="0"/>
              </a:rPr>
              <a:t>list2</a:t>
            </a:r>
            <a:r>
              <a:rPr lang="en-US" altLang="en-US" dirty="0"/>
              <a:t> will contain the values </a:t>
            </a:r>
            <a:r>
              <a:rPr lang="en-US" altLang="en-US" dirty="0">
                <a:latin typeface="Courier New" panose="02070309020205020404" pitchFamily="49" charset="0"/>
                <a:cs typeface="Courier New" panose="02070309020205020404" pitchFamily="49" charset="0"/>
              </a:rPr>
              <a:t>[1, 4, 9, 16]</a:t>
            </a:r>
          </a:p>
        </p:txBody>
      </p:sp>
    </p:spTree>
    <p:extLst>
      <p:ext uri="{BB962C8B-B14F-4D97-AF65-F5344CB8AC3E}">
        <p14:creationId xmlns:p14="http://schemas.microsoft.com/office/powerpoint/2010/main" val="1705500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CB39-F6AC-421B-92F4-225E5A0E9C0F}"/>
              </a:ext>
            </a:extLst>
          </p:cNvPr>
          <p:cNvSpPr>
            <a:spLocks noGrp="1"/>
          </p:cNvSpPr>
          <p:nvPr>
            <p:ph type="title"/>
          </p:nvPr>
        </p:nvSpPr>
        <p:spPr/>
        <p:txBody>
          <a:bodyPr/>
          <a:lstStyle/>
          <a:p>
            <a:r>
              <a:rPr lang="en-US" altLang="en-US"/>
              <a:t>List Comprehensions </a:t>
            </a:r>
            <a:r>
              <a:rPr lang="en-US" altLang="en-US" sz="2000" b="0"/>
              <a:t>(5 of 7)</a:t>
            </a:r>
            <a:endParaRPr lang="en-US"/>
          </a:p>
        </p:txBody>
      </p:sp>
      <p:sp>
        <p:nvSpPr>
          <p:cNvPr id="3" name="Content Placeholder 2">
            <a:extLst>
              <a:ext uri="{FF2B5EF4-FFF2-40B4-BE49-F238E27FC236}">
                <a16:creationId xmlns:a16="http://schemas.microsoft.com/office/drawing/2014/main" id="{706F7180-AC36-4B9F-BF22-91221E4B5758}"/>
              </a:ext>
            </a:extLst>
          </p:cNvPr>
          <p:cNvSpPr>
            <a:spLocks noGrp="1"/>
          </p:cNvSpPr>
          <p:nvPr>
            <p:ph sz="quarter" idx="13"/>
          </p:nvPr>
        </p:nvSpPr>
        <p:spPr>
          <a:xfrm>
            <a:off x="675861" y="1556327"/>
            <a:ext cx="7606748" cy="908577"/>
          </a:xfrm>
        </p:spPr>
        <p:txBody>
          <a:bodyPr/>
          <a:lstStyle/>
          <a:p>
            <a:pPr>
              <a:spcBef>
                <a:spcPct val="0"/>
              </a:spcBef>
              <a:buFontTx/>
              <a:buNone/>
            </a:pPr>
            <a:r>
              <a:rPr lang="en-US" altLang="en-US">
                <a:latin typeface="Courier New" panose="02070309020205020404" pitchFamily="49" charset="0"/>
                <a:cs typeface="Courier New" panose="02070309020205020404" pitchFamily="49" charset="0"/>
              </a:rPr>
              <a:t>str_list = ['Winken', 'Blinken', 'Nod']</a:t>
            </a:r>
          </a:p>
          <a:p>
            <a:pPr>
              <a:spcBef>
                <a:spcPct val="0"/>
              </a:spcBef>
              <a:buFontTx/>
              <a:buNone/>
            </a:pPr>
            <a:r>
              <a:rPr lang="en-US" altLang="en-US">
                <a:latin typeface="Courier New" panose="02070309020205020404" pitchFamily="49" charset="0"/>
                <a:cs typeface="Courier New" panose="02070309020205020404" pitchFamily="49" charset="0"/>
              </a:rPr>
              <a:t>len_list = [len(s) for s in str_list]</a:t>
            </a:r>
          </a:p>
        </p:txBody>
      </p:sp>
      <p:sp>
        <p:nvSpPr>
          <p:cNvPr id="4" name="Content Placeholder 3">
            <a:extLst>
              <a:ext uri="{FF2B5EF4-FFF2-40B4-BE49-F238E27FC236}">
                <a16:creationId xmlns:a16="http://schemas.microsoft.com/office/drawing/2014/main" id="{22975E43-80B1-4F55-B71D-266A389B9040}"/>
              </a:ext>
            </a:extLst>
          </p:cNvPr>
          <p:cNvSpPr>
            <a:spLocks noGrp="1"/>
          </p:cNvSpPr>
          <p:nvPr>
            <p:ph sz="quarter" idx="14"/>
          </p:nvPr>
        </p:nvSpPr>
        <p:spPr>
          <a:xfrm>
            <a:off x="457200" y="2708582"/>
            <a:ext cx="8229600" cy="908578"/>
          </a:xfrm>
        </p:spPr>
        <p:txBody>
          <a:bodyPr/>
          <a:lstStyle/>
          <a:p>
            <a:pPr>
              <a:spcBef>
                <a:spcPct val="0"/>
              </a:spcBef>
            </a:pPr>
            <a:r>
              <a:rPr lang="en-US" altLang="en-US" dirty="0"/>
              <a:t>After this code executes, </a:t>
            </a:r>
            <a:r>
              <a:rPr lang="en-US" altLang="en-US" dirty="0" err="1">
                <a:latin typeface="Courier New" panose="02070309020205020404" pitchFamily="49" charset="0"/>
                <a:cs typeface="Courier New" panose="02070309020205020404" pitchFamily="49" charset="0"/>
              </a:rPr>
              <a:t>len_list</a:t>
            </a:r>
            <a:r>
              <a:rPr lang="en-US" altLang="en-US" dirty="0">
                <a:latin typeface="Consolas" panose="020B0609020204030204" pitchFamily="49" charset="0"/>
              </a:rPr>
              <a:t> </a:t>
            </a:r>
            <a:r>
              <a:rPr lang="en-US" altLang="en-US" dirty="0"/>
              <a:t>will contain the values [6, 7, 3]</a:t>
            </a:r>
            <a:endParaRPr lang="en-US" altLang="en-US" dirty="0">
              <a:latin typeface="Consolas" panose="020B0609020204030204" pitchFamily="49" charset="0"/>
            </a:endParaRPr>
          </a:p>
        </p:txBody>
      </p:sp>
    </p:spTree>
    <p:extLst>
      <p:ext uri="{BB962C8B-B14F-4D97-AF65-F5344CB8AC3E}">
        <p14:creationId xmlns:p14="http://schemas.microsoft.com/office/powerpoint/2010/main" val="3898749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538FD9-2D2E-40CB-B5B9-790B30D1F674}"/>
              </a:ext>
            </a:extLst>
          </p:cNvPr>
          <p:cNvSpPr>
            <a:spLocks noGrp="1"/>
          </p:cNvSpPr>
          <p:nvPr>
            <p:ph type="title"/>
          </p:nvPr>
        </p:nvSpPr>
        <p:spPr/>
        <p:txBody>
          <a:bodyPr/>
          <a:lstStyle/>
          <a:p>
            <a:r>
              <a:rPr lang="en-US" altLang="en-US" dirty="0"/>
              <a:t>List Comprehensions </a:t>
            </a:r>
            <a:r>
              <a:rPr lang="en-US" altLang="en-US" sz="2000" b="0" dirty="0"/>
              <a:t>(6 of 7)</a:t>
            </a:r>
            <a:endParaRPr lang="en-US" dirty="0"/>
          </a:p>
        </p:txBody>
      </p:sp>
      <p:sp>
        <p:nvSpPr>
          <p:cNvPr id="5" name="Content Placeholder 4">
            <a:extLst>
              <a:ext uri="{FF2B5EF4-FFF2-40B4-BE49-F238E27FC236}">
                <a16:creationId xmlns:a16="http://schemas.microsoft.com/office/drawing/2014/main" id="{821273D7-7E64-4682-BA62-4AF29CEB0C7D}"/>
              </a:ext>
            </a:extLst>
          </p:cNvPr>
          <p:cNvSpPr>
            <a:spLocks noGrp="1"/>
          </p:cNvSpPr>
          <p:nvPr>
            <p:ph sz="quarter" idx="13"/>
          </p:nvPr>
        </p:nvSpPr>
        <p:spPr>
          <a:xfrm>
            <a:off x="457200" y="1552575"/>
            <a:ext cx="8232128" cy="684000"/>
          </a:xfrm>
        </p:spPr>
        <p:txBody>
          <a:bodyPr/>
          <a:lstStyle/>
          <a:p>
            <a:r>
              <a:rPr lang="en-US" altLang="en-US" sz="1800" b="1" dirty="0"/>
              <a:t>You can use an </a:t>
            </a:r>
            <a:r>
              <a:rPr lang="en-US" altLang="en-US" sz="1800" b="1" dirty="0">
                <a:latin typeface="Courier New" panose="02070309020205020404" pitchFamily="49" charset="0"/>
                <a:cs typeface="Courier New" panose="02070309020205020404" pitchFamily="49" charset="0"/>
              </a:rPr>
              <a:t>if</a:t>
            </a:r>
            <a:r>
              <a:rPr lang="en-US" altLang="en-US" sz="1800" b="1" dirty="0"/>
              <a:t> clause in a list comprehension to select only certain elements when processing a list</a:t>
            </a:r>
          </a:p>
        </p:txBody>
      </p:sp>
      <p:sp>
        <p:nvSpPr>
          <p:cNvPr id="6" name="Content Placeholder 5">
            <a:extLst>
              <a:ext uri="{FF2B5EF4-FFF2-40B4-BE49-F238E27FC236}">
                <a16:creationId xmlns:a16="http://schemas.microsoft.com/office/drawing/2014/main" id="{AA57367B-A958-4008-8529-9510A10225D1}"/>
              </a:ext>
            </a:extLst>
          </p:cNvPr>
          <p:cNvSpPr>
            <a:spLocks noGrp="1"/>
          </p:cNvSpPr>
          <p:nvPr>
            <p:ph sz="quarter" idx="14"/>
          </p:nvPr>
        </p:nvSpPr>
        <p:spPr>
          <a:xfrm>
            <a:off x="1948069" y="2345635"/>
            <a:ext cx="5075581" cy="1800000"/>
          </a:xfrm>
        </p:spPr>
        <p:txBody>
          <a:bodyPr/>
          <a:lstStyle/>
          <a:p>
            <a:pPr>
              <a:spcBef>
                <a:spcPct val="0"/>
              </a:spcBef>
              <a:buFontTx/>
              <a:buNone/>
            </a:pPr>
            <a:r>
              <a:rPr lang="en-US" altLang="en-US" sz="1800" dirty="0">
                <a:latin typeface="Courier New" panose="02070309020205020404" pitchFamily="49" charset="0"/>
                <a:cs typeface="Courier New" panose="02070309020205020404" pitchFamily="49" charset="0"/>
              </a:rPr>
              <a:t>list1 = [1, 12, 2, 20, 3, 15, 4]</a:t>
            </a:r>
          </a:p>
          <a:p>
            <a:pPr>
              <a:spcBef>
                <a:spcPct val="0"/>
              </a:spcBef>
              <a:buFontTx/>
              <a:buNone/>
            </a:pPr>
            <a:r>
              <a:rPr lang="en-US" altLang="en-US" sz="1800" dirty="0">
                <a:latin typeface="Courier New" panose="02070309020205020404" pitchFamily="49" charset="0"/>
                <a:cs typeface="Courier New" panose="02070309020205020404" pitchFamily="49" charset="0"/>
              </a:rPr>
              <a:t>list2 = []</a:t>
            </a:r>
          </a:p>
          <a:p>
            <a:pPr>
              <a:spcBef>
                <a:spcPct val="0"/>
              </a:spcBef>
              <a:buFontTx/>
              <a:buNone/>
            </a:pPr>
            <a:r>
              <a:rPr lang="en-US" altLang="en-US" sz="1800" dirty="0">
                <a:latin typeface="Courier New" panose="02070309020205020404" pitchFamily="49" charset="0"/>
                <a:cs typeface="Courier New" panose="02070309020205020404" pitchFamily="49" charset="0"/>
              </a:rPr>
              <a:t> </a:t>
            </a:r>
          </a:p>
          <a:p>
            <a:pPr>
              <a:spcBef>
                <a:spcPct val="0"/>
              </a:spcBef>
              <a:buFontTx/>
              <a:buNone/>
            </a:pPr>
            <a:r>
              <a:rPr lang="en-US" altLang="en-US" sz="1800" dirty="0">
                <a:latin typeface="Courier New" panose="02070309020205020404" pitchFamily="49" charset="0"/>
                <a:cs typeface="Courier New" panose="02070309020205020404" pitchFamily="49" charset="0"/>
              </a:rPr>
              <a:t>for n in list1:</a:t>
            </a:r>
          </a:p>
          <a:p>
            <a:pPr>
              <a:spcBef>
                <a:spcPct val="0"/>
              </a:spcBef>
              <a:buFontTx/>
              <a:buNone/>
            </a:pPr>
            <a:r>
              <a:rPr lang="en-US" altLang="en-US" sz="1800" dirty="0">
                <a:latin typeface="Courier New" panose="02070309020205020404" pitchFamily="49" charset="0"/>
                <a:cs typeface="Courier New" panose="02070309020205020404" pitchFamily="49" charset="0"/>
              </a:rPr>
              <a:t>    if n &lt; 10:</a:t>
            </a:r>
          </a:p>
          <a:p>
            <a:pPr>
              <a:spcBef>
                <a:spcPct val="0"/>
              </a:spcBef>
              <a:buFontTx/>
              <a:buNone/>
            </a:pPr>
            <a:r>
              <a:rPr lang="en-US" altLang="en-US" sz="1800" dirty="0">
                <a:latin typeface="Courier New" panose="02070309020205020404" pitchFamily="49" charset="0"/>
                <a:cs typeface="Courier New" panose="02070309020205020404" pitchFamily="49" charset="0"/>
              </a:rPr>
              <a:t>        list2.append(n)</a:t>
            </a:r>
          </a:p>
        </p:txBody>
      </p:sp>
      <p:sp>
        <p:nvSpPr>
          <p:cNvPr id="7" name="Content Placeholder 6">
            <a:extLst>
              <a:ext uri="{FF2B5EF4-FFF2-40B4-BE49-F238E27FC236}">
                <a16:creationId xmlns:a16="http://schemas.microsoft.com/office/drawing/2014/main" id="{FD230916-86DC-442B-94BF-CEB52A2088C6}"/>
              </a:ext>
            </a:extLst>
          </p:cNvPr>
          <p:cNvSpPr>
            <a:spLocks noGrp="1"/>
          </p:cNvSpPr>
          <p:nvPr>
            <p:ph sz="quarter" idx="15"/>
          </p:nvPr>
        </p:nvSpPr>
        <p:spPr>
          <a:xfrm>
            <a:off x="3348000" y="4474264"/>
            <a:ext cx="2448000" cy="432000"/>
          </a:xfrm>
        </p:spPr>
        <p:txBody>
          <a:bodyPr/>
          <a:lstStyle/>
          <a:p>
            <a:pPr>
              <a:spcBef>
                <a:spcPct val="0"/>
              </a:spcBef>
              <a:buFontTx/>
              <a:buNone/>
            </a:pPr>
            <a:r>
              <a:rPr lang="en-US" altLang="en-US" sz="1800" dirty="0"/>
              <a:t>Works the same as…</a:t>
            </a:r>
          </a:p>
        </p:txBody>
      </p:sp>
      <p:sp>
        <p:nvSpPr>
          <p:cNvPr id="8" name="Content Placeholder 7">
            <a:extLst>
              <a:ext uri="{FF2B5EF4-FFF2-40B4-BE49-F238E27FC236}">
                <a16:creationId xmlns:a16="http://schemas.microsoft.com/office/drawing/2014/main" id="{AEB9BB41-E11F-48C3-AD39-2CD99261F79E}"/>
              </a:ext>
            </a:extLst>
          </p:cNvPr>
          <p:cNvSpPr>
            <a:spLocks noGrp="1"/>
          </p:cNvSpPr>
          <p:nvPr>
            <p:ph sz="quarter" idx="16"/>
          </p:nvPr>
        </p:nvSpPr>
        <p:spPr>
          <a:xfrm>
            <a:off x="1364974" y="5305425"/>
            <a:ext cx="6506817" cy="792000"/>
          </a:xfrm>
        </p:spPr>
        <p:txBody>
          <a:bodyPr/>
          <a:lstStyle/>
          <a:p>
            <a:pPr>
              <a:spcBef>
                <a:spcPct val="0"/>
              </a:spcBef>
              <a:buFontTx/>
              <a:buNone/>
            </a:pPr>
            <a:r>
              <a:rPr lang="en-US" altLang="en-US" sz="1800" dirty="0">
                <a:latin typeface="Courier New" panose="02070309020205020404" pitchFamily="49" charset="0"/>
                <a:cs typeface="Courier New" panose="02070309020205020404" pitchFamily="49" charset="0"/>
              </a:rPr>
              <a:t>list1 = [1, 12, 2, 20, 3, 15, 4]</a:t>
            </a:r>
          </a:p>
          <a:p>
            <a:pPr>
              <a:spcBef>
                <a:spcPct val="0"/>
              </a:spcBef>
              <a:buFontTx/>
              <a:buNone/>
            </a:pPr>
            <a:r>
              <a:rPr lang="en-US" altLang="en-US" sz="1800" dirty="0">
                <a:latin typeface="Courier New" panose="02070309020205020404" pitchFamily="49" charset="0"/>
                <a:cs typeface="Courier New" panose="02070309020205020404" pitchFamily="49" charset="0"/>
              </a:rPr>
              <a:t>list2 = [item for item in list1 if item &lt; 10]</a:t>
            </a:r>
          </a:p>
        </p:txBody>
      </p:sp>
    </p:spTree>
    <p:extLst>
      <p:ext uri="{BB962C8B-B14F-4D97-AF65-F5344CB8AC3E}">
        <p14:creationId xmlns:p14="http://schemas.microsoft.com/office/powerpoint/2010/main" val="102192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CB39-F6AC-421B-92F4-225E5A0E9C0F}"/>
              </a:ext>
            </a:extLst>
          </p:cNvPr>
          <p:cNvSpPr>
            <a:spLocks noGrp="1"/>
          </p:cNvSpPr>
          <p:nvPr>
            <p:ph type="title"/>
          </p:nvPr>
        </p:nvSpPr>
        <p:spPr/>
        <p:txBody>
          <a:bodyPr/>
          <a:lstStyle/>
          <a:p>
            <a:r>
              <a:rPr lang="en-US" altLang="en-US" dirty="0"/>
              <a:t>List Comprehensions </a:t>
            </a:r>
            <a:r>
              <a:rPr lang="en-US" altLang="en-US" sz="2000" b="0" dirty="0"/>
              <a:t>(7 of 7)</a:t>
            </a:r>
            <a:endParaRPr lang="en-US" dirty="0"/>
          </a:p>
        </p:txBody>
      </p:sp>
      <p:sp>
        <p:nvSpPr>
          <p:cNvPr id="3" name="Content Placeholder 2">
            <a:extLst>
              <a:ext uri="{FF2B5EF4-FFF2-40B4-BE49-F238E27FC236}">
                <a16:creationId xmlns:a16="http://schemas.microsoft.com/office/drawing/2014/main" id="{706F7180-AC36-4B9F-BF22-91221E4B5758}"/>
              </a:ext>
            </a:extLst>
          </p:cNvPr>
          <p:cNvSpPr>
            <a:spLocks noGrp="1"/>
          </p:cNvSpPr>
          <p:nvPr>
            <p:ph sz="quarter" idx="13"/>
          </p:nvPr>
        </p:nvSpPr>
        <p:spPr>
          <a:xfrm>
            <a:off x="675861" y="1556327"/>
            <a:ext cx="7606748" cy="792000"/>
          </a:xfrm>
        </p:spPr>
        <p:txBody>
          <a:bodyPr/>
          <a:lstStyle/>
          <a:p>
            <a:pPr>
              <a:spcBef>
                <a:spcPct val="0"/>
              </a:spcBef>
              <a:buFontTx/>
              <a:buNone/>
            </a:pPr>
            <a:r>
              <a:rPr lang="en-US" altLang="en-US" sz="2000" dirty="0">
                <a:latin typeface="Courier New" panose="02070309020205020404" pitchFamily="49" charset="0"/>
                <a:cs typeface="Courier New" panose="02070309020205020404" pitchFamily="49" charset="0"/>
              </a:rPr>
              <a:t>list1 = [1, 12, 2, 20, 3, 15, 4]</a:t>
            </a:r>
          </a:p>
          <a:p>
            <a:pPr>
              <a:spcBef>
                <a:spcPct val="0"/>
              </a:spcBef>
              <a:buFontTx/>
              <a:buNone/>
            </a:pPr>
            <a:r>
              <a:rPr lang="en-US" altLang="en-US" sz="2000" dirty="0">
                <a:latin typeface="Courier New" panose="02070309020205020404" pitchFamily="49" charset="0"/>
                <a:cs typeface="Courier New" panose="02070309020205020404" pitchFamily="49" charset="0"/>
              </a:rPr>
              <a:t>list2 = [item for item in list1 if item &lt; 10]</a:t>
            </a:r>
          </a:p>
        </p:txBody>
      </p:sp>
      <p:sp>
        <p:nvSpPr>
          <p:cNvPr id="4" name="Content Placeholder 3">
            <a:extLst>
              <a:ext uri="{FF2B5EF4-FFF2-40B4-BE49-F238E27FC236}">
                <a16:creationId xmlns:a16="http://schemas.microsoft.com/office/drawing/2014/main" id="{22975E43-80B1-4F55-B71D-266A389B9040}"/>
              </a:ext>
            </a:extLst>
          </p:cNvPr>
          <p:cNvSpPr>
            <a:spLocks noGrp="1"/>
          </p:cNvSpPr>
          <p:nvPr>
            <p:ph sz="quarter" idx="14"/>
          </p:nvPr>
        </p:nvSpPr>
        <p:spPr>
          <a:xfrm>
            <a:off x="457200" y="2708582"/>
            <a:ext cx="8229600" cy="498444"/>
          </a:xfrm>
        </p:spPr>
        <p:txBody>
          <a:bodyPr/>
          <a:lstStyle/>
          <a:p>
            <a:pPr>
              <a:spcBef>
                <a:spcPct val="0"/>
              </a:spcBef>
            </a:pPr>
            <a:r>
              <a:rPr lang="en-US" altLang="en-US" sz="2000" dirty="0"/>
              <a:t>After this code executes, </a:t>
            </a:r>
            <a:r>
              <a:rPr lang="en-US" altLang="en-US" sz="2000" dirty="0">
                <a:latin typeface="Courier New" panose="02070309020205020404" pitchFamily="49" charset="0"/>
                <a:cs typeface="Courier New" panose="02070309020205020404" pitchFamily="49" charset="0"/>
              </a:rPr>
              <a:t>list2</a:t>
            </a:r>
            <a:r>
              <a:rPr lang="en-US" altLang="en-US" sz="2000" dirty="0"/>
              <a:t> will contain </a:t>
            </a:r>
            <a:r>
              <a:rPr lang="en-US" altLang="en-US" sz="2000" dirty="0">
                <a:latin typeface="Courier New" panose="02070309020205020404" pitchFamily="49" charset="0"/>
                <a:cs typeface="Courier New" panose="02070309020205020404" pitchFamily="49" charset="0"/>
              </a:rPr>
              <a:t>[1, 2, 3, 4]</a:t>
            </a:r>
          </a:p>
        </p:txBody>
      </p:sp>
    </p:spTree>
    <p:extLst>
      <p:ext uri="{BB962C8B-B14F-4D97-AF65-F5344CB8AC3E}">
        <p14:creationId xmlns:p14="http://schemas.microsoft.com/office/powerpoint/2010/main" val="6549629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541D82-93B4-4F4C-84DC-7F7804E76799}"/>
              </a:ext>
            </a:extLst>
          </p:cNvPr>
          <p:cNvSpPr>
            <a:spLocks noGrp="1"/>
          </p:cNvSpPr>
          <p:nvPr>
            <p:ph type="title"/>
          </p:nvPr>
        </p:nvSpPr>
        <p:spPr/>
        <p:txBody>
          <a:bodyPr/>
          <a:lstStyle/>
          <a:p>
            <a:r>
              <a:rPr lang="en-US" altLang="en-US" dirty="0"/>
              <a:t>Two-Dimensional Lists </a:t>
            </a:r>
            <a:r>
              <a:rPr lang="en-US" altLang="en-US" sz="2000" b="0" dirty="0"/>
              <a:t>(1 of 3)</a:t>
            </a:r>
            <a:endParaRPr lang="en-US" sz="2000" b="0" dirty="0"/>
          </a:p>
        </p:txBody>
      </p:sp>
      <p:sp>
        <p:nvSpPr>
          <p:cNvPr id="6" name="Content Placeholder 5">
            <a:extLst>
              <a:ext uri="{FF2B5EF4-FFF2-40B4-BE49-F238E27FC236}">
                <a16:creationId xmlns:a16="http://schemas.microsoft.com/office/drawing/2014/main" id="{927B5935-CA3C-4AB4-A5E3-9F930FCB7EBB}"/>
              </a:ext>
            </a:extLst>
          </p:cNvPr>
          <p:cNvSpPr>
            <a:spLocks noGrp="1"/>
          </p:cNvSpPr>
          <p:nvPr>
            <p:ph sz="quarter" idx="13"/>
          </p:nvPr>
        </p:nvSpPr>
        <p:spPr>
          <a:xfrm>
            <a:off x="457200" y="1556327"/>
            <a:ext cx="8229600" cy="4128856"/>
          </a:xfrm>
        </p:spPr>
        <p:txBody>
          <a:bodyPr/>
          <a:lstStyle/>
          <a:p>
            <a:r>
              <a:rPr lang="en-US" altLang="en-US" b="1" dirty="0">
                <a:cs typeface="Courier New" panose="02070309020205020404" pitchFamily="49" charset="0"/>
              </a:rPr>
              <a:t>Two-dimensional list: a list that contains other lists as its elements</a:t>
            </a:r>
          </a:p>
          <a:p>
            <a:pPr lvl="1"/>
            <a:r>
              <a:rPr lang="en-US" altLang="en-US" dirty="0">
                <a:cs typeface="Courier New" panose="02070309020205020404" pitchFamily="49" charset="0"/>
              </a:rPr>
              <a:t>Also known as nested list</a:t>
            </a:r>
          </a:p>
          <a:p>
            <a:pPr lvl="1"/>
            <a:r>
              <a:rPr lang="en-US" altLang="en-US" dirty="0">
                <a:cs typeface="Courier New" panose="02070309020205020404" pitchFamily="49" charset="0"/>
              </a:rPr>
              <a:t>Common to think of two-dimensional lists as having rows and columns</a:t>
            </a:r>
          </a:p>
          <a:p>
            <a:pPr lvl="1"/>
            <a:r>
              <a:rPr lang="en-US" altLang="en-US" dirty="0">
                <a:cs typeface="Courier New" panose="02070309020205020404" pitchFamily="49" charset="0"/>
              </a:rPr>
              <a:t>Useful for working with multiple sets of data</a:t>
            </a:r>
          </a:p>
          <a:p>
            <a:r>
              <a:rPr lang="en-US" altLang="en-US" b="1" dirty="0">
                <a:cs typeface="Courier New" panose="02070309020205020404" pitchFamily="49" charset="0"/>
              </a:rPr>
              <a:t>To process data in a two-dimensional list need to use two indexes</a:t>
            </a:r>
          </a:p>
          <a:p>
            <a:r>
              <a:rPr lang="en-US" altLang="en-US" b="1" dirty="0">
                <a:cs typeface="Courier New" panose="02070309020205020404" pitchFamily="49" charset="0"/>
              </a:rPr>
              <a:t>Typically use nested loops to process</a:t>
            </a:r>
          </a:p>
        </p:txBody>
      </p:sp>
    </p:spTree>
    <p:extLst>
      <p:ext uri="{BB962C8B-B14F-4D97-AF65-F5344CB8AC3E}">
        <p14:creationId xmlns:p14="http://schemas.microsoft.com/office/powerpoint/2010/main" val="20485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2126-0280-4A82-8F70-B9A3FF53BD0A}"/>
              </a:ext>
            </a:extLst>
          </p:cNvPr>
          <p:cNvSpPr>
            <a:spLocks noGrp="1"/>
          </p:cNvSpPr>
          <p:nvPr>
            <p:ph type="title"/>
          </p:nvPr>
        </p:nvSpPr>
        <p:spPr/>
        <p:txBody>
          <a:bodyPr/>
          <a:lstStyle/>
          <a:p>
            <a:r>
              <a:rPr lang="en-US" altLang="en-US" dirty="0"/>
              <a:t>Two-Dimensional Lists </a:t>
            </a:r>
            <a:r>
              <a:rPr lang="en-US" altLang="en-US" sz="2000" b="0" dirty="0"/>
              <a:t>(2 of 3)</a:t>
            </a:r>
            <a:endParaRPr lang="en-US" dirty="0"/>
          </a:p>
        </p:txBody>
      </p:sp>
      <p:sp>
        <p:nvSpPr>
          <p:cNvPr id="3" name="Content Placeholder 2">
            <a:extLst>
              <a:ext uri="{FF2B5EF4-FFF2-40B4-BE49-F238E27FC236}">
                <a16:creationId xmlns:a16="http://schemas.microsoft.com/office/drawing/2014/main" id="{4A66D817-07F6-4A51-972C-2FDDB016B425}"/>
              </a:ext>
            </a:extLst>
          </p:cNvPr>
          <p:cNvSpPr>
            <a:spLocks noGrp="1"/>
          </p:cNvSpPr>
          <p:nvPr>
            <p:ph sz="quarter" idx="13"/>
          </p:nvPr>
        </p:nvSpPr>
        <p:spPr>
          <a:xfrm>
            <a:off x="457200" y="1556327"/>
            <a:ext cx="8229600" cy="540000"/>
          </a:xfrm>
        </p:spPr>
        <p:txBody>
          <a:bodyPr/>
          <a:lstStyle/>
          <a:p>
            <a:pPr marL="432" indent="0">
              <a:buNone/>
            </a:pPr>
            <a:r>
              <a:rPr lang="en-US" altLang="en-US" b="1" dirty="0"/>
              <a:t>Figure 7-5 </a:t>
            </a:r>
            <a:r>
              <a:rPr lang="en-US" altLang="en-US" dirty="0"/>
              <a:t>A two-dimensional list</a:t>
            </a:r>
            <a:endParaRPr lang="he-IL" altLang="en-US" dirty="0"/>
          </a:p>
        </p:txBody>
      </p:sp>
      <p:pic>
        <p:nvPicPr>
          <p:cNvPr id="6" name="Content Placeholder 5" descr="A table depicts a two dimensional list. For long description in Notes pane, press F6.">
            <a:extLst>
              <a:ext uri="{FF2B5EF4-FFF2-40B4-BE49-F238E27FC236}">
                <a16:creationId xmlns:a16="http://schemas.microsoft.com/office/drawing/2014/main" id="{C85FB2AE-802E-4314-A46B-B9C0E5605FF1}"/>
              </a:ext>
            </a:extLst>
          </p:cNvPr>
          <p:cNvPicPr>
            <a:picLocks noGrp="1" noChangeAspect="1"/>
          </p:cNvPicPr>
          <p:nvPr>
            <p:ph sz="quarter" idx="14"/>
          </p:nvPr>
        </p:nvPicPr>
        <p:blipFill rotWithShape="1">
          <a:blip r:embed="rId3"/>
          <a:srcRect l="34370" t="16835" r="33720"/>
          <a:stretch/>
        </p:blipFill>
        <p:spPr>
          <a:xfrm>
            <a:off x="2916146" y="2340004"/>
            <a:ext cx="3311709" cy="2220872"/>
          </a:xfrm>
        </p:spPr>
      </p:pic>
    </p:spTree>
    <p:extLst>
      <p:ext uri="{BB962C8B-B14F-4D97-AF65-F5344CB8AC3E}">
        <p14:creationId xmlns:p14="http://schemas.microsoft.com/office/powerpoint/2010/main" val="699973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2126-0280-4A82-8F70-B9A3FF53BD0A}"/>
              </a:ext>
            </a:extLst>
          </p:cNvPr>
          <p:cNvSpPr>
            <a:spLocks noGrp="1"/>
          </p:cNvSpPr>
          <p:nvPr>
            <p:ph type="title"/>
          </p:nvPr>
        </p:nvSpPr>
        <p:spPr/>
        <p:txBody>
          <a:bodyPr/>
          <a:lstStyle/>
          <a:p>
            <a:r>
              <a:rPr lang="en-US" altLang="en-US" dirty="0"/>
              <a:t>Two-Dimensional Lists </a:t>
            </a:r>
            <a:r>
              <a:rPr lang="en-US" altLang="en-US" sz="2000" b="0" dirty="0"/>
              <a:t>(3 of 3)</a:t>
            </a:r>
            <a:endParaRPr lang="en-US" dirty="0"/>
          </a:p>
        </p:txBody>
      </p:sp>
      <p:sp>
        <p:nvSpPr>
          <p:cNvPr id="3" name="Content Placeholder 2">
            <a:extLst>
              <a:ext uri="{FF2B5EF4-FFF2-40B4-BE49-F238E27FC236}">
                <a16:creationId xmlns:a16="http://schemas.microsoft.com/office/drawing/2014/main" id="{4A66D817-07F6-4A51-972C-2FDDB016B425}"/>
              </a:ext>
            </a:extLst>
          </p:cNvPr>
          <p:cNvSpPr>
            <a:spLocks noGrp="1"/>
          </p:cNvSpPr>
          <p:nvPr>
            <p:ph sz="quarter" idx="13"/>
          </p:nvPr>
        </p:nvSpPr>
        <p:spPr>
          <a:xfrm>
            <a:off x="457200" y="1556327"/>
            <a:ext cx="8229600" cy="540000"/>
          </a:xfrm>
        </p:spPr>
        <p:txBody>
          <a:bodyPr/>
          <a:lstStyle/>
          <a:p>
            <a:pPr marL="432" indent="0">
              <a:buNone/>
            </a:pPr>
            <a:r>
              <a:rPr lang="en-US" altLang="en-US" b="1" dirty="0"/>
              <a:t>Figure 7-7 </a:t>
            </a:r>
            <a:r>
              <a:rPr lang="en-US" altLang="en-US" dirty="0"/>
              <a:t>Subscripts for each element of the </a:t>
            </a:r>
            <a:r>
              <a:rPr lang="en-US" altLang="en-US" dirty="0">
                <a:latin typeface="Courier New" panose="02070309020205020404" pitchFamily="49" charset="0"/>
                <a:cs typeface="Courier New" panose="02070309020205020404" pitchFamily="49" charset="0"/>
              </a:rPr>
              <a:t>scores</a:t>
            </a:r>
            <a:r>
              <a:rPr lang="en-US" altLang="en-US" dirty="0"/>
              <a:t> list</a:t>
            </a:r>
            <a:endParaRPr lang="he-IL" altLang="en-US" dirty="0"/>
          </a:p>
        </p:txBody>
      </p:sp>
      <p:pic>
        <p:nvPicPr>
          <p:cNvPr id="6" name="Content Placeholder 5" descr="A table depicts a two dimensional list. For long description in Notes pane, press F6.">
            <a:extLst>
              <a:ext uri="{FF2B5EF4-FFF2-40B4-BE49-F238E27FC236}">
                <a16:creationId xmlns:a16="http://schemas.microsoft.com/office/drawing/2014/main" id="{C85FB2AE-802E-4314-A46B-B9C0E5605FF1}"/>
              </a:ext>
            </a:extLst>
          </p:cNvPr>
          <p:cNvPicPr>
            <a:picLocks noGrp="1" noChangeAspect="1"/>
          </p:cNvPicPr>
          <p:nvPr>
            <p:ph sz="quarter" idx="14"/>
          </p:nvPr>
        </p:nvPicPr>
        <p:blipFill rotWithShape="1">
          <a:blip r:embed="rId3"/>
          <a:srcRect l="29339" t="17014" r="24390"/>
          <a:stretch/>
        </p:blipFill>
        <p:spPr>
          <a:xfrm>
            <a:off x="2259928" y="2303816"/>
            <a:ext cx="4624143" cy="2250367"/>
          </a:xfrm>
        </p:spPr>
      </p:pic>
    </p:spTree>
    <p:extLst>
      <p:ext uri="{BB962C8B-B14F-4D97-AF65-F5344CB8AC3E}">
        <p14:creationId xmlns:p14="http://schemas.microsoft.com/office/powerpoint/2010/main" val="4142371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BB8DD-B3CF-4040-8522-C34C8ED9CB76}"/>
              </a:ext>
            </a:extLst>
          </p:cNvPr>
          <p:cNvSpPr>
            <a:spLocks noGrp="1"/>
          </p:cNvSpPr>
          <p:nvPr>
            <p:ph type="title"/>
          </p:nvPr>
        </p:nvSpPr>
        <p:spPr/>
        <p:txBody>
          <a:bodyPr/>
          <a:lstStyle/>
          <a:p>
            <a:r>
              <a:rPr lang="en-US" altLang="en-US" dirty="0"/>
              <a:t>List Slicing</a:t>
            </a:r>
            <a:endParaRPr lang="en-US" dirty="0"/>
          </a:p>
        </p:txBody>
      </p:sp>
      <p:sp>
        <p:nvSpPr>
          <p:cNvPr id="3" name="Content Placeholder 2">
            <a:extLst>
              <a:ext uri="{FF2B5EF4-FFF2-40B4-BE49-F238E27FC236}">
                <a16:creationId xmlns:a16="http://schemas.microsoft.com/office/drawing/2014/main" id="{01B0C332-3250-49F4-BB9D-245B19DE8528}"/>
              </a:ext>
            </a:extLst>
          </p:cNvPr>
          <p:cNvSpPr>
            <a:spLocks noGrp="1"/>
          </p:cNvSpPr>
          <p:nvPr>
            <p:ph sz="quarter" idx="13"/>
          </p:nvPr>
        </p:nvSpPr>
        <p:spPr>
          <a:xfrm>
            <a:off x="457200" y="1556327"/>
            <a:ext cx="8229600" cy="3890316"/>
          </a:xfrm>
        </p:spPr>
        <p:txBody>
          <a:bodyPr/>
          <a:lstStyle/>
          <a:p>
            <a:r>
              <a:rPr lang="en-US" altLang="en-US" b="1" dirty="0"/>
              <a:t>Slice: a span of items that are taken from a sequence</a:t>
            </a:r>
          </a:p>
          <a:p>
            <a:pPr lvl="1"/>
            <a:r>
              <a:rPr lang="en-US" altLang="en-US" dirty="0"/>
              <a:t>List slicing format: </a:t>
            </a:r>
            <a:r>
              <a:rPr lang="en-US" altLang="en-US" i="1" dirty="0">
                <a:latin typeface="Courier New" panose="02070309020205020404" pitchFamily="49" charset="0"/>
                <a:cs typeface="Courier New" panose="02070309020205020404" pitchFamily="49" charset="0"/>
              </a:rPr>
              <a:t>list</a:t>
            </a:r>
            <a:r>
              <a:rPr lang="en-US" altLang="en-US" dirty="0">
                <a:latin typeface="Courier New" panose="02070309020205020404" pitchFamily="49" charset="0"/>
                <a:cs typeface="Courier New" panose="02070309020205020404" pitchFamily="49" charset="0"/>
              </a:rPr>
              <a:t>[</a:t>
            </a:r>
            <a:r>
              <a:rPr lang="en-US" altLang="en-US" i="1" dirty="0">
                <a:latin typeface="Courier New" panose="02070309020205020404" pitchFamily="49" charset="0"/>
                <a:cs typeface="Courier New" panose="02070309020205020404" pitchFamily="49" charset="0"/>
              </a:rPr>
              <a:t>start</a:t>
            </a:r>
            <a:r>
              <a:rPr lang="en-US" altLang="en-US" dirty="0">
                <a:latin typeface="Courier New" panose="02070309020205020404" pitchFamily="49" charset="0"/>
                <a:cs typeface="Courier New" panose="02070309020205020404" pitchFamily="49" charset="0"/>
              </a:rPr>
              <a:t> : </a:t>
            </a:r>
            <a:r>
              <a:rPr lang="en-US" altLang="en-US" i="1" dirty="0">
                <a:latin typeface="Courier New" panose="02070309020205020404" pitchFamily="49" charset="0"/>
                <a:cs typeface="Courier New" panose="02070309020205020404" pitchFamily="49" charset="0"/>
              </a:rPr>
              <a:t>end</a:t>
            </a:r>
            <a:r>
              <a:rPr lang="en-US" altLang="en-US" dirty="0">
                <a:latin typeface="Courier New" panose="02070309020205020404" pitchFamily="49" charset="0"/>
                <a:cs typeface="Courier New" panose="02070309020205020404" pitchFamily="49" charset="0"/>
              </a:rPr>
              <a:t>]</a:t>
            </a:r>
          </a:p>
          <a:p>
            <a:pPr lvl="1"/>
            <a:r>
              <a:rPr lang="en-US" altLang="en-US" dirty="0">
                <a:cs typeface="Courier New" panose="02070309020205020404" pitchFamily="49" charset="0"/>
              </a:rPr>
              <a:t>Span is a list containing copies of elements from </a:t>
            </a:r>
            <a:r>
              <a:rPr lang="en-US" altLang="en-US" i="1" dirty="0">
                <a:latin typeface="Courier New" panose="02070309020205020404" pitchFamily="49" charset="0"/>
                <a:cs typeface="Courier New" panose="02070309020205020404" pitchFamily="49" charset="0"/>
              </a:rPr>
              <a:t>start</a:t>
            </a:r>
            <a:r>
              <a:rPr lang="en-US" altLang="en-US" dirty="0">
                <a:cs typeface="Courier New" panose="02070309020205020404" pitchFamily="49" charset="0"/>
              </a:rPr>
              <a:t> up to, but not including, </a:t>
            </a:r>
            <a:r>
              <a:rPr lang="en-US" altLang="en-US" i="1" dirty="0">
                <a:latin typeface="Courier New" panose="02070309020205020404" pitchFamily="49" charset="0"/>
                <a:cs typeface="Courier New" panose="02070309020205020404" pitchFamily="49" charset="0"/>
              </a:rPr>
              <a:t>end</a:t>
            </a:r>
            <a:endParaRPr lang="en-US" altLang="en-US" i="1" dirty="0">
              <a:cs typeface="Courier New" panose="02070309020205020404" pitchFamily="49" charset="0"/>
            </a:endParaRPr>
          </a:p>
          <a:p>
            <a:pPr lvl="2"/>
            <a:r>
              <a:rPr lang="en-US" altLang="en-US" dirty="0">
                <a:cs typeface="Courier New" panose="02070309020205020404" pitchFamily="49" charset="0"/>
              </a:rPr>
              <a:t>If </a:t>
            </a:r>
            <a:r>
              <a:rPr lang="en-US" altLang="en-US" i="1" dirty="0">
                <a:latin typeface="Courier New" panose="02070309020205020404" pitchFamily="49" charset="0"/>
                <a:cs typeface="Courier New" panose="02070309020205020404" pitchFamily="49" charset="0"/>
              </a:rPr>
              <a:t>start</a:t>
            </a:r>
            <a:r>
              <a:rPr lang="en-US" altLang="en-US" dirty="0">
                <a:cs typeface="Courier New" panose="02070309020205020404" pitchFamily="49" charset="0"/>
              </a:rPr>
              <a:t> not specified, </a:t>
            </a:r>
            <a:r>
              <a:rPr lang="en-US" altLang="en-US" dirty="0">
                <a:latin typeface="Courier New" panose="02070309020205020404" pitchFamily="49" charset="0"/>
                <a:cs typeface="Courier New" panose="02070309020205020404" pitchFamily="49" charset="0"/>
              </a:rPr>
              <a:t>0</a:t>
            </a:r>
            <a:r>
              <a:rPr lang="en-US" altLang="en-US" dirty="0">
                <a:cs typeface="Courier New" panose="02070309020205020404" pitchFamily="49" charset="0"/>
              </a:rPr>
              <a:t> is used for start index</a:t>
            </a:r>
          </a:p>
          <a:p>
            <a:pPr lvl="2"/>
            <a:r>
              <a:rPr lang="en-US" altLang="en-US" dirty="0">
                <a:cs typeface="Courier New" panose="02070309020205020404" pitchFamily="49" charset="0"/>
              </a:rPr>
              <a:t>If </a:t>
            </a:r>
            <a:r>
              <a:rPr lang="en-US" altLang="en-US" i="1" dirty="0">
                <a:latin typeface="Courier New" panose="02070309020205020404" pitchFamily="49" charset="0"/>
                <a:cs typeface="Courier New" panose="02070309020205020404" pitchFamily="49" charset="0"/>
              </a:rPr>
              <a:t>end</a:t>
            </a:r>
            <a:r>
              <a:rPr lang="en-US" altLang="en-US" dirty="0">
                <a:cs typeface="Courier New" panose="02070309020205020404" pitchFamily="49" charset="0"/>
              </a:rPr>
              <a:t> not specified, </a:t>
            </a:r>
            <a:r>
              <a:rPr lang="en-US" altLang="en-US" dirty="0" err="1">
                <a:latin typeface="Courier New" panose="02070309020205020404" pitchFamily="49" charset="0"/>
                <a:cs typeface="Courier New" panose="02070309020205020404" pitchFamily="49" charset="0"/>
              </a:rPr>
              <a:t>len</a:t>
            </a:r>
            <a:r>
              <a:rPr lang="en-US" altLang="en-US" dirty="0">
                <a:latin typeface="Courier New" panose="02070309020205020404" pitchFamily="49" charset="0"/>
                <a:cs typeface="Courier New" panose="02070309020205020404" pitchFamily="49" charset="0"/>
              </a:rPr>
              <a:t>(list)</a:t>
            </a:r>
            <a:r>
              <a:rPr lang="en-US" altLang="en-US" dirty="0">
                <a:cs typeface="Courier New" panose="02070309020205020404" pitchFamily="49" charset="0"/>
              </a:rPr>
              <a:t> is used for end index</a:t>
            </a:r>
          </a:p>
          <a:p>
            <a:pPr lvl="1"/>
            <a:r>
              <a:rPr lang="en-US" altLang="en-US" dirty="0">
                <a:cs typeface="Courier New" panose="02070309020205020404" pitchFamily="49" charset="0"/>
              </a:rPr>
              <a:t>Slicing expressions can include a step value and negative indexes relative to end of list</a:t>
            </a:r>
          </a:p>
        </p:txBody>
      </p:sp>
    </p:spTree>
    <p:extLst>
      <p:ext uri="{BB962C8B-B14F-4D97-AF65-F5344CB8AC3E}">
        <p14:creationId xmlns:p14="http://schemas.microsoft.com/office/powerpoint/2010/main" val="2525197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1B27-33DB-42EE-871B-E9F60BDB3C06}"/>
              </a:ext>
            </a:extLst>
          </p:cNvPr>
          <p:cNvSpPr>
            <a:spLocks noGrp="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dirty="0">
                <a:cs typeface="Courier New" panose="02070309020205020404" pitchFamily="49" charset="0"/>
              </a:rPr>
              <a:t> </a:t>
            </a:r>
            <a:r>
              <a:rPr lang="en-US" altLang="en-US" sz="2000" b="0" dirty="0">
                <a:cs typeface="Courier New" panose="02070309020205020404" pitchFamily="49" charset="0"/>
              </a:rPr>
              <a:t>(1 of 4)</a:t>
            </a:r>
            <a:endParaRPr lang="en-US" sz="2000" b="0" dirty="0"/>
          </a:p>
        </p:txBody>
      </p:sp>
      <p:sp>
        <p:nvSpPr>
          <p:cNvPr id="3" name="Content Placeholder 2">
            <a:extLst>
              <a:ext uri="{FF2B5EF4-FFF2-40B4-BE49-F238E27FC236}">
                <a16:creationId xmlns:a16="http://schemas.microsoft.com/office/drawing/2014/main" id="{3D1FCAE9-98B7-4CAF-8950-59D63056DB8A}"/>
              </a:ext>
            </a:extLst>
          </p:cNvPr>
          <p:cNvSpPr>
            <a:spLocks noGrp="1"/>
          </p:cNvSpPr>
          <p:nvPr>
            <p:ph sz="quarter" idx="13"/>
          </p:nvPr>
        </p:nvSpPr>
        <p:spPr>
          <a:xfrm>
            <a:off x="457200" y="1556327"/>
            <a:ext cx="8229600" cy="2207290"/>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matplotlib</a:t>
            </a:r>
            <a:r>
              <a:rPr lang="en-US" altLang="en-US" dirty="0"/>
              <a:t> package is a library for creating two-dimensional charts and graphs.</a:t>
            </a:r>
          </a:p>
          <a:p>
            <a:r>
              <a:rPr lang="en-US" altLang="en-US" dirty="0"/>
              <a:t>It is not part of the standard Python library, so you will have to install it separately, after you have installed Python on your system.</a:t>
            </a:r>
          </a:p>
        </p:txBody>
      </p:sp>
    </p:spTree>
    <p:extLst>
      <p:ext uri="{BB962C8B-B14F-4D97-AF65-F5344CB8AC3E}">
        <p14:creationId xmlns:p14="http://schemas.microsoft.com/office/powerpoint/2010/main" val="24440417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9CD042-6E9C-4BB5-BC09-66D573EA3261}"/>
              </a:ext>
            </a:extLst>
          </p:cNvPr>
          <p:cNvSpPr>
            <a:spLocks noGrp="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dirty="0">
                <a:cs typeface="Courier New" panose="02070309020205020404" pitchFamily="49" charset="0"/>
              </a:rPr>
              <a:t> </a:t>
            </a:r>
            <a:r>
              <a:rPr lang="en-US" altLang="en-US" sz="2000" b="0" dirty="0">
                <a:cs typeface="Courier New" panose="02070309020205020404" pitchFamily="49" charset="0"/>
              </a:rPr>
              <a:t>(2 of 4)</a:t>
            </a:r>
            <a:endParaRPr lang="en-US" dirty="0"/>
          </a:p>
        </p:txBody>
      </p:sp>
      <p:sp>
        <p:nvSpPr>
          <p:cNvPr id="5" name="Content Placeholder 4">
            <a:extLst>
              <a:ext uri="{FF2B5EF4-FFF2-40B4-BE49-F238E27FC236}">
                <a16:creationId xmlns:a16="http://schemas.microsoft.com/office/drawing/2014/main" id="{30565D88-D80A-41E9-A51F-B910C5BBE985}"/>
              </a:ext>
            </a:extLst>
          </p:cNvPr>
          <p:cNvSpPr>
            <a:spLocks noGrp="1"/>
          </p:cNvSpPr>
          <p:nvPr>
            <p:ph sz="quarter" idx="13"/>
          </p:nvPr>
        </p:nvSpPr>
        <p:spPr>
          <a:xfrm>
            <a:off x="457200" y="1552575"/>
            <a:ext cx="8229600" cy="756000"/>
          </a:xfrm>
        </p:spPr>
        <p:txBody>
          <a:bodyPr/>
          <a:lstStyle/>
          <a:p>
            <a:r>
              <a:rPr lang="en-US" altLang="en-US" sz="2000" b="1" dirty="0"/>
              <a:t>To install </a:t>
            </a:r>
            <a:r>
              <a:rPr lang="en-US" altLang="en-US" sz="2000" b="1" dirty="0">
                <a:latin typeface="Courier New" panose="02070309020205020404" pitchFamily="49" charset="0"/>
                <a:cs typeface="Courier New" panose="02070309020205020404" pitchFamily="49" charset="0"/>
              </a:rPr>
              <a:t>matplotlib</a:t>
            </a:r>
            <a:r>
              <a:rPr lang="en-US" altLang="en-US" sz="2000" b="1" dirty="0"/>
              <a:t> on a Windows system, open a Command Prompt window and enter this command:</a:t>
            </a:r>
            <a:endParaRPr lang="en-US" sz="2000" b="1" dirty="0"/>
          </a:p>
        </p:txBody>
      </p:sp>
      <p:sp>
        <p:nvSpPr>
          <p:cNvPr id="6" name="Content Placeholder 5">
            <a:extLst>
              <a:ext uri="{FF2B5EF4-FFF2-40B4-BE49-F238E27FC236}">
                <a16:creationId xmlns:a16="http://schemas.microsoft.com/office/drawing/2014/main" id="{B2B03290-440B-4147-94A5-01429BF6626E}"/>
              </a:ext>
            </a:extLst>
          </p:cNvPr>
          <p:cNvSpPr>
            <a:spLocks noGrp="1"/>
          </p:cNvSpPr>
          <p:nvPr>
            <p:ph sz="quarter" idx="14"/>
          </p:nvPr>
        </p:nvSpPr>
        <p:spPr>
          <a:xfrm>
            <a:off x="2736000" y="2485477"/>
            <a:ext cx="3672000" cy="468000"/>
          </a:xfrm>
        </p:spPr>
        <p:txBody>
          <a:bodyPr/>
          <a:lstStyle/>
          <a:p>
            <a:pPr marL="432" indent="0">
              <a:buNone/>
            </a:pPr>
            <a:r>
              <a:rPr lang="en-US" altLang="en-US" sz="2000" dirty="0">
                <a:solidFill>
                  <a:schemeClr val="tx1"/>
                </a:solidFill>
                <a:latin typeface="Courier New" panose="02070309020205020404" pitchFamily="49" charset="0"/>
                <a:cs typeface="Courier New" panose="02070309020205020404" pitchFamily="49" charset="0"/>
              </a:rPr>
              <a:t>pip install matplotlib</a:t>
            </a:r>
          </a:p>
        </p:txBody>
      </p:sp>
      <p:sp>
        <p:nvSpPr>
          <p:cNvPr id="7" name="Content Placeholder 6">
            <a:extLst>
              <a:ext uri="{FF2B5EF4-FFF2-40B4-BE49-F238E27FC236}">
                <a16:creationId xmlns:a16="http://schemas.microsoft.com/office/drawing/2014/main" id="{A6DE5AB7-3CB0-4757-A8CC-2A5F00418B0F}"/>
              </a:ext>
            </a:extLst>
          </p:cNvPr>
          <p:cNvSpPr>
            <a:spLocks noGrp="1"/>
          </p:cNvSpPr>
          <p:nvPr>
            <p:ph sz="quarter" idx="15"/>
          </p:nvPr>
        </p:nvSpPr>
        <p:spPr>
          <a:xfrm>
            <a:off x="468313" y="3139812"/>
            <a:ext cx="8218485" cy="756000"/>
          </a:xfrm>
        </p:spPr>
        <p:txBody>
          <a:bodyPr/>
          <a:lstStyle/>
          <a:p>
            <a:r>
              <a:rPr lang="en-US" altLang="en-US" sz="2000" b="1" dirty="0"/>
              <a:t>To install </a:t>
            </a:r>
            <a:r>
              <a:rPr lang="en-US" altLang="en-US" sz="2000" b="1" dirty="0">
                <a:latin typeface="Courier New" panose="02070309020205020404" pitchFamily="49" charset="0"/>
                <a:cs typeface="Courier New" panose="02070309020205020404" pitchFamily="49" charset="0"/>
              </a:rPr>
              <a:t>matplotlib</a:t>
            </a:r>
            <a:r>
              <a:rPr lang="en-US" altLang="en-US" sz="2000" b="1" dirty="0"/>
              <a:t> on a Mac or Linux system, open a Terminal window and enter this command:</a:t>
            </a:r>
            <a:endParaRPr lang="en-US" sz="2000" b="1" dirty="0"/>
          </a:p>
        </p:txBody>
      </p:sp>
      <p:sp>
        <p:nvSpPr>
          <p:cNvPr id="8" name="Content Placeholder 7">
            <a:extLst>
              <a:ext uri="{FF2B5EF4-FFF2-40B4-BE49-F238E27FC236}">
                <a16:creationId xmlns:a16="http://schemas.microsoft.com/office/drawing/2014/main" id="{63434207-4164-442E-A7E9-A67E0A05FDA0}"/>
              </a:ext>
            </a:extLst>
          </p:cNvPr>
          <p:cNvSpPr>
            <a:spLocks noGrp="1"/>
          </p:cNvSpPr>
          <p:nvPr>
            <p:ph sz="quarter" idx="16"/>
          </p:nvPr>
        </p:nvSpPr>
        <p:spPr>
          <a:xfrm>
            <a:off x="2286000" y="4100052"/>
            <a:ext cx="4572000" cy="432000"/>
          </a:xfrm>
        </p:spPr>
        <p:txBody>
          <a:bodyPr/>
          <a:lstStyle/>
          <a:p>
            <a:pPr marL="432" indent="0">
              <a:buNone/>
            </a:pPr>
            <a:r>
              <a:rPr lang="en-US" altLang="en-US" sz="2000" dirty="0" err="1">
                <a:solidFill>
                  <a:schemeClr val="tx1"/>
                </a:solidFill>
                <a:latin typeface="Courier New" panose="02070309020205020404" pitchFamily="49" charset="0"/>
                <a:cs typeface="Courier New" panose="02070309020205020404" pitchFamily="49" charset="0"/>
              </a:rPr>
              <a:t>sudo</a:t>
            </a:r>
            <a:r>
              <a:rPr lang="en-US" altLang="en-US" sz="2000" dirty="0">
                <a:solidFill>
                  <a:schemeClr val="tx1"/>
                </a:solidFill>
                <a:latin typeface="Courier New" panose="02070309020205020404" pitchFamily="49" charset="0"/>
                <a:cs typeface="Courier New" panose="02070309020205020404" pitchFamily="49" charset="0"/>
              </a:rPr>
              <a:t> pip3 install matplotlib</a:t>
            </a:r>
          </a:p>
        </p:txBody>
      </p:sp>
      <p:sp>
        <p:nvSpPr>
          <p:cNvPr id="9" name="Content Placeholder 8">
            <a:extLst>
              <a:ext uri="{FF2B5EF4-FFF2-40B4-BE49-F238E27FC236}">
                <a16:creationId xmlns:a16="http://schemas.microsoft.com/office/drawing/2014/main" id="{FE7A9EE8-EA14-4CFE-A38C-EDBB541E2BCC}"/>
              </a:ext>
            </a:extLst>
          </p:cNvPr>
          <p:cNvSpPr>
            <a:spLocks noGrp="1"/>
          </p:cNvSpPr>
          <p:nvPr>
            <p:ph sz="quarter" idx="17"/>
          </p:nvPr>
        </p:nvSpPr>
        <p:spPr>
          <a:xfrm>
            <a:off x="457200" y="4727049"/>
            <a:ext cx="8229600" cy="756000"/>
          </a:xfrm>
        </p:spPr>
        <p:txBody>
          <a:bodyPr/>
          <a:lstStyle/>
          <a:p>
            <a:r>
              <a:rPr lang="en-US" altLang="en-US" sz="2000" b="1" dirty="0"/>
              <a:t>See Appendix F in your textbook for more information about packages and the </a:t>
            </a:r>
            <a:r>
              <a:rPr lang="en-US" altLang="en-US" sz="2000" dirty="0">
                <a:latin typeface="Courier New" panose="02070309020205020404" pitchFamily="49" charset="0"/>
                <a:cs typeface="Courier New" panose="02070309020205020404" pitchFamily="49" charset="0"/>
              </a:rPr>
              <a:t>pip</a:t>
            </a:r>
            <a:r>
              <a:rPr lang="en-US" altLang="en-US" sz="2000" b="1" dirty="0"/>
              <a:t> utility.</a:t>
            </a:r>
          </a:p>
        </p:txBody>
      </p:sp>
    </p:spTree>
    <p:extLst>
      <p:ext uri="{BB962C8B-B14F-4D97-AF65-F5344CB8AC3E}">
        <p14:creationId xmlns:p14="http://schemas.microsoft.com/office/powerpoint/2010/main" val="7760701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9CD042-6E9C-4BB5-BC09-66D573EA3261}"/>
              </a:ext>
            </a:extLst>
          </p:cNvPr>
          <p:cNvSpPr>
            <a:spLocks noGrp="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dirty="0">
                <a:cs typeface="Courier New" panose="02070309020205020404" pitchFamily="49" charset="0"/>
              </a:rPr>
              <a:t> </a:t>
            </a:r>
            <a:r>
              <a:rPr lang="en-US" altLang="en-US" sz="2000" b="0" dirty="0">
                <a:cs typeface="Courier New" panose="02070309020205020404" pitchFamily="49" charset="0"/>
              </a:rPr>
              <a:t>(3 of 4)</a:t>
            </a:r>
            <a:endParaRPr lang="en-US" dirty="0"/>
          </a:p>
        </p:txBody>
      </p:sp>
      <p:sp>
        <p:nvSpPr>
          <p:cNvPr id="5" name="Content Placeholder 4">
            <a:extLst>
              <a:ext uri="{FF2B5EF4-FFF2-40B4-BE49-F238E27FC236}">
                <a16:creationId xmlns:a16="http://schemas.microsoft.com/office/drawing/2014/main" id="{30565D88-D80A-41E9-A51F-B910C5BBE985}"/>
              </a:ext>
            </a:extLst>
          </p:cNvPr>
          <p:cNvSpPr>
            <a:spLocks noGrp="1"/>
          </p:cNvSpPr>
          <p:nvPr>
            <p:ph sz="quarter" idx="13"/>
          </p:nvPr>
        </p:nvSpPr>
        <p:spPr>
          <a:xfrm>
            <a:off x="457200" y="1552575"/>
            <a:ext cx="8229600" cy="756000"/>
          </a:xfrm>
        </p:spPr>
        <p:txBody>
          <a:bodyPr/>
          <a:lstStyle/>
          <a:p>
            <a:r>
              <a:rPr lang="en-US" altLang="en-US" sz="2000" b="1" dirty="0"/>
              <a:t>To verify the package was installed, start I</a:t>
            </a:r>
            <a:r>
              <a:rPr lang="en-US" altLang="en-US" sz="100" b="1" dirty="0"/>
              <a:t> </a:t>
            </a:r>
            <a:r>
              <a:rPr lang="en-US" altLang="en-US" sz="2000" b="1" dirty="0"/>
              <a:t>D</a:t>
            </a:r>
            <a:r>
              <a:rPr lang="en-US" altLang="en-US" sz="100" b="1" dirty="0"/>
              <a:t> </a:t>
            </a:r>
            <a:r>
              <a:rPr lang="en-US" altLang="en-US" sz="2000" b="1" dirty="0"/>
              <a:t>L</a:t>
            </a:r>
            <a:r>
              <a:rPr lang="en-US" altLang="en-US" sz="100" b="1" dirty="0"/>
              <a:t> </a:t>
            </a:r>
            <a:r>
              <a:rPr lang="en-US" altLang="en-US" sz="2000" b="1" dirty="0"/>
              <a:t>E and enter this command:</a:t>
            </a:r>
            <a:endParaRPr lang="en-US" sz="2000" b="1" dirty="0"/>
          </a:p>
        </p:txBody>
      </p:sp>
      <p:sp>
        <p:nvSpPr>
          <p:cNvPr id="6" name="Content Placeholder 5">
            <a:extLst>
              <a:ext uri="{FF2B5EF4-FFF2-40B4-BE49-F238E27FC236}">
                <a16:creationId xmlns:a16="http://schemas.microsoft.com/office/drawing/2014/main" id="{B2B03290-440B-4147-94A5-01429BF6626E}"/>
              </a:ext>
            </a:extLst>
          </p:cNvPr>
          <p:cNvSpPr>
            <a:spLocks noGrp="1"/>
          </p:cNvSpPr>
          <p:nvPr>
            <p:ph sz="quarter" idx="14"/>
          </p:nvPr>
        </p:nvSpPr>
        <p:spPr>
          <a:xfrm>
            <a:off x="2736000" y="2485477"/>
            <a:ext cx="3672000" cy="468000"/>
          </a:xfrm>
        </p:spPr>
        <p:txBody>
          <a:bodyPr/>
          <a:lstStyle/>
          <a:p>
            <a:pPr eaLnBrk="1" hangingPunct="1">
              <a:spcBef>
                <a:spcPct val="0"/>
              </a:spcBef>
              <a:buFontTx/>
              <a:buNone/>
            </a:pPr>
            <a:r>
              <a:rPr lang="en-US" altLang="en-US" sz="2000" dirty="0">
                <a:solidFill>
                  <a:schemeClr val="tx1"/>
                </a:solidFill>
                <a:latin typeface="Courier New" panose="02070309020205020404" pitchFamily="49" charset="0"/>
                <a:cs typeface="Courier New" panose="02070309020205020404" pitchFamily="49" charset="0"/>
              </a:rPr>
              <a:t>&gt;&gt;&gt; import matplotlib</a:t>
            </a:r>
          </a:p>
        </p:txBody>
      </p:sp>
      <p:sp>
        <p:nvSpPr>
          <p:cNvPr id="7" name="Content Placeholder 6">
            <a:extLst>
              <a:ext uri="{FF2B5EF4-FFF2-40B4-BE49-F238E27FC236}">
                <a16:creationId xmlns:a16="http://schemas.microsoft.com/office/drawing/2014/main" id="{A6DE5AB7-3CB0-4757-A8CC-2A5F00418B0F}"/>
              </a:ext>
            </a:extLst>
          </p:cNvPr>
          <p:cNvSpPr>
            <a:spLocks noGrp="1"/>
          </p:cNvSpPr>
          <p:nvPr>
            <p:ph sz="quarter" idx="15"/>
          </p:nvPr>
        </p:nvSpPr>
        <p:spPr>
          <a:xfrm>
            <a:off x="468313" y="3139812"/>
            <a:ext cx="8218485" cy="756000"/>
          </a:xfrm>
        </p:spPr>
        <p:txBody>
          <a:bodyPr/>
          <a:lstStyle/>
          <a:p>
            <a:r>
              <a:rPr lang="en-US" altLang="en-US" sz="2000" b="1" dirty="0"/>
              <a:t>If you don't see any error messages, you can assume the package was properly installed.</a:t>
            </a:r>
            <a:endParaRPr lang="en-US" sz="2000" b="1" dirty="0"/>
          </a:p>
        </p:txBody>
      </p:sp>
    </p:spTree>
    <p:extLst>
      <p:ext uri="{BB962C8B-B14F-4D97-AF65-F5344CB8AC3E}">
        <p14:creationId xmlns:p14="http://schemas.microsoft.com/office/powerpoint/2010/main" val="20481597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9CD042-6E9C-4BB5-BC09-66D573EA3261}"/>
              </a:ext>
            </a:extLst>
          </p:cNvPr>
          <p:cNvSpPr>
            <a:spLocks noGrp="1"/>
          </p:cNvSpPr>
          <p:nvPr>
            <p:ph type="title"/>
          </p:nvPr>
        </p:nvSpPr>
        <p:spPr/>
        <p:txBody>
          <a:bodyPr/>
          <a:lstStyle/>
          <a:p>
            <a:r>
              <a:rPr lang="en-US" altLang="en-US" dirty="0"/>
              <a:t>Plotting Data With </a:t>
            </a:r>
            <a:r>
              <a:rPr lang="en-US" altLang="en-US" dirty="0">
                <a:latin typeface="Courier New" panose="02070309020205020404" pitchFamily="49" charset="0"/>
                <a:cs typeface="Courier New" panose="02070309020205020404" pitchFamily="49" charset="0"/>
              </a:rPr>
              <a:t>matplotlib</a:t>
            </a:r>
            <a:r>
              <a:rPr lang="en-US" altLang="en-US" dirty="0">
                <a:cs typeface="Courier New" panose="02070309020205020404" pitchFamily="49" charset="0"/>
              </a:rPr>
              <a:t> </a:t>
            </a:r>
            <a:r>
              <a:rPr lang="en-US" altLang="en-US" sz="2000" b="0" dirty="0">
                <a:cs typeface="Courier New" panose="02070309020205020404" pitchFamily="49" charset="0"/>
              </a:rPr>
              <a:t>(4 of 4)</a:t>
            </a:r>
            <a:endParaRPr lang="en-US" dirty="0"/>
          </a:p>
        </p:txBody>
      </p:sp>
      <p:sp>
        <p:nvSpPr>
          <p:cNvPr id="5" name="Content Placeholder 4">
            <a:extLst>
              <a:ext uri="{FF2B5EF4-FFF2-40B4-BE49-F238E27FC236}">
                <a16:creationId xmlns:a16="http://schemas.microsoft.com/office/drawing/2014/main" id="{30565D88-D80A-41E9-A51F-B910C5BBE985}"/>
              </a:ext>
            </a:extLst>
          </p:cNvPr>
          <p:cNvSpPr>
            <a:spLocks noGrp="1"/>
          </p:cNvSpPr>
          <p:nvPr>
            <p:ph sz="quarter" idx="13"/>
          </p:nvPr>
        </p:nvSpPr>
        <p:spPr>
          <a:xfrm>
            <a:off x="457200" y="1552574"/>
            <a:ext cx="8229600" cy="1667703"/>
          </a:xfrm>
        </p:spPr>
        <p:txBody>
          <a:bodyPr/>
          <a:lstStyle/>
          <a:p>
            <a:r>
              <a:rPr lang="en-US" altLang="en-US" sz="2200" b="1" dirty="0"/>
              <a:t>The </a:t>
            </a:r>
            <a:r>
              <a:rPr lang="en-US" altLang="en-US" sz="2200" b="1" dirty="0">
                <a:latin typeface="Courier New" panose="02070309020205020404" pitchFamily="49" charset="0"/>
                <a:cs typeface="Courier New" panose="02070309020205020404" pitchFamily="49" charset="0"/>
              </a:rPr>
              <a:t>matplotlib</a:t>
            </a:r>
            <a:r>
              <a:rPr lang="en-US" altLang="en-US" sz="2200" b="1" dirty="0"/>
              <a:t> package contains a module named </a:t>
            </a:r>
            <a:r>
              <a:rPr lang="en-US" altLang="en-US" sz="2200" b="1" dirty="0" err="1">
                <a:latin typeface="Courier New" panose="02070309020205020404" pitchFamily="49" charset="0"/>
                <a:cs typeface="Courier New" panose="02070309020205020404" pitchFamily="49" charset="0"/>
              </a:rPr>
              <a:t>pyplot</a:t>
            </a:r>
            <a:r>
              <a:rPr lang="en-US" altLang="en-US" sz="2200" b="1" dirty="0"/>
              <a:t> that you will need to import.</a:t>
            </a:r>
          </a:p>
          <a:p>
            <a:r>
              <a:rPr lang="en-US" altLang="en-US" sz="2200" b="1" dirty="0"/>
              <a:t>Use the following </a:t>
            </a:r>
            <a:r>
              <a:rPr lang="en-US" altLang="en-US" sz="2200" b="1" dirty="0">
                <a:latin typeface="Courier New" panose="02070309020205020404" pitchFamily="49" charset="0"/>
                <a:cs typeface="Courier New" panose="02070309020205020404" pitchFamily="49" charset="0"/>
              </a:rPr>
              <a:t>import</a:t>
            </a:r>
            <a:r>
              <a:rPr lang="en-US" altLang="en-US" sz="2200" b="1" dirty="0"/>
              <a:t> statement to </a:t>
            </a:r>
            <a:r>
              <a:rPr lang="en-US" altLang="en-US" sz="2200" b="1" dirty="0">
                <a:cs typeface="Courier New" panose="02070309020205020404" pitchFamily="49" charset="0"/>
              </a:rPr>
              <a:t>import</a:t>
            </a:r>
            <a:r>
              <a:rPr lang="en-US" altLang="en-US" sz="2200" b="1" dirty="0"/>
              <a:t> the module and create an alias named </a:t>
            </a:r>
            <a:r>
              <a:rPr lang="en-US" altLang="en-US" sz="2200" b="1" dirty="0" err="1">
                <a:latin typeface="Courier New" panose="02070309020205020404" pitchFamily="49" charset="0"/>
                <a:cs typeface="Courier New" panose="02070309020205020404" pitchFamily="49" charset="0"/>
              </a:rPr>
              <a:t>plt</a:t>
            </a:r>
            <a:r>
              <a:rPr lang="en-US" altLang="en-US" sz="2200" b="1" dirty="0"/>
              <a:t>:</a:t>
            </a:r>
            <a:endParaRPr lang="en-US" sz="2200" b="1" dirty="0"/>
          </a:p>
        </p:txBody>
      </p:sp>
      <p:sp>
        <p:nvSpPr>
          <p:cNvPr id="6" name="Content Placeholder 5">
            <a:extLst>
              <a:ext uri="{FF2B5EF4-FFF2-40B4-BE49-F238E27FC236}">
                <a16:creationId xmlns:a16="http://schemas.microsoft.com/office/drawing/2014/main" id="{B2B03290-440B-4147-94A5-01429BF6626E}"/>
              </a:ext>
            </a:extLst>
          </p:cNvPr>
          <p:cNvSpPr>
            <a:spLocks noGrp="1"/>
          </p:cNvSpPr>
          <p:nvPr>
            <p:ph sz="quarter" idx="14"/>
          </p:nvPr>
        </p:nvSpPr>
        <p:spPr>
          <a:xfrm>
            <a:off x="1785109" y="3493922"/>
            <a:ext cx="5573782" cy="468000"/>
          </a:xfrm>
        </p:spPr>
        <p:txBody>
          <a:bodyPr/>
          <a:lstStyle/>
          <a:p>
            <a:pPr eaLnBrk="1" hangingPunct="1">
              <a:spcBef>
                <a:spcPct val="0"/>
              </a:spcBef>
              <a:buFontTx/>
              <a:buNone/>
            </a:pPr>
            <a:r>
              <a:rPr lang="en-US" altLang="en-US" sz="2200" dirty="0">
                <a:latin typeface="Courier New" panose="02070309020205020404" pitchFamily="49" charset="0"/>
                <a:cs typeface="Courier New" panose="02070309020205020404" pitchFamily="49" charset="0"/>
              </a:rPr>
              <a:t>import </a:t>
            </a:r>
            <a:r>
              <a:rPr lang="en-US" altLang="en-US" sz="2200" dirty="0" err="1">
                <a:latin typeface="Courier New" panose="02070309020205020404" pitchFamily="49" charset="0"/>
                <a:cs typeface="Courier New" panose="02070309020205020404" pitchFamily="49" charset="0"/>
              </a:rPr>
              <a:t>matplotlib.pyplot</a:t>
            </a:r>
            <a:r>
              <a:rPr lang="en-US" altLang="en-US" sz="2200" dirty="0">
                <a:latin typeface="Courier New" panose="02070309020205020404" pitchFamily="49" charset="0"/>
                <a:cs typeface="Courier New" panose="02070309020205020404" pitchFamily="49" charset="0"/>
              </a:rPr>
              <a:t> as </a:t>
            </a:r>
            <a:r>
              <a:rPr lang="en-US" altLang="en-US" sz="2200" dirty="0" err="1">
                <a:latin typeface="Courier New" panose="02070309020205020404" pitchFamily="49" charset="0"/>
                <a:cs typeface="Courier New" panose="02070309020205020404" pitchFamily="49" charset="0"/>
              </a:rPr>
              <a:t>plt</a:t>
            </a:r>
            <a:endParaRPr lang="en-US" altLang="en-US" sz="2200" dirty="0">
              <a:latin typeface="Courier New" panose="02070309020205020404" pitchFamily="49" charset="0"/>
              <a:cs typeface="Courier New" panose="02070309020205020404" pitchFamily="49" charset="0"/>
            </a:endParaRPr>
          </a:p>
        </p:txBody>
      </p:sp>
      <p:sp>
        <p:nvSpPr>
          <p:cNvPr id="7" name="Content Placeholder 6">
            <a:extLst>
              <a:ext uri="{FF2B5EF4-FFF2-40B4-BE49-F238E27FC236}">
                <a16:creationId xmlns:a16="http://schemas.microsoft.com/office/drawing/2014/main" id="{A6DE5AB7-3CB0-4757-A8CC-2A5F00418B0F}"/>
              </a:ext>
            </a:extLst>
          </p:cNvPr>
          <p:cNvSpPr>
            <a:spLocks noGrp="1"/>
          </p:cNvSpPr>
          <p:nvPr>
            <p:ph sz="quarter" idx="15"/>
          </p:nvPr>
        </p:nvSpPr>
        <p:spPr>
          <a:xfrm>
            <a:off x="468313" y="4235567"/>
            <a:ext cx="8218485" cy="919529"/>
          </a:xfrm>
        </p:spPr>
        <p:txBody>
          <a:bodyPr/>
          <a:lstStyle/>
          <a:p>
            <a:pPr marL="0" indent="0" eaLnBrk="1" hangingPunct="1">
              <a:spcBef>
                <a:spcPct val="0"/>
              </a:spcBef>
              <a:buFontTx/>
              <a:buNone/>
            </a:pPr>
            <a:r>
              <a:rPr lang="en-US" altLang="en-US" sz="2200" b="1" dirty="0"/>
              <a:t>For more information about the </a:t>
            </a:r>
            <a:r>
              <a:rPr lang="en-US" altLang="en-US" sz="2200" dirty="0">
                <a:latin typeface="Courier New" panose="02070309020205020404" pitchFamily="49" charset="0"/>
                <a:cs typeface="Courier New" panose="02070309020205020404" pitchFamily="49" charset="0"/>
              </a:rPr>
              <a:t>import</a:t>
            </a:r>
            <a:r>
              <a:rPr lang="en-US" altLang="en-US" sz="2200" i="1" dirty="0"/>
              <a:t> </a:t>
            </a:r>
            <a:r>
              <a:rPr lang="en-US" altLang="en-US" sz="2200" b="1" dirty="0"/>
              <a:t>statement, see Appendix E in your textbook.</a:t>
            </a:r>
          </a:p>
        </p:txBody>
      </p:sp>
    </p:spTree>
    <p:extLst>
      <p:ext uri="{BB962C8B-B14F-4D97-AF65-F5344CB8AC3E}">
        <p14:creationId xmlns:p14="http://schemas.microsoft.com/office/powerpoint/2010/main" val="2470621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755F79EC-00AA-4D49-B50E-05DBCD3A1406}"/>
              </a:ext>
            </a:extLst>
          </p:cNvPr>
          <p:cNvSpPr>
            <a:spLocks noGrp="1"/>
          </p:cNvSpPr>
          <p:nvPr>
            <p:ph type="title"/>
          </p:nvPr>
        </p:nvSpPr>
        <p:spPr/>
        <p:txBody>
          <a:bodyPr/>
          <a:lstStyle/>
          <a:p>
            <a:r>
              <a:rPr lang="en-US" altLang="en-US" sz="3200" dirty="0"/>
              <a:t>Plotting a Line Graph With the </a:t>
            </a:r>
            <a:r>
              <a:rPr lang="en-US" altLang="en-US" sz="3200" dirty="0">
                <a:latin typeface="Courier New" panose="02070309020205020404" pitchFamily="49" charset="0"/>
                <a:cs typeface="Courier New" panose="02070309020205020404" pitchFamily="49" charset="0"/>
              </a:rPr>
              <a:t>plot</a:t>
            </a:r>
            <a:r>
              <a:rPr lang="en-US" altLang="en-US" sz="3200" dirty="0">
                <a:cs typeface="Courier New" panose="02070309020205020404" pitchFamily="49" charset="0"/>
              </a:rPr>
              <a:t> Function </a:t>
            </a:r>
            <a:r>
              <a:rPr lang="en-US" altLang="en-US" sz="2000" b="0" dirty="0">
                <a:cs typeface="Courier New" panose="02070309020205020404" pitchFamily="49" charset="0"/>
              </a:rPr>
              <a:t>(1 of 4)</a:t>
            </a:r>
            <a:endParaRPr lang="en-US" sz="2000" b="0" dirty="0"/>
          </a:p>
        </p:txBody>
      </p:sp>
      <p:sp>
        <p:nvSpPr>
          <p:cNvPr id="18" name="Content Placeholder 17">
            <a:extLst>
              <a:ext uri="{FF2B5EF4-FFF2-40B4-BE49-F238E27FC236}">
                <a16:creationId xmlns:a16="http://schemas.microsoft.com/office/drawing/2014/main" id="{FDBD091D-0D1C-4E1C-8C64-C39AE49C83FA}"/>
              </a:ext>
            </a:extLst>
          </p:cNvPr>
          <p:cNvSpPr>
            <a:spLocks noGrp="1"/>
          </p:cNvSpPr>
          <p:nvPr>
            <p:ph sz="quarter" idx="13"/>
          </p:nvPr>
        </p:nvSpPr>
        <p:spPr>
          <a:xfrm>
            <a:off x="457199" y="1556328"/>
            <a:ext cx="8400473" cy="2008908"/>
          </a:xfrm>
        </p:spPr>
        <p:txBody>
          <a:bodyPr/>
          <a:lstStyle/>
          <a:p>
            <a:r>
              <a:rPr lang="en-US" altLang="en-US" sz="2200" dirty="0"/>
              <a:t>Use the </a:t>
            </a:r>
            <a:r>
              <a:rPr lang="en-US" altLang="en-US" sz="2200" dirty="0">
                <a:latin typeface="Courier New" panose="02070309020205020404" pitchFamily="49" charset="0"/>
                <a:cs typeface="Courier New" panose="02070309020205020404" pitchFamily="49" charset="0"/>
              </a:rPr>
              <a:t>plot</a:t>
            </a:r>
            <a:r>
              <a:rPr lang="en-US" altLang="en-US" sz="2200" dirty="0"/>
              <a:t> function to create a line graph that connects a series of points with straight lines.</a:t>
            </a:r>
          </a:p>
          <a:p>
            <a:r>
              <a:rPr lang="en-US" altLang="en-US" sz="2200" dirty="0"/>
              <a:t>The line graph has a horizontal </a:t>
            </a:r>
            <a:r>
              <a:rPr lang="en-US" altLang="en-US" sz="2200" i="1" dirty="0"/>
              <a:t>X</a:t>
            </a:r>
            <a:r>
              <a:rPr lang="en-US" altLang="en-US" sz="2200" dirty="0"/>
              <a:t> axis, and a vertical </a:t>
            </a:r>
            <a:r>
              <a:rPr lang="en-US" altLang="en-US" sz="2200" i="1" dirty="0"/>
              <a:t>Y</a:t>
            </a:r>
            <a:r>
              <a:rPr lang="en-US" altLang="en-US" sz="2200" dirty="0"/>
              <a:t> axis. </a:t>
            </a:r>
          </a:p>
          <a:p>
            <a:r>
              <a:rPr lang="en-US" altLang="en-US" sz="2200" dirty="0"/>
              <a:t>Each point in the graph is located at a (</a:t>
            </a:r>
            <a:r>
              <a:rPr lang="en-US" altLang="en-US" sz="2200" i="1" dirty="0"/>
              <a:t>X</a:t>
            </a:r>
            <a:r>
              <a:rPr lang="en-US" altLang="en-US" sz="2200" dirty="0"/>
              <a:t>,</a:t>
            </a:r>
            <a:r>
              <a:rPr lang="en-US" altLang="en-US" sz="2200" i="1" dirty="0"/>
              <a:t>Y</a:t>
            </a:r>
            <a:r>
              <a:rPr lang="en-US" altLang="en-US" sz="2200" dirty="0"/>
              <a:t>) coordinate.</a:t>
            </a:r>
          </a:p>
        </p:txBody>
      </p:sp>
      <p:pic>
        <p:nvPicPr>
          <p:cNvPr id="21" name="Content Placeholder 20" descr="An output displays a line graph titled, sample data. For long description in Notes pane, press F6.">
            <a:extLst>
              <a:ext uri="{FF2B5EF4-FFF2-40B4-BE49-F238E27FC236}">
                <a16:creationId xmlns:a16="http://schemas.microsoft.com/office/drawing/2014/main" id="{60743694-2F4F-4800-88FC-C0E12B2E0432}"/>
              </a:ext>
            </a:extLst>
          </p:cNvPr>
          <p:cNvPicPr>
            <a:picLocks noGrp="1" noChangeAspect="1"/>
          </p:cNvPicPr>
          <p:nvPr>
            <p:ph sz="quarter" idx="14"/>
          </p:nvPr>
        </p:nvPicPr>
        <p:blipFill>
          <a:blip r:embed="rId3"/>
          <a:stretch>
            <a:fillRect/>
          </a:stretch>
        </p:blipFill>
        <p:spPr>
          <a:xfrm>
            <a:off x="3125935" y="3774501"/>
            <a:ext cx="3206167" cy="2404624"/>
          </a:xfrm>
        </p:spPr>
      </p:pic>
    </p:spTree>
    <p:extLst>
      <p:ext uri="{BB962C8B-B14F-4D97-AF65-F5344CB8AC3E}">
        <p14:creationId xmlns:p14="http://schemas.microsoft.com/office/powerpoint/2010/main" val="21032022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FF09C6-68A8-4CC8-B0CC-E6692D2EF145}"/>
              </a:ext>
            </a:extLst>
          </p:cNvPr>
          <p:cNvSpPr>
            <a:spLocks noGrp="1"/>
          </p:cNvSpPr>
          <p:nvPr>
            <p:ph type="title"/>
          </p:nvPr>
        </p:nvSpPr>
        <p:spPr/>
        <p:txBody>
          <a:bodyPr/>
          <a:lstStyle/>
          <a:p>
            <a:r>
              <a:rPr lang="en-US" altLang="en-US" sz="3200" dirty="0"/>
              <a:t>Plotting a Line Graph With the </a:t>
            </a:r>
            <a:r>
              <a:rPr lang="en-US" altLang="en-US" sz="3200" dirty="0">
                <a:latin typeface="Courier New" panose="02070309020205020404" pitchFamily="49" charset="0"/>
                <a:cs typeface="Courier New" panose="02070309020205020404" pitchFamily="49" charset="0"/>
              </a:rPr>
              <a:t>plot</a:t>
            </a:r>
            <a:r>
              <a:rPr lang="en-US" altLang="en-US" sz="3200" dirty="0">
                <a:cs typeface="Courier New" panose="02070309020205020404" pitchFamily="49" charset="0"/>
              </a:rPr>
              <a:t> Function </a:t>
            </a:r>
            <a:r>
              <a:rPr lang="en-US" altLang="en-US" sz="2000" b="0" dirty="0">
                <a:cs typeface="Courier New" panose="02070309020205020404" pitchFamily="49" charset="0"/>
              </a:rPr>
              <a:t>(2 of 4)</a:t>
            </a:r>
            <a:endParaRPr lang="en-US" sz="3200" dirty="0"/>
          </a:p>
        </p:txBody>
      </p:sp>
      <p:sp>
        <p:nvSpPr>
          <p:cNvPr id="6" name="Content Placeholder 5">
            <a:extLst>
              <a:ext uri="{FF2B5EF4-FFF2-40B4-BE49-F238E27FC236}">
                <a16:creationId xmlns:a16="http://schemas.microsoft.com/office/drawing/2014/main" id="{C2BE9656-181C-43BD-A679-14DB73C1D905}"/>
              </a:ext>
            </a:extLst>
          </p:cNvPr>
          <p:cNvSpPr>
            <a:spLocks noGrp="1"/>
          </p:cNvSpPr>
          <p:nvPr>
            <p:ph sz="quarter" idx="13"/>
          </p:nvPr>
        </p:nvSpPr>
        <p:spPr>
          <a:xfrm>
            <a:off x="466603" y="1552576"/>
            <a:ext cx="3132000" cy="324000"/>
          </a:xfrm>
        </p:spPr>
        <p:txBody>
          <a:bodyPr/>
          <a:lstStyle/>
          <a:p>
            <a:pPr marL="432" indent="0">
              <a:buNone/>
            </a:pPr>
            <a:r>
              <a:rPr lang="en-US" altLang="en-US" sz="1400" b="1" dirty="0"/>
              <a:t>Program 7-20 (line_graph1.py)</a:t>
            </a:r>
          </a:p>
        </p:txBody>
      </p:sp>
      <p:sp>
        <p:nvSpPr>
          <p:cNvPr id="7" name="Content Placeholder 6">
            <a:extLst>
              <a:ext uri="{FF2B5EF4-FFF2-40B4-BE49-F238E27FC236}">
                <a16:creationId xmlns:a16="http://schemas.microsoft.com/office/drawing/2014/main" id="{ED0BEC50-64E1-444C-968D-DE2BB89269F8}"/>
              </a:ext>
            </a:extLst>
          </p:cNvPr>
          <p:cNvSpPr>
            <a:spLocks noGrp="1"/>
          </p:cNvSpPr>
          <p:nvPr>
            <p:ph sz="quarter" idx="14"/>
          </p:nvPr>
        </p:nvSpPr>
        <p:spPr>
          <a:xfrm>
            <a:off x="457201" y="1940469"/>
            <a:ext cx="6028006" cy="4404059"/>
          </a:xfrm>
        </p:spPr>
        <p:txBody>
          <a:bodyPr tIns="0"/>
          <a:lstStyle/>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1 # This program displays a simple line graph.</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2 import </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matplotlib.pyplot</a:t>
            </a: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as </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plt</a:t>
            </a:r>
            <a:endPar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endParaRP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3 </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4 def main():</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5     # Create lists with the X and Y coordinates of each data point.</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6     </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x_coords</a:t>
            </a: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 [0, 1, 2, 3, 4]</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7     </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y_coords</a:t>
            </a: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 [0, 3, 1, 5, 2]</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8 </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9     # Build the line graph.</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10     </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plt.plot</a:t>
            </a: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x_coords</a:t>
            </a: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 </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y_coords</a:t>
            </a: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11 </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12     # Display the line graph.</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13     </a:t>
            </a:r>
            <a:r>
              <a:rPr lang="en-US" altLang="en-US" sz="1600" dirty="0" err="1">
                <a:solidFill>
                  <a:schemeClr val="tx1"/>
                </a:solidFill>
                <a:latin typeface="Courier New" panose="02070309020205020404" pitchFamily="49" charset="0"/>
                <a:ea typeface="Calibri" panose="020F0502020204030204" pitchFamily="34" charset="0"/>
                <a:cs typeface="Courier New" panose="02070309020205020404" pitchFamily="49" charset="0"/>
              </a:rPr>
              <a:t>plt.show</a:t>
            </a: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14 </a:t>
            </a:r>
          </a:p>
          <a:p>
            <a:pPr eaLnBrk="1" hangingPunct="1">
              <a:spcBef>
                <a:spcPct val="0"/>
              </a:spcBef>
              <a:buFontTx/>
              <a:buNone/>
            </a:pPr>
            <a:r>
              <a:rPr lang="en-US" altLang="en-US" sz="1600" dirty="0">
                <a:solidFill>
                  <a:schemeClr val="tx1"/>
                </a:solidFill>
                <a:latin typeface="Courier New" panose="02070309020205020404" pitchFamily="49" charset="0"/>
                <a:ea typeface="Calibri" panose="020F0502020204030204" pitchFamily="34" charset="0"/>
                <a:cs typeface="Courier New" panose="02070309020205020404" pitchFamily="49" charset="0"/>
              </a:rPr>
              <a:t>15 # Call the main function.</a:t>
            </a:r>
          </a:p>
          <a:p>
            <a:pPr eaLnBrk="1" hangingPunct="1">
              <a:spcBef>
                <a:spcPct val="0"/>
              </a:spcBef>
              <a:buFontTx/>
              <a:buNone/>
            </a:pPr>
            <a:r>
              <a:rPr lang="en-US" altLang="en-US" sz="1600" dirty="0">
                <a:solidFill>
                  <a:schemeClr val="tx1"/>
                </a:solidFill>
                <a:latin typeface="Courier New" panose="02070309020205020404" pitchFamily="49" charset="0"/>
                <a:cs typeface="Courier New" panose="02070309020205020404" pitchFamily="49" charset="0"/>
              </a:rPr>
              <a:t>16 if _ _name_ _ == '_ _main_ _':</a:t>
            </a:r>
          </a:p>
          <a:p>
            <a:pPr eaLnBrk="1" hangingPunct="1">
              <a:spcBef>
                <a:spcPct val="0"/>
              </a:spcBef>
              <a:buFontTx/>
              <a:buNone/>
            </a:pPr>
            <a:r>
              <a:rPr lang="en-US" altLang="en-US" sz="1600" dirty="0">
                <a:solidFill>
                  <a:schemeClr val="tx1"/>
                </a:solidFill>
                <a:latin typeface="Courier New" panose="02070309020205020404" pitchFamily="49" charset="0"/>
                <a:cs typeface="Courier New" panose="02070309020205020404" pitchFamily="49" charset="0"/>
              </a:rPr>
              <a:t>17     main()</a:t>
            </a:r>
          </a:p>
        </p:txBody>
      </p:sp>
      <p:pic>
        <p:nvPicPr>
          <p:cNvPr id="10" name="Content Placeholder 9" descr="An output displays a line graph titled, sample data. For long description in Notes pane, press F6.">
            <a:extLst>
              <a:ext uri="{FF2B5EF4-FFF2-40B4-BE49-F238E27FC236}">
                <a16:creationId xmlns:a16="http://schemas.microsoft.com/office/drawing/2014/main" id="{814E020A-0026-4585-B886-198A095399C4}"/>
              </a:ext>
            </a:extLst>
          </p:cNvPr>
          <p:cNvPicPr>
            <a:picLocks noGrp="1" noChangeAspect="1"/>
          </p:cNvPicPr>
          <p:nvPr>
            <p:ph sz="quarter" idx="15"/>
          </p:nvPr>
        </p:nvPicPr>
        <p:blipFill>
          <a:blip r:embed="rId3"/>
          <a:stretch>
            <a:fillRect/>
          </a:stretch>
        </p:blipFill>
        <p:spPr>
          <a:xfrm>
            <a:off x="6826629" y="2598614"/>
            <a:ext cx="2152183" cy="1617402"/>
          </a:xfrm>
        </p:spPr>
      </p:pic>
    </p:spTree>
    <p:extLst>
      <p:ext uri="{BB962C8B-B14F-4D97-AF65-F5344CB8AC3E}">
        <p14:creationId xmlns:p14="http://schemas.microsoft.com/office/powerpoint/2010/main" val="4276676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9CD042-6E9C-4BB5-BC09-66D573EA3261}"/>
              </a:ext>
            </a:extLst>
          </p:cNvPr>
          <p:cNvSpPr>
            <a:spLocks noGrp="1"/>
          </p:cNvSpPr>
          <p:nvPr>
            <p:ph type="title"/>
          </p:nvPr>
        </p:nvSpPr>
        <p:spPr/>
        <p:txBody>
          <a:bodyPr/>
          <a:lstStyle/>
          <a:p>
            <a:r>
              <a:rPr lang="en-US" altLang="en-US" sz="3200" dirty="0"/>
              <a:t>Plotting a Line Graph With the </a:t>
            </a:r>
            <a:r>
              <a:rPr lang="en-US" altLang="en-US" sz="3200" dirty="0">
                <a:latin typeface="Courier New" panose="02070309020205020404" pitchFamily="49" charset="0"/>
                <a:cs typeface="Courier New" panose="02070309020205020404" pitchFamily="49" charset="0"/>
              </a:rPr>
              <a:t>plot</a:t>
            </a:r>
            <a:r>
              <a:rPr lang="en-US" altLang="en-US" sz="3200" dirty="0">
                <a:cs typeface="Courier New" panose="02070309020205020404" pitchFamily="49" charset="0"/>
              </a:rPr>
              <a:t> Function </a:t>
            </a:r>
            <a:r>
              <a:rPr lang="en-US" altLang="en-US" sz="2000" b="0" dirty="0">
                <a:cs typeface="Courier New" panose="02070309020205020404" pitchFamily="49" charset="0"/>
              </a:rPr>
              <a:t>(3 of 4)</a:t>
            </a:r>
            <a:endParaRPr lang="en-US" sz="3200" dirty="0"/>
          </a:p>
        </p:txBody>
      </p:sp>
      <p:sp>
        <p:nvSpPr>
          <p:cNvPr id="5" name="Content Placeholder 4">
            <a:extLst>
              <a:ext uri="{FF2B5EF4-FFF2-40B4-BE49-F238E27FC236}">
                <a16:creationId xmlns:a16="http://schemas.microsoft.com/office/drawing/2014/main" id="{30565D88-D80A-41E9-A51F-B910C5BBE985}"/>
              </a:ext>
            </a:extLst>
          </p:cNvPr>
          <p:cNvSpPr>
            <a:spLocks noGrp="1"/>
          </p:cNvSpPr>
          <p:nvPr>
            <p:ph sz="quarter" idx="13"/>
          </p:nvPr>
        </p:nvSpPr>
        <p:spPr>
          <a:xfrm>
            <a:off x="457200" y="1552573"/>
            <a:ext cx="8229600" cy="864000"/>
          </a:xfrm>
        </p:spPr>
        <p:txBody>
          <a:bodyPr/>
          <a:lstStyle/>
          <a:p>
            <a:r>
              <a:rPr lang="en-US" altLang="en-US" sz="2200" b="1" dirty="0"/>
              <a:t>You can change the lower and upper limits of the </a:t>
            </a:r>
            <a:r>
              <a:rPr lang="en-US" altLang="en-US" sz="2200" b="1" i="1" dirty="0"/>
              <a:t>X</a:t>
            </a:r>
            <a:r>
              <a:rPr lang="en-US" altLang="en-US" sz="2200" b="1" dirty="0"/>
              <a:t> and </a:t>
            </a:r>
            <a:r>
              <a:rPr lang="en-US" altLang="en-US" sz="2200" b="1" i="1" dirty="0"/>
              <a:t>Y</a:t>
            </a:r>
            <a:r>
              <a:rPr lang="en-US" altLang="en-US" sz="2200" b="1" dirty="0"/>
              <a:t> axes by calling the </a:t>
            </a:r>
            <a:r>
              <a:rPr lang="en-US" altLang="en-US" sz="2200" b="1" dirty="0" err="1">
                <a:latin typeface="Courier New" panose="02070309020205020404" pitchFamily="49" charset="0"/>
                <a:cs typeface="Courier New" panose="02070309020205020404" pitchFamily="49" charset="0"/>
              </a:rPr>
              <a:t>xlim</a:t>
            </a:r>
            <a:r>
              <a:rPr lang="en-US" altLang="en-US" sz="2200" b="1" dirty="0"/>
              <a:t> and </a:t>
            </a:r>
            <a:r>
              <a:rPr lang="en-US" altLang="en-US" sz="2200" b="1" dirty="0" err="1">
                <a:latin typeface="Courier New" panose="02070309020205020404" pitchFamily="49" charset="0"/>
                <a:cs typeface="Courier New" panose="02070309020205020404" pitchFamily="49" charset="0"/>
              </a:rPr>
              <a:t>ylim</a:t>
            </a:r>
            <a:r>
              <a:rPr lang="en-US" altLang="en-US" sz="2200" b="1" dirty="0"/>
              <a:t> functions. Example:</a:t>
            </a:r>
            <a:endParaRPr lang="en-US" sz="2200" b="1" dirty="0"/>
          </a:p>
        </p:txBody>
      </p:sp>
      <p:sp>
        <p:nvSpPr>
          <p:cNvPr id="6" name="Content Placeholder 5">
            <a:extLst>
              <a:ext uri="{FF2B5EF4-FFF2-40B4-BE49-F238E27FC236}">
                <a16:creationId xmlns:a16="http://schemas.microsoft.com/office/drawing/2014/main" id="{B2B03290-440B-4147-94A5-01429BF6626E}"/>
              </a:ext>
            </a:extLst>
          </p:cNvPr>
          <p:cNvSpPr>
            <a:spLocks noGrp="1"/>
          </p:cNvSpPr>
          <p:nvPr>
            <p:ph sz="quarter" idx="14"/>
          </p:nvPr>
        </p:nvSpPr>
        <p:spPr>
          <a:xfrm>
            <a:off x="2214000" y="2610292"/>
            <a:ext cx="4716000" cy="864001"/>
          </a:xfrm>
        </p:spPr>
        <p:txBody>
          <a:bodyPr/>
          <a:lstStyle/>
          <a:p>
            <a:pPr eaLnBrk="1" hangingPunct="1">
              <a:spcBef>
                <a:spcPct val="0"/>
              </a:spcBef>
              <a:buFontTx/>
              <a:buNone/>
            </a:pPr>
            <a:r>
              <a:rPr lang="en-US" altLang="en-US" sz="2200" dirty="0" err="1">
                <a:latin typeface="Courier New" panose="02070309020205020404" pitchFamily="49" charset="0"/>
                <a:cs typeface="Courier New" panose="02070309020205020404" pitchFamily="49" charset="0"/>
              </a:rPr>
              <a:t>plt.xlim</a:t>
            </a:r>
            <a:r>
              <a:rPr lang="en-US" altLang="en-US" sz="2200" dirty="0">
                <a:latin typeface="Courier New" panose="02070309020205020404" pitchFamily="49" charset="0"/>
                <a:cs typeface="Courier New" panose="02070309020205020404" pitchFamily="49" charset="0"/>
              </a:rPr>
              <a:t>(</a:t>
            </a:r>
            <a:r>
              <a:rPr lang="en-US" altLang="en-US" sz="2200" dirty="0" err="1">
                <a:latin typeface="Courier New" panose="02070309020205020404" pitchFamily="49" charset="0"/>
                <a:cs typeface="Courier New" panose="02070309020205020404" pitchFamily="49" charset="0"/>
              </a:rPr>
              <a:t>xmin</a:t>
            </a:r>
            <a:r>
              <a:rPr lang="en-US" altLang="en-US" sz="2200" dirty="0">
                <a:latin typeface="Courier New" panose="02070309020205020404" pitchFamily="49" charset="0"/>
                <a:cs typeface="Courier New" panose="02070309020205020404" pitchFamily="49" charset="0"/>
              </a:rPr>
              <a:t>=1, </a:t>
            </a:r>
            <a:r>
              <a:rPr lang="en-US" altLang="en-US" sz="2200" dirty="0" err="1">
                <a:latin typeface="Courier New" panose="02070309020205020404" pitchFamily="49" charset="0"/>
                <a:cs typeface="Courier New" panose="02070309020205020404" pitchFamily="49" charset="0"/>
              </a:rPr>
              <a:t>xmax</a:t>
            </a:r>
            <a:r>
              <a:rPr lang="en-US" altLang="en-US" sz="2200" dirty="0">
                <a:latin typeface="Courier New" panose="02070309020205020404" pitchFamily="49" charset="0"/>
                <a:cs typeface="Courier New" panose="02070309020205020404" pitchFamily="49" charset="0"/>
              </a:rPr>
              <a:t>=100)</a:t>
            </a:r>
          </a:p>
          <a:p>
            <a:pPr eaLnBrk="1" hangingPunct="1">
              <a:spcBef>
                <a:spcPct val="0"/>
              </a:spcBef>
              <a:buFontTx/>
              <a:buNone/>
            </a:pPr>
            <a:r>
              <a:rPr lang="en-US" altLang="en-US" sz="2200" dirty="0" err="1">
                <a:latin typeface="Courier New" panose="02070309020205020404" pitchFamily="49" charset="0"/>
                <a:cs typeface="Courier New" panose="02070309020205020404" pitchFamily="49" charset="0"/>
              </a:rPr>
              <a:t>plt.ylim</a:t>
            </a:r>
            <a:r>
              <a:rPr lang="en-US" altLang="en-US" sz="2200" dirty="0">
                <a:latin typeface="Courier New" panose="02070309020205020404" pitchFamily="49" charset="0"/>
                <a:cs typeface="Courier New" panose="02070309020205020404" pitchFamily="49" charset="0"/>
              </a:rPr>
              <a:t>(</a:t>
            </a:r>
            <a:r>
              <a:rPr lang="en-US" altLang="en-US" sz="2200" dirty="0" err="1">
                <a:latin typeface="Courier New" panose="02070309020205020404" pitchFamily="49" charset="0"/>
                <a:cs typeface="Courier New" panose="02070309020205020404" pitchFamily="49" charset="0"/>
              </a:rPr>
              <a:t>ymin</a:t>
            </a:r>
            <a:r>
              <a:rPr lang="en-US" altLang="en-US" sz="2200" dirty="0">
                <a:latin typeface="Courier New" panose="02070309020205020404" pitchFamily="49" charset="0"/>
                <a:cs typeface="Courier New" panose="02070309020205020404" pitchFamily="49" charset="0"/>
              </a:rPr>
              <a:t>=10, </a:t>
            </a:r>
            <a:r>
              <a:rPr lang="en-US" altLang="en-US" sz="2200" dirty="0" err="1">
                <a:latin typeface="Courier New" panose="02070309020205020404" pitchFamily="49" charset="0"/>
                <a:cs typeface="Courier New" panose="02070309020205020404" pitchFamily="49" charset="0"/>
              </a:rPr>
              <a:t>ymax</a:t>
            </a:r>
            <a:r>
              <a:rPr lang="en-US" altLang="en-US" sz="2200" dirty="0">
                <a:latin typeface="Courier New" panose="02070309020205020404" pitchFamily="49" charset="0"/>
                <a:cs typeface="Courier New" panose="02070309020205020404" pitchFamily="49" charset="0"/>
              </a:rPr>
              <a:t>=50)</a:t>
            </a:r>
          </a:p>
        </p:txBody>
      </p:sp>
      <p:sp>
        <p:nvSpPr>
          <p:cNvPr id="7" name="Content Placeholder 6">
            <a:extLst>
              <a:ext uri="{FF2B5EF4-FFF2-40B4-BE49-F238E27FC236}">
                <a16:creationId xmlns:a16="http://schemas.microsoft.com/office/drawing/2014/main" id="{A6DE5AB7-3CB0-4757-A8CC-2A5F00418B0F}"/>
              </a:ext>
            </a:extLst>
          </p:cNvPr>
          <p:cNvSpPr>
            <a:spLocks noGrp="1"/>
          </p:cNvSpPr>
          <p:nvPr>
            <p:ph sz="quarter" idx="15"/>
          </p:nvPr>
        </p:nvSpPr>
        <p:spPr>
          <a:xfrm>
            <a:off x="468313" y="3668013"/>
            <a:ext cx="8218485" cy="1487084"/>
          </a:xfrm>
        </p:spPr>
        <p:txBody>
          <a:bodyPr/>
          <a:lstStyle/>
          <a:p>
            <a:r>
              <a:rPr lang="en-US" altLang="en-US" sz="2200" b="1" dirty="0"/>
              <a:t>This code does the following:</a:t>
            </a:r>
          </a:p>
          <a:p>
            <a:pPr lvl="1"/>
            <a:r>
              <a:rPr lang="en-US" altLang="en-US" sz="2200" dirty="0"/>
              <a:t>Causes the </a:t>
            </a:r>
            <a:r>
              <a:rPr lang="en-US" altLang="en-US" sz="2200" i="1" dirty="0"/>
              <a:t>X</a:t>
            </a:r>
            <a:r>
              <a:rPr lang="en-US" altLang="en-US" sz="2200" dirty="0"/>
              <a:t> axis to begin at 1 and end at 100</a:t>
            </a:r>
          </a:p>
          <a:p>
            <a:pPr lvl="1"/>
            <a:r>
              <a:rPr lang="en-US" altLang="en-US" sz="2200" dirty="0"/>
              <a:t>Causes the </a:t>
            </a:r>
            <a:r>
              <a:rPr lang="en-US" altLang="en-US" sz="2200" i="1" dirty="0"/>
              <a:t>Y</a:t>
            </a:r>
            <a:r>
              <a:rPr lang="en-US" altLang="en-US" sz="2200" dirty="0"/>
              <a:t> axis to begin at 10 and end at 50</a:t>
            </a:r>
          </a:p>
        </p:txBody>
      </p:sp>
    </p:spTree>
    <p:extLst>
      <p:ext uri="{BB962C8B-B14F-4D97-AF65-F5344CB8AC3E}">
        <p14:creationId xmlns:p14="http://schemas.microsoft.com/office/powerpoint/2010/main" val="716539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86105B16-3459-4A2E-972E-E7E597D359E2}"/>
              </a:ext>
            </a:extLst>
          </p:cNvPr>
          <p:cNvSpPr>
            <a:spLocks noGrp="1"/>
          </p:cNvSpPr>
          <p:nvPr>
            <p:ph type="title"/>
          </p:nvPr>
        </p:nvSpPr>
        <p:spPr/>
        <p:txBody>
          <a:bodyPr/>
          <a:lstStyle/>
          <a:p>
            <a:r>
              <a:rPr lang="en-US" altLang="en-US" sz="3200" dirty="0"/>
              <a:t>Plotting a Line Graph With the </a:t>
            </a:r>
            <a:r>
              <a:rPr lang="en-US" altLang="en-US" sz="3200" dirty="0">
                <a:latin typeface="Courier New" panose="02070309020205020404" pitchFamily="49" charset="0"/>
                <a:cs typeface="Courier New" panose="02070309020205020404" pitchFamily="49" charset="0"/>
              </a:rPr>
              <a:t>plot</a:t>
            </a:r>
            <a:r>
              <a:rPr lang="en-US" altLang="en-US" sz="3200" dirty="0">
                <a:cs typeface="Courier New" panose="02070309020205020404" pitchFamily="49" charset="0"/>
              </a:rPr>
              <a:t> Function </a:t>
            </a:r>
            <a:r>
              <a:rPr lang="en-US" altLang="en-US" sz="2000" b="0" dirty="0">
                <a:cs typeface="Courier New" panose="02070309020205020404" pitchFamily="49" charset="0"/>
              </a:rPr>
              <a:t>(4 of 4)</a:t>
            </a:r>
            <a:endParaRPr lang="en-US" sz="3200" dirty="0"/>
          </a:p>
        </p:txBody>
      </p:sp>
      <p:sp>
        <p:nvSpPr>
          <p:cNvPr id="18" name="Content Placeholder 17">
            <a:extLst>
              <a:ext uri="{FF2B5EF4-FFF2-40B4-BE49-F238E27FC236}">
                <a16:creationId xmlns:a16="http://schemas.microsoft.com/office/drawing/2014/main" id="{BC976C2A-0804-447A-AD40-2B1031B15C15}"/>
              </a:ext>
            </a:extLst>
          </p:cNvPr>
          <p:cNvSpPr>
            <a:spLocks noGrp="1"/>
          </p:cNvSpPr>
          <p:nvPr>
            <p:ph sz="quarter" idx="13"/>
          </p:nvPr>
        </p:nvSpPr>
        <p:spPr>
          <a:xfrm>
            <a:off x="457200" y="1556327"/>
            <a:ext cx="8229600" cy="2160000"/>
          </a:xfrm>
        </p:spPr>
        <p:txBody>
          <a:bodyPr/>
          <a:lstStyle/>
          <a:p>
            <a:r>
              <a:rPr lang="en-US" altLang="en-US" sz="1800" b="1" dirty="0">
                <a:ea typeface="Calibri" panose="020F0502020204030204" pitchFamily="34" charset="0"/>
                <a:cs typeface="Times New Roman" panose="02020603050405020304" pitchFamily="18" charset="0"/>
              </a:rPr>
              <a:t>You can customize each tick mark's label with the </a:t>
            </a:r>
            <a:r>
              <a:rPr lang="en-US" altLang="en-US" sz="1800" b="1" dirty="0" err="1">
                <a:latin typeface="Courier New" panose="02070309020205020404" pitchFamily="49" charset="0"/>
                <a:ea typeface="Calibri" panose="020F0502020204030204" pitchFamily="34" charset="0"/>
                <a:cs typeface="Courier New" panose="02070309020205020404" pitchFamily="49" charset="0"/>
              </a:rPr>
              <a:t>xticks</a:t>
            </a:r>
            <a:r>
              <a:rPr lang="en-US" altLang="en-US" sz="1800" b="1" dirty="0">
                <a:ea typeface="Calibri" panose="020F0502020204030204" pitchFamily="34" charset="0"/>
                <a:cs typeface="Times New Roman" panose="02020603050405020304" pitchFamily="18" charset="0"/>
              </a:rPr>
              <a:t> and </a:t>
            </a:r>
            <a:r>
              <a:rPr lang="en-US" altLang="en-US" sz="1800" b="1" dirty="0" err="1">
                <a:latin typeface="Courier New" panose="02070309020205020404" pitchFamily="49" charset="0"/>
                <a:ea typeface="Calibri" panose="020F0502020204030204" pitchFamily="34" charset="0"/>
                <a:cs typeface="Courier New" panose="02070309020205020404" pitchFamily="49" charset="0"/>
              </a:rPr>
              <a:t>yticks</a:t>
            </a:r>
            <a:r>
              <a:rPr lang="en-US" altLang="en-US" sz="1800" b="1" dirty="0">
                <a:ea typeface="Calibri" panose="020F0502020204030204" pitchFamily="34" charset="0"/>
                <a:cs typeface="Times New Roman" panose="02020603050405020304" pitchFamily="18" charset="0"/>
              </a:rPr>
              <a:t> functions.</a:t>
            </a:r>
          </a:p>
          <a:p>
            <a:r>
              <a:rPr lang="en-US" altLang="en-US" sz="1800" b="1" dirty="0">
                <a:ea typeface="Calibri" panose="020F0502020204030204" pitchFamily="34" charset="0"/>
                <a:cs typeface="Times New Roman" panose="02020603050405020304" pitchFamily="18" charset="0"/>
              </a:rPr>
              <a:t>These functions each take two lists as arguments. </a:t>
            </a:r>
          </a:p>
          <a:p>
            <a:pPr lvl="1"/>
            <a:r>
              <a:rPr lang="en-US" altLang="en-US" sz="1800" dirty="0">
                <a:ea typeface="Calibri" panose="020F0502020204030204" pitchFamily="34" charset="0"/>
                <a:cs typeface="Times New Roman" panose="02020603050405020304" pitchFamily="18" charset="0"/>
              </a:rPr>
              <a:t>The first argument is a list of tick mark locations</a:t>
            </a:r>
          </a:p>
          <a:p>
            <a:pPr lvl="1"/>
            <a:r>
              <a:rPr lang="en-US" altLang="en-US" sz="1800" dirty="0">
                <a:ea typeface="Calibri" panose="020F0502020204030204" pitchFamily="34" charset="0"/>
                <a:cs typeface="Times New Roman" panose="02020603050405020304" pitchFamily="18" charset="0"/>
              </a:rPr>
              <a:t>The second argument is a list of labels to display at the specified locations. </a:t>
            </a:r>
            <a:endParaRPr lang="en-US" altLang="en-US" sz="1800" dirty="0">
              <a:cs typeface="Calibri" panose="020F0502020204030204" pitchFamily="34" charset="0"/>
            </a:endParaRPr>
          </a:p>
        </p:txBody>
      </p:sp>
      <p:sp>
        <p:nvSpPr>
          <p:cNvPr id="19" name="Content Placeholder 18">
            <a:extLst>
              <a:ext uri="{FF2B5EF4-FFF2-40B4-BE49-F238E27FC236}">
                <a16:creationId xmlns:a16="http://schemas.microsoft.com/office/drawing/2014/main" id="{58348D57-36EF-429A-9871-9CB986A3BED9}"/>
              </a:ext>
            </a:extLst>
          </p:cNvPr>
          <p:cNvSpPr>
            <a:spLocks noGrp="1"/>
          </p:cNvSpPr>
          <p:nvPr>
            <p:ph sz="quarter" idx="14"/>
          </p:nvPr>
        </p:nvSpPr>
        <p:spPr>
          <a:xfrm>
            <a:off x="738000" y="3902095"/>
            <a:ext cx="7668000" cy="1548000"/>
          </a:xfrm>
        </p:spPr>
        <p:txBody>
          <a:bodyPr/>
          <a:lstStyle/>
          <a:p>
            <a:pPr eaLnBrk="1" hangingPunct="1">
              <a:spcBef>
                <a:spcPct val="0"/>
              </a:spcBef>
              <a:spcAft>
                <a:spcPts val="800"/>
              </a:spcAft>
              <a:buFontTx/>
              <a:buNone/>
            </a:pPr>
            <a:r>
              <a:rPr lang="en-US" altLang="en-US" sz="1800" dirty="0" err="1">
                <a:latin typeface="Courier New" panose="02070309020205020404" pitchFamily="49" charset="0"/>
                <a:ea typeface="Calibri" panose="020F0502020204030204" pitchFamily="34" charset="0"/>
                <a:cs typeface="Courier New" panose="02070309020205020404" pitchFamily="49" charset="0"/>
              </a:rPr>
              <a:t>plt.xticks</a:t>
            </a:r>
            <a:r>
              <a:rPr lang="en-US" altLang="en-US" sz="1800" dirty="0">
                <a:latin typeface="Courier New" panose="02070309020205020404" pitchFamily="49" charset="0"/>
                <a:ea typeface="Calibri" panose="020F0502020204030204" pitchFamily="34" charset="0"/>
                <a:cs typeface="Courier New" panose="02070309020205020404" pitchFamily="49" charset="0"/>
              </a:rPr>
              <a:t>([0, 1, 2, 3, 4],</a:t>
            </a:r>
          </a:p>
          <a:p>
            <a:pPr eaLnBrk="1" hangingPunct="1">
              <a:spcBef>
                <a:spcPct val="0"/>
              </a:spcBef>
              <a:spcAft>
                <a:spcPts val="800"/>
              </a:spcAft>
              <a:buFontTx/>
              <a:buNone/>
            </a:pPr>
            <a:r>
              <a:rPr lang="en-US" altLang="en-US" sz="1800" dirty="0">
                <a:latin typeface="Courier New" panose="02070309020205020404" pitchFamily="49" charset="0"/>
                <a:ea typeface="Calibri" panose="020F0502020204030204" pitchFamily="34" charset="0"/>
                <a:cs typeface="Courier New" panose="02070309020205020404" pitchFamily="49" charset="0"/>
              </a:rPr>
              <a:t>           ['2016', '2017', '2018', '2019', '2020'])</a:t>
            </a:r>
          </a:p>
          <a:p>
            <a:pPr eaLnBrk="1" hangingPunct="1">
              <a:spcBef>
                <a:spcPct val="0"/>
              </a:spcBef>
              <a:spcAft>
                <a:spcPts val="800"/>
              </a:spcAft>
              <a:buFontTx/>
              <a:buNone/>
            </a:pPr>
            <a:r>
              <a:rPr lang="en-US" altLang="en-US" sz="1800" dirty="0" err="1">
                <a:latin typeface="Courier New" panose="02070309020205020404" pitchFamily="49" charset="0"/>
                <a:ea typeface="Calibri" panose="020F0502020204030204" pitchFamily="34" charset="0"/>
                <a:cs typeface="Courier New" panose="02070309020205020404" pitchFamily="49" charset="0"/>
              </a:rPr>
              <a:t>plt.yticks</a:t>
            </a:r>
            <a:r>
              <a:rPr lang="en-US" altLang="en-US" sz="1800" dirty="0">
                <a:latin typeface="Courier New" panose="02070309020205020404" pitchFamily="49" charset="0"/>
                <a:ea typeface="Calibri" panose="020F0502020204030204" pitchFamily="34" charset="0"/>
                <a:cs typeface="Courier New" panose="02070309020205020404" pitchFamily="49" charset="0"/>
              </a:rPr>
              <a:t>([0, 1, 2, 3, 4, 5],</a:t>
            </a:r>
          </a:p>
          <a:p>
            <a:pPr eaLnBrk="1" hangingPunct="1">
              <a:spcBef>
                <a:spcPct val="0"/>
              </a:spcBef>
              <a:buFontTx/>
              <a:buNone/>
            </a:pPr>
            <a:r>
              <a:rPr lang="en-US" altLang="en-US" sz="1800" dirty="0">
                <a:latin typeface="Courier New" panose="02070309020205020404" pitchFamily="49" charset="0"/>
                <a:ea typeface="Calibri" panose="020F0502020204030204" pitchFamily="34" charset="0"/>
                <a:cs typeface="Courier New" panose="02070309020205020404" pitchFamily="49" charset="0"/>
              </a:rPr>
              <a:t>           ['$0m', '$1m', '$2m', '$3m', '$4m', '$5m'])</a:t>
            </a:r>
          </a:p>
        </p:txBody>
      </p:sp>
    </p:spTree>
    <p:extLst>
      <p:ext uri="{BB962C8B-B14F-4D97-AF65-F5344CB8AC3E}">
        <p14:creationId xmlns:p14="http://schemas.microsoft.com/office/powerpoint/2010/main" val="2233692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CAE31D-9734-49FD-8ACE-140FCF5DE36B}"/>
              </a:ext>
            </a:extLst>
          </p:cNvPr>
          <p:cNvSpPr>
            <a:spLocks noGrp="1"/>
          </p:cNvSpPr>
          <p:nvPr>
            <p:ph type="title"/>
          </p:nvPr>
        </p:nvSpPr>
        <p:spPr/>
        <p:txBody>
          <a:bodyPr/>
          <a:lstStyle/>
          <a:p>
            <a:r>
              <a:rPr lang="en-US" altLang="en-US" dirty="0"/>
              <a:t>Program 7-24 </a:t>
            </a:r>
            <a:r>
              <a:rPr lang="en-US" altLang="en-US" sz="2000" b="0" dirty="0"/>
              <a:t>(1 of 2)</a:t>
            </a:r>
            <a:endParaRPr lang="en-US" sz="2000" b="0" dirty="0"/>
          </a:p>
        </p:txBody>
      </p:sp>
      <p:sp>
        <p:nvSpPr>
          <p:cNvPr id="6" name="Content Placeholder 5">
            <a:extLst>
              <a:ext uri="{FF2B5EF4-FFF2-40B4-BE49-F238E27FC236}">
                <a16:creationId xmlns:a16="http://schemas.microsoft.com/office/drawing/2014/main" id="{A506DA1E-DF60-4649-80C8-E1D1AAC239BE}"/>
              </a:ext>
            </a:extLst>
          </p:cNvPr>
          <p:cNvSpPr>
            <a:spLocks noGrp="1"/>
          </p:cNvSpPr>
          <p:nvPr>
            <p:ph sz="quarter" idx="13"/>
          </p:nvPr>
        </p:nvSpPr>
        <p:spPr>
          <a:xfrm>
            <a:off x="457200" y="1556327"/>
            <a:ext cx="8316000" cy="4536000"/>
          </a:xfrm>
        </p:spPr>
        <p:txBody>
          <a:bodyPr/>
          <a:lstStyle/>
          <a:p>
            <a:pPr marL="432" indent="0">
              <a:buNone/>
            </a:pPr>
            <a:r>
              <a:rPr lang="en-US" altLang="en-US" sz="1600" dirty="0">
                <a:solidFill>
                  <a:schemeClr val="tx1"/>
                </a:solidFill>
                <a:latin typeface="Courier New" panose="02070309020205020404" pitchFamily="49" charset="0"/>
                <a:cs typeface="Calibri" panose="020F0502020204030204" pitchFamily="34" charset="0"/>
              </a:rPr>
              <a:t> 1 # This program displays a simple line graph.</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2 import </a:t>
            </a:r>
            <a:r>
              <a:rPr lang="en-US" altLang="en-US" sz="1600" dirty="0" err="1">
                <a:solidFill>
                  <a:schemeClr val="tx1"/>
                </a:solidFill>
                <a:latin typeface="Courier New" panose="02070309020205020404" pitchFamily="49" charset="0"/>
                <a:cs typeface="Calibri" panose="020F0502020204030204" pitchFamily="34" charset="0"/>
              </a:rPr>
              <a:t>matplotlib.pyplot</a:t>
            </a:r>
            <a:r>
              <a:rPr lang="en-US" altLang="en-US" sz="1600" dirty="0">
                <a:solidFill>
                  <a:schemeClr val="tx1"/>
                </a:solidFill>
                <a:latin typeface="Courier New" panose="02070309020205020404" pitchFamily="49" charset="0"/>
                <a:cs typeface="Calibri" panose="020F0502020204030204" pitchFamily="34" charset="0"/>
              </a:rPr>
              <a:t> as </a:t>
            </a:r>
            <a:r>
              <a:rPr lang="en-US" altLang="en-US" sz="1600" dirty="0" err="1">
                <a:solidFill>
                  <a:schemeClr val="tx1"/>
                </a:solidFill>
                <a:latin typeface="Courier New" panose="02070309020205020404" pitchFamily="49" charset="0"/>
                <a:cs typeface="Calibri" panose="020F0502020204030204" pitchFamily="34" charset="0"/>
              </a:rPr>
              <a:t>plt</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3 </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4 def main():</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5     # Create lists with the X,Y coordinates of each data point.</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6     </a:t>
            </a:r>
            <a:r>
              <a:rPr lang="en-US" altLang="en-US" sz="1600" dirty="0" err="1">
                <a:solidFill>
                  <a:schemeClr val="tx1"/>
                </a:solidFill>
                <a:latin typeface="Courier New" panose="02070309020205020404" pitchFamily="49" charset="0"/>
                <a:cs typeface="Calibri" panose="020F0502020204030204" pitchFamily="34" charset="0"/>
              </a:rPr>
              <a:t>x_coords</a:t>
            </a:r>
            <a:r>
              <a:rPr lang="en-US" altLang="en-US" sz="1600" dirty="0">
                <a:solidFill>
                  <a:schemeClr val="tx1"/>
                </a:solidFill>
                <a:latin typeface="Courier New" panose="02070309020205020404" pitchFamily="49" charset="0"/>
                <a:cs typeface="Calibri" panose="020F0502020204030204" pitchFamily="34" charset="0"/>
              </a:rPr>
              <a:t> = [0, 1, 2, 3, 4]</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7     </a:t>
            </a:r>
            <a:r>
              <a:rPr lang="en-US" altLang="en-US" sz="1600" dirty="0" err="1">
                <a:solidFill>
                  <a:schemeClr val="tx1"/>
                </a:solidFill>
                <a:latin typeface="Courier New" panose="02070309020205020404" pitchFamily="49" charset="0"/>
                <a:cs typeface="Calibri" panose="020F0502020204030204" pitchFamily="34" charset="0"/>
              </a:rPr>
              <a:t>y_coords</a:t>
            </a:r>
            <a:r>
              <a:rPr lang="en-US" altLang="en-US" sz="1600" dirty="0">
                <a:solidFill>
                  <a:schemeClr val="tx1"/>
                </a:solidFill>
                <a:latin typeface="Courier New" panose="02070309020205020404" pitchFamily="49" charset="0"/>
                <a:cs typeface="Calibri" panose="020F0502020204030204" pitchFamily="34" charset="0"/>
              </a:rPr>
              <a:t> = [0, 3, 1, 5, 2]</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8     </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 9     # Build the line graph.</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10     </a:t>
            </a:r>
            <a:r>
              <a:rPr lang="en-US" altLang="en-US" sz="1600" dirty="0" err="1">
                <a:solidFill>
                  <a:schemeClr val="tx1"/>
                </a:solidFill>
                <a:latin typeface="Courier New" panose="02070309020205020404" pitchFamily="49" charset="0"/>
                <a:cs typeface="Calibri" panose="020F0502020204030204" pitchFamily="34" charset="0"/>
              </a:rPr>
              <a:t>plt.plot</a:t>
            </a:r>
            <a:r>
              <a:rPr lang="en-US" altLang="en-US" sz="1600" dirty="0">
                <a:solidFill>
                  <a:schemeClr val="tx1"/>
                </a:solidFill>
                <a:latin typeface="Courier New" panose="02070309020205020404" pitchFamily="49" charset="0"/>
                <a:cs typeface="Calibri" panose="020F0502020204030204" pitchFamily="34" charset="0"/>
              </a:rPr>
              <a:t>(</a:t>
            </a:r>
            <a:r>
              <a:rPr lang="en-US" altLang="en-US" sz="1600" dirty="0" err="1">
                <a:solidFill>
                  <a:schemeClr val="tx1"/>
                </a:solidFill>
                <a:latin typeface="Courier New" panose="02070309020205020404" pitchFamily="49" charset="0"/>
                <a:cs typeface="Calibri" panose="020F0502020204030204" pitchFamily="34" charset="0"/>
              </a:rPr>
              <a:t>x_coords</a:t>
            </a:r>
            <a:r>
              <a:rPr lang="en-US" altLang="en-US" sz="1600" dirty="0">
                <a:solidFill>
                  <a:schemeClr val="tx1"/>
                </a:solidFill>
                <a:latin typeface="Courier New" panose="02070309020205020404" pitchFamily="49" charset="0"/>
                <a:cs typeface="Calibri" panose="020F0502020204030204" pitchFamily="34" charset="0"/>
              </a:rPr>
              <a:t>, </a:t>
            </a:r>
            <a:r>
              <a:rPr lang="en-US" altLang="en-US" sz="1600" dirty="0" err="1">
                <a:solidFill>
                  <a:schemeClr val="tx1"/>
                </a:solidFill>
                <a:latin typeface="Courier New" panose="02070309020205020404" pitchFamily="49" charset="0"/>
                <a:cs typeface="Calibri" panose="020F0502020204030204" pitchFamily="34" charset="0"/>
              </a:rPr>
              <a:t>y_coords</a:t>
            </a:r>
            <a:r>
              <a:rPr lang="en-US" altLang="en-US" sz="1600" dirty="0">
                <a:solidFill>
                  <a:schemeClr val="tx1"/>
                </a:solidFill>
                <a:latin typeface="Courier New" panose="02070309020205020404" pitchFamily="49" charset="0"/>
                <a:cs typeface="Calibri" panose="020F0502020204030204" pitchFamily="34" charset="0"/>
              </a:rPr>
              <a:t>, marker='o')</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11 </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12     # Add a title.</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13     </a:t>
            </a:r>
            <a:r>
              <a:rPr lang="en-US" altLang="en-US" sz="1600" dirty="0" err="1">
                <a:solidFill>
                  <a:schemeClr val="tx1"/>
                </a:solidFill>
                <a:latin typeface="Courier New" panose="02070309020205020404" pitchFamily="49" charset="0"/>
                <a:cs typeface="Calibri" panose="020F0502020204030204" pitchFamily="34" charset="0"/>
              </a:rPr>
              <a:t>plt.title</a:t>
            </a:r>
            <a:r>
              <a:rPr lang="en-US" altLang="en-US" sz="1600" dirty="0">
                <a:solidFill>
                  <a:schemeClr val="tx1"/>
                </a:solidFill>
                <a:latin typeface="Courier New" panose="02070309020205020404" pitchFamily="49" charset="0"/>
                <a:cs typeface="Calibri" panose="020F0502020204030204" pitchFamily="34" charset="0"/>
              </a:rPr>
              <a:t>('Sales by Year')</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14 </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15     # Add labels to the axes.</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16     </a:t>
            </a:r>
            <a:r>
              <a:rPr lang="en-US" altLang="en-US" sz="1600" dirty="0" err="1">
                <a:solidFill>
                  <a:schemeClr val="tx1"/>
                </a:solidFill>
                <a:latin typeface="Courier New" panose="02070309020205020404" pitchFamily="49" charset="0"/>
                <a:cs typeface="Calibri" panose="020F0502020204030204" pitchFamily="34" charset="0"/>
              </a:rPr>
              <a:t>plt.xlabel</a:t>
            </a:r>
            <a:r>
              <a:rPr lang="en-US" altLang="en-US" sz="1600" dirty="0">
                <a:solidFill>
                  <a:schemeClr val="tx1"/>
                </a:solidFill>
                <a:latin typeface="Courier New" panose="02070309020205020404" pitchFamily="49" charset="0"/>
                <a:cs typeface="Calibri" panose="020F0502020204030204" pitchFamily="34" charset="0"/>
              </a:rPr>
              <a:t>('Year')</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17     </a:t>
            </a:r>
            <a:r>
              <a:rPr lang="en-US" altLang="en-US" sz="1600" dirty="0" err="1">
                <a:solidFill>
                  <a:schemeClr val="tx1"/>
                </a:solidFill>
                <a:latin typeface="Courier New" panose="02070309020205020404" pitchFamily="49" charset="0"/>
                <a:cs typeface="Calibri" panose="020F0502020204030204" pitchFamily="34" charset="0"/>
              </a:rPr>
              <a:t>plt.ylabel</a:t>
            </a:r>
            <a:r>
              <a:rPr lang="en-US" altLang="en-US" sz="1600" dirty="0">
                <a:solidFill>
                  <a:schemeClr val="tx1"/>
                </a:solidFill>
                <a:latin typeface="Courier New" panose="02070309020205020404" pitchFamily="49" charset="0"/>
                <a:cs typeface="Calibri" panose="020F0502020204030204" pitchFamily="34" charset="0"/>
              </a:rPr>
              <a:t>('Sales')</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18 </a:t>
            </a:r>
            <a:endParaRPr lang="en-US" altLang="en-US" sz="1600" dirty="0">
              <a:solidFill>
                <a:schemeClr val="tx1"/>
              </a:solidFill>
            </a:endParaRPr>
          </a:p>
        </p:txBody>
      </p:sp>
    </p:spTree>
    <p:extLst>
      <p:ext uri="{BB962C8B-B14F-4D97-AF65-F5344CB8AC3E}">
        <p14:creationId xmlns:p14="http://schemas.microsoft.com/office/powerpoint/2010/main" val="12857982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CAE31D-9734-49FD-8ACE-140FCF5DE36B}"/>
              </a:ext>
            </a:extLst>
          </p:cNvPr>
          <p:cNvSpPr>
            <a:spLocks noGrp="1"/>
          </p:cNvSpPr>
          <p:nvPr>
            <p:ph type="title"/>
          </p:nvPr>
        </p:nvSpPr>
        <p:spPr/>
        <p:txBody>
          <a:bodyPr/>
          <a:lstStyle/>
          <a:p>
            <a:r>
              <a:rPr lang="en-US" altLang="en-US" dirty="0"/>
              <a:t>Program 7-24 </a:t>
            </a:r>
            <a:r>
              <a:rPr lang="en-US" altLang="en-US" sz="2000" b="0" dirty="0"/>
              <a:t>(2 of 2)</a:t>
            </a:r>
            <a:endParaRPr lang="en-US" dirty="0"/>
          </a:p>
        </p:txBody>
      </p:sp>
      <p:sp>
        <p:nvSpPr>
          <p:cNvPr id="6" name="Content Placeholder 5">
            <a:extLst>
              <a:ext uri="{FF2B5EF4-FFF2-40B4-BE49-F238E27FC236}">
                <a16:creationId xmlns:a16="http://schemas.microsoft.com/office/drawing/2014/main" id="{A506DA1E-DF60-4649-80C8-E1D1AAC239BE}"/>
              </a:ext>
            </a:extLst>
          </p:cNvPr>
          <p:cNvSpPr>
            <a:spLocks noGrp="1"/>
          </p:cNvSpPr>
          <p:nvPr>
            <p:ph sz="quarter" idx="13"/>
          </p:nvPr>
        </p:nvSpPr>
        <p:spPr>
          <a:xfrm>
            <a:off x="457200" y="1556327"/>
            <a:ext cx="8229600" cy="3916821"/>
          </a:xfrm>
        </p:spPr>
        <p:txBody>
          <a:bodyPr/>
          <a:lstStyle/>
          <a:p>
            <a:pPr marL="432" indent="0">
              <a:spcBef>
                <a:spcPct val="0"/>
              </a:spcBef>
              <a:buNone/>
            </a:pPr>
            <a:r>
              <a:rPr lang="en-US" altLang="en-US" sz="1600" dirty="0">
                <a:solidFill>
                  <a:schemeClr val="tx1"/>
                </a:solidFill>
                <a:latin typeface="Courier New" panose="02070309020205020404" pitchFamily="49" charset="0"/>
                <a:cs typeface="Calibri" panose="020F0502020204030204" pitchFamily="34" charset="0"/>
              </a:rPr>
              <a:t>19     # Customize the tick marks.</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20     </a:t>
            </a:r>
            <a:r>
              <a:rPr lang="en-US" altLang="en-US" sz="1600" dirty="0" err="1">
                <a:solidFill>
                  <a:schemeClr val="tx1"/>
                </a:solidFill>
                <a:latin typeface="Courier New" panose="02070309020205020404" pitchFamily="49" charset="0"/>
                <a:cs typeface="Calibri" panose="020F0502020204030204" pitchFamily="34" charset="0"/>
              </a:rPr>
              <a:t>plt.xticks</a:t>
            </a:r>
            <a:r>
              <a:rPr lang="en-US" altLang="en-US" sz="1600" dirty="0">
                <a:solidFill>
                  <a:schemeClr val="tx1"/>
                </a:solidFill>
                <a:latin typeface="Courier New" panose="02070309020205020404" pitchFamily="49" charset="0"/>
                <a:cs typeface="Calibri" panose="020F0502020204030204" pitchFamily="34" charset="0"/>
              </a:rPr>
              <a:t>([0, 1, 2, 3, 4],</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21                ['2016', '2017', '2018', '2019', '2020'])</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22     </a:t>
            </a:r>
            <a:r>
              <a:rPr lang="en-US" altLang="en-US" sz="1600" dirty="0" err="1">
                <a:solidFill>
                  <a:schemeClr val="tx1"/>
                </a:solidFill>
                <a:latin typeface="Courier New" panose="02070309020205020404" pitchFamily="49" charset="0"/>
                <a:cs typeface="Calibri" panose="020F0502020204030204" pitchFamily="34" charset="0"/>
              </a:rPr>
              <a:t>plt.yticks</a:t>
            </a:r>
            <a:r>
              <a:rPr lang="en-US" altLang="en-US" sz="1600" dirty="0">
                <a:solidFill>
                  <a:schemeClr val="tx1"/>
                </a:solidFill>
                <a:latin typeface="Courier New" panose="02070309020205020404" pitchFamily="49" charset="0"/>
                <a:cs typeface="Calibri" panose="020F0502020204030204" pitchFamily="34" charset="0"/>
              </a:rPr>
              <a:t>([0, 1, 2, 3, 4, 5],</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23                ['$0m', '$1m', '$2m', '$3m', '$4m', '$5m'])</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24 </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25     # Add a grid.</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26     </a:t>
            </a:r>
            <a:r>
              <a:rPr lang="en-US" altLang="en-US" sz="1600" dirty="0" err="1">
                <a:solidFill>
                  <a:schemeClr val="tx1"/>
                </a:solidFill>
                <a:latin typeface="Courier New" panose="02070309020205020404" pitchFamily="49" charset="0"/>
                <a:cs typeface="Calibri" panose="020F0502020204030204" pitchFamily="34" charset="0"/>
              </a:rPr>
              <a:t>plt.grid</a:t>
            </a:r>
            <a:r>
              <a:rPr lang="en-US" altLang="en-US" sz="1600" dirty="0">
                <a:solidFill>
                  <a:schemeClr val="tx1"/>
                </a:solidFill>
                <a:latin typeface="Courier New" panose="02070309020205020404" pitchFamily="49" charset="0"/>
                <a:cs typeface="Calibri" panose="020F0502020204030204" pitchFamily="34" charset="0"/>
              </a:rPr>
              <a:t>(True)</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27 </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28     # Display the line graph.</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29     </a:t>
            </a:r>
            <a:r>
              <a:rPr lang="en-US" altLang="en-US" sz="1600" dirty="0" err="1">
                <a:solidFill>
                  <a:schemeClr val="tx1"/>
                </a:solidFill>
                <a:latin typeface="Courier New" panose="02070309020205020404" pitchFamily="49" charset="0"/>
                <a:cs typeface="Calibri" panose="020F0502020204030204" pitchFamily="34" charset="0"/>
              </a:rPr>
              <a:t>plt.show</a:t>
            </a:r>
            <a:r>
              <a:rPr lang="en-US" altLang="en-US" sz="1600" dirty="0">
                <a:solidFill>
                  <a:schemeClr val="tx1"/>
                </a:solidFill>
                <a:latin typeface="Courier New" panose="02070309020205020404" pitchFamily="49" charset="0"/>
                <a:cs typeface="Calibri" panose="020F0502020204030204" pitchFamily="34" charset="0"/>
              </a:rPr>
              <a:t>()</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30 </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31 # Call the main function.</a:t>
            </a:r>
          </a:p>
          <a:p>
            <a:pPr marL="432" indent="0">
              <a:spcBef>
                <a:spcPct val="0"/>
              </a:spcBef>
              <a:buNone/>
            </a:pPr>
            <a:r>
              <a:rPr lang="en-US" altLang="en-US" sz="1600" dirty="0">
                <a:solidFill>
                  <a:schemeClr val="tx1"/>
                </a:solidFill>
                <a:latin typeface="Courier New" panose="02070309020205020404" pitchFamily="49" charset="0"/>
                <a:cs typeface="Calibri" panose="020F0502020204030204" pitchFamily="34" charset="0"/>
              </a:rPr>
              <a:t>32 if __name__ == '__main__':</a:t>
            </a:r>
            <a:br>
              <a:rPr lang="en-US" altLang="en-US" sz="1600" dirty="0">
                <a:solidFill>
                  <a:schemeClr val="tx1"/>
                </a:solidFill>
                <a:latin typeface="Courier New" panose="02070309020205020404" pitchFamily="49" charset="0"/>
                <a:cs typeface="Calibri" panose="020F0502020204030204" pitchFamily="34" charset="0"/>
              </a:rPr>
            </a:br>
            <a:r>
              <a:rPr lang="en-US" altLang="en-US" sz="1600" dirty="0">
                <a:solidFill>
                  <a:schemeClr val="tx1"/>
                </a:solidFill>
                <a:latin typeface="Courier New" panose="02070309020205020404" pitchFamily="49" charset="0"/>
                <a:cs typeface="Calibri" panose="020F0502020204030204" pitchFamily="34" charset="0"/>
              </a:rPr>
              <a:t>33     main()</a:t>
            </a:r>
            <a:endParaRPr lang="en-US" altLang="en-US" sz="1600" dirty="0">
              <a:solidFill>
                <a:schemeClr val="tx1"/>
              </a:solidFill>
            </a:endParaRPr>
          </a:p>
        </p:txBody>
      </p:sp>
    </p:spTree>
    <p:extLst>
      <p:ext uri="{BB962C8B-B14F-4D97-AF65-F5344CB8AC3E}">
        <p14:creationId xmlns:p14="http://schemas.microsoft.com/office/powerpoint/2010/main" val="84091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A814-7E94-4136-9886-10AFE8945BF7}"/>
              </a:ext>
            </a:extLst>
          </p:cNvPr>
          <p:cNvSpPr>
            <a:spLocks noGrp="1"/>
          </p:cNvSpPr>
          <p:nvPr>
            <p:ph type="title"/>
          </p:nvPr>
        </p:nvSpPr>
        <p:spPr/>
        <p:txBody>
          <a:bodyPr/>
          <a:lstStyle/>
          <a:p>
            <a:r>
              <a:rPr lang="en-US" altLang="en-US" dirty="0"/>
              <a:t>Output of Program 7-24</a:t>
            </a:r>
            <a:endParaRPr lang="en-US" dirty="0"/>
          </a:p>
        </p:txBody>
      </p:sp>
      <p:pic>
        <p:nvPicPr>
          <p:cNvPr id="5" name="Content Placeholder 4" descr="An output displays a line graph titled, sales by year. For long description in Notes pane, press F6.">
            <a:extLst>
              <a:ext uri="{FF2B5EF4-FFF2-40B4-BE49-F238E27FC236}">
                <a16:creationId xmlns:a16="http://schemas.microsoft.com/office/drawing/2014/main" id="{162BF4BE-24E5-4AAD-8843-42CCDA0A27FE}"/>
              </a:ext>
            </a:extLst>
          </p:cNvPr>
          <p:cNvPicPr>
            <a:picLocks noGrp="1" noChangeAspect="1"/>
          </p:cNvPicPr>
          <p:nvPr>
            <p:ph sz="quarter" idx="13"/>
          </p:nvPr>
        </p:nvPicPr>
        <p:blipFill rotWithShape="1">
          <a:blip r:embed="rId3"/>
          <a:srcRect l="1248"/>
          <a:stretch/>
        </p:blipFill>
        <p:spPr>
          <a:xfrm>
            <a:off x="1290272" y="1830492"/>
            <a:ext cx="6563456" cy="4356443"/>
          </a:xfrm>
        </p:spPr>
      </p:pic>
    </p:spTree>
    <p:extLst>
      <p:ext uri="{BB962C8B-B14F-4D97-AF65-F5344CB8AC3E}">
        <p14:creationId xmlns:p14="http://schemas.microsoft.com/office/powerpoint/2010/main" val="23149837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0418E-D37C-4AD4-8E77-B36AAEB9AF4E}"/>
              </a:ext>
            </a:extLst>
          </p:cNvPr>
          <p:cNvSpPr>
            <a:spLocks noGrp="1"/>
          </p:cNvSpPr>
          <p:nvPr>
            <p:ph type="title"/>
          </p:nvPr>
        </p:nvSpPr>
        <p:spPr/>
        <p:txBody>
          <a:bodyPr/>
          <a:lstStyle/>
          <a:p>
            <a:r>
              <a:rPr lang="en-US" altLang="en-US" dirty="0"/>
              <a:t>Plotting a Bar Chart </a:t>
            </a:r>
            <a:r>
              <a:rPr lang="en-US" altLang="en-US" sz="2000" b="0" dirty="0"/>
              <a:t>(1 of 6)</a:t>
            </a:r>
            <a:endParaRPr lang="en-US" sz="2000" b="0" dirty="0"/>
          </a:p>
        </p:txBody>
      </p:sp>
      <p:sp>
        <p:nvSpPr>
          <p:cNvPr id="3" name="Content Placeholder 2">
            <a:extLst>
              <a:ext uri="{FF2B5EF4-FFF2-40B4-BE49-F238E27FC236}">
                <a16:creationId xmlns:a16="http://schemas.microsoft.com/office/drawing/2014/main" id="{9FE48311-C334-4C2D-B663-CFCD0F1604CD}"/>
              </a:ext>
            </a:extLst>
          </p:cNvPr>
          <p:cNvSpPr>
            <a:spLocks noGrp="1"/>
          </p:cNvSpPr>
          <p:nvPr>
            <p:ph sz="quarter" idx="13"/>
          </p:nvPr>
        </p:nvSpPr>
        <p:spPr>
          <a:xfrm>
            <a:off x="457200" y="1556327"/>
            <a:ext cx="8229600" cy="2194038"/>
          </a:xfrm>
        </p:spPr>
        <p:txBody>
          <a:bodyPr/>
          <a:lstStyle/>
          <a:p>
            <a:r>
              <a:rPr lang="en-US" altLang="en-US" dirty="0"/>
              <a:t>Use the </a:t>
            </a:r>
            <a:r>
              <a:rPr lang="en-US" altLang="en-US" dirty="0">
                <a:latin typeface="Courier New" panose="02070309020205020404" pitchFamily="49" charset="0"/>
                <a:cs typeface="Courier New" panose="02070309020205020404" pitchFamily="49" charset="0"/>
              </a:rPr>
              <a:t>bar</a:t>
            </a:r>
            <a:r>
              <a:rPr lang="en-US" altLang="en-US" dirty="0"/>
              <a:t> function in the </a:t>
            </a:r>
            <a:r>
              <a:rPr lang="en-US" altLang="en-US" dirty="0" err="1">
                <a:latin typeface="Courier New" panose="02070309020205020404" pitchFamily="49" charset="0"/>
                <a:cs typeface="Courier New" panose="02070309020205020404" pitchFamily="49" charset="0"/>
              </a:rPr>
              <a:t>matplotlib.pyplot</a:t>
            </a:r>
            <a:r>
              <a:rPr lang="en-US" altLang="en-US" dirty="0"/>
              <a:t> module to create a bar chart.</a:t>
            </a:r>
          </a:p>
          <a:p>
            <a:r>
              <a:rPr lang="en-US" altLang="en-US" dirty="0">
                <a:ea typeface="Calibri" panose="020F0502020204030204" pitchFamily="34" charset="0"/>
                <a:cs typeface="Times New Roman" panose="02020603050405020304" pitchFamily="18" charset="0"/>
              </a:rPr>
              <a:t>The function needs two lists: one with the </a:t>
            </a:r>
            <a:r>
              <a:rPr lang="en-US" altLang="en-US" i="1" dirty="0">
                <a:ea typeface="Calibri" panose="020F0502020204030204" pitchFamily="34" charset="0"/>
                <a:cs typeface="Times New Roman" panose="02020603050405020304" pitchFamily="18" charset="0"/>
              </a:rPr>
              <a:t>X</a:t>
            </a:r>
            <a:r>
              <a:rPr lang="en-US" altLang="en-US" dirty="0">
                <a:ea typeface="Calibri" panose="020F0502020204030204" pitchFamily="34" charset="0"/>
                <a:cs typeface="Times New Roman" panose="02020603050405020304" pitchFamily="18" charset="0"/>
              </a:rPr>
              <a:t> coordinates of each bar's left edge, and another with the heights of each bar, along the </a:t>
            </a:r>
            <a:r>
              <a:rPr lang="en-US" altLang="en-US" i="1" dirty="0">
                <a:ea typeface="Calibri" panose="020F0502020204030204" pitchFamily="34" charset="0"/>
                <a:cs typeface="Times New Roman" panose="02020603050405020304" pitchFamily="18" charset="0"/>
              </a:rPr>
              <a:t>Y</a:t>
            </a:r>
            <a:r>
              <a:rPr lang="en-US" altLang="en-US" dirty="0">
                <a:ea typeface="Calibri" panose="020F0502020204030204" pitchFamily="34" charset="0"/>
                <a:cs typeface="Times New Roman" panose="02020603050405020304" pitchFamily="18" charset="0"/>
              </a:rPr>
              <a:t> axis. </a:t>
            </a:r>
            <a:endParaRPr lang="en-US" altLang="en-US" dirty="0"/>
          </a:p>
        </p:txBody>
      </p:sp>
    </p:spTree>
    <p:extLst>
      <p:ext uri="{BB962C8B-B14F-4D97-AF65-F5344CB8AC3E}">
        <p14:creationId xmlns:p14="http://schemas.microsoft.com/office/powerpoint/2010/main" val="35742702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2B950C-40CD-4036-A3C8-A895598B6186}"/>
              </a:ext>
            </a:extLst>
          </p:cNvPr>
          <p:cNvSpPr>
            <a:spLocks noGrp="1"/>
          </p:cNvSpPr>
          <p:nvPr>
            <p:ph type="title"/>
          </p:nvPr>
        </p:nvSpPr>
        <p:spPr/>
        <p:txBody>
          <a:bodyPr/>
          <a:lstStyle/>
          <a:p>
            <a:r>
              <a:rPr lang="en-US" altLang="en-US" dirty="0"/>
              <a:t>Plotting a Bar Chart </a:t>
            </a:r>
            <a:r>
              <a:rPr lang="en-US" altLang="en-US" sz="2000" b="0" dirty="0"/>
              <a:t>(2 of 6)</a:t>
            </a:r>
            <a:endParaRPr lang="en-US" dirty="0"/>
          </a:p>
        </p:txBody>
      </p:sp>
      <p:sp>
        <p:nvSpPr>
          <p:cNvPr id="5" name="Content Placeholder 4">
            <a:extLst>
              <a:ext uri="{FF2B5EF4-FFF2-40B4-BE49-F238E27FC236}">
                <a16:creationId xmlns:a16="http://schemas.microsoft.com/office/drawing/2014/main" id="{FF99C983-7643-4F62-A531-F1891610AFE0}"/>
              </a:ext>
            </a:extLst>
          </p:cNvPr>
          <p:cNvSpPr>
            <a:spLocks noGrp="1"/>
          </p:cNvSpPr>
          <p:nvPr>
            <p:ph sz="quarter" idx="13"/>
          </p:nvPr>
        </p:nvSpPr>
        <p:spPr>
          <a:xfrm>
            <a:off x="457200" y="1556327"/>
            <a:ext cx="8229600" cy="1597690"/>
          </a:xfrm>
        </p:spPr>
        <p:txBody>
          <a:bodyPr/>
          <a:lstStyle/>
          <a:p>
            <a:pPr eaLnBrk="1" hangingPunct="1">
              <a:spcBef>
                <a:spcPct val="0"/>
              </a:spcBef>
              <a:buFontTx/>
              <a:buNone/>
            </a:pPr>
            <a:r>
              <a:rPr lang="en-US" altLang="en-US" sz="1800" dirty="0" err="1">
                <a:latin typeface="Courier New" panose="02070309020205020404" pitchFamily="49" charset="0"/>
                <a:cs typeface="Courier New" panose="02070309020205020404" pitchFamily="49" charset="0"/>
              </a:rPr>
              <a:t>left_edges</a:t>
            </a:r>
            <a:r>
              <a:rPr lang="en-US" altLang="en-US" sz="1800" dirty="0">
                <a:latin typeface="Courier New" panose="02070309020205020404" pitchFamily="49" charset="0"/>
                <a:cs typeface="Courier New" panose="02070309020205020404" pitchFamily="49" charset="0"/>
              </a:rPr>
              <a:t> = [0, 10, 20, 30, 40]</a:t>
            </a:r>
          </a:p>
          <a:p>
            <a:pPr eaLnBrk="1" hangingPunct="1">
              <a:spcBef>
                <a:spcPct val="0"/>
              </a:spcBef>
              <a:buFontTx/>
              <a:buNone/>
            </a:pPr>
            <a:r>
              <a:rPr lang="en-US" altLang="en-US" sz="1800" dirty="0">
                <a:latin typeface="Courier New" panose="02070309020205020404" pitchFamily="49" charset="0"/>
                <a:cs typeface="Courier New" panose="02070309020205020404" pitchFamily="49" charset="0"/>
              </a:rPr>
              <a:t>heights = [100, 200, 300, 400, 500]</a:t>
            </a:r>
          </a:p>
          <a:p>
            <a:pPr eaLnBrk="1" hangingPunct="1">
              <a:spcBef>
                <a:spcPct val="0"/>
              </a:spcBef>
              <a:buFontTx/>
              <a:buNone/>
            </a:pPr>
            <a:r>
              <a:rPr lang="en-US" altLang="en-US" sz="1800" dirty="0">
                <a:latin typeface="Courier New" panose="02070309020205020404" pitchFamily="49" charset="0"/>
                <a:cs typeface="Courier New" panose="02070309020205020404" pitchFamily="49" charset="0"/>
              </a:rPr>
              <a:t> </a:t>
            </a:r>
          </a:p>
          <a:p>
            <a:pPr eaLnBrk="1" hangingPunct="1">
              <a:spcBef>
                <a:spcPct val="0"/>
              </a:spcBef>
              <a:buFontTx/>
              <a:buNone/>
            </a:pPr>
            <a:r>
              <a:rPr lang="en-US" altLang="en-US" sz="1800" dirty="0" err="1">
                <a:latin typeface="Courier New" panose="02070309020205020404" pitchFamily="49" charset="0"/>
                <a:cs typeface="Courier New" panose="02070309020205020404" pitchFamily="49" charset="0"/>
              </a:rPr>
              <a:t>plt.bar</a:t>
            </a:r>
            <a:r>
              <a:rPr lang="en-US" altLang="en-US" sz="1800" dirty="0">
                <a:latin typeface="Courier New" panose="02070309020205020404" pitchFamily="49" charset="0"/>
                <a:cs typeface="Courier New" panose="02070309020205020404" pitchFamily="49" charset="0"/>
              </a:rPr>
              <a:t>(</a:t>
            </a:r>
            <a:r>
              <a:rPr lang="en-US" altLang="en-US" sz="1800" dirty="0" err="1">
                <a:latin typeface="Courier New" panose="02070309020205020404" pitchFamily="49" charset="0"/>
                <a:cs typeface="Courier New" panose="02070309020205020404" pitchFamily="49" charset="0"/>
              </a:rPr>
              <a:t>left_edges</a:t>
            </a:r>
            <a:r>
              <a:rPr lang="en-US" altLang="en-US" sz="1800" dirty="0">
                <a:latin typeface="Courier New" panose="02070309020205020404" pitchFamily="49" charset="0"/>
                <a:cs typeface="Courier New" panose="02070309020205020404" pitchFamily="49" charset="0"/>
              </a:rPr>
              <a:t>, heights)</a:t>
            </a:r>
          </a:p>
          <a:p>
            <a:pPr eaLnBrk="1" hangingPunct="1">
              <a:spcBef>
                <a:spcPct val="0"/>
              </a:spcBef>
              <a:buFontTx/>
              <a:buNone/>
            </a:pPr>
            <a:r>
              <a:rPr lang="en-US" altLang="en-US" sz="1800" dirty="0" err="1">
                <a:latin typeface="Courier New" panose="02070309020205020404" pitchFamily="49" charset="0"/>
                <a:cs typeface="Courier New" panose="02070309020205020404" pitchFamily="49" charset="0"/>
              </a:rPr>
              <a:t>plt.show</a:t>
            </a:r>
            <a:r>
              <a:rPr lang="en-US" altLang="en-US" sz="1800" dirty="0">
                <a:latin typeface="Courier New" panose="02070309020205020404" pitchFamily="49" charset="0"/>
                <a:cs typeface="Courier New" panose="02070309020205020404" pitchFamily="49" charset="0"/>
              </a:rPr>
              <a:t>()</a:t>
            </a:r>
          </a:p>
        </p:txBody>
      </p:sp>
      <p:pic>
        <p:nvPicPr>
          <p:cNvPr id="8" name="Content Placeholder 7" descr="An output displays a vertical bar graph. For long description in Notes pane, press F6.">
            <a:extLst>
              <a:ext uri="{FF2B5EF4-FFF2-40B4-BE49-F238E27FC236}">
                <a16:creationId xmlns:a16="http://schemas.microsoft.com/office/drawing/2014/main" id="{A66AF831-1D92-4DD4-9E34-2727ACA6F6FC}"/>
              </a:ext>
            </a:extLst>
          </p:cNvPr>
          <p:cNvPicPr>
            <a:picLocks noGrp="1" noChangeAspect="1"/>
          </p:cNvPicPr>
          <p:nvPr>
            <p:ph sz="quarter" idx="14"/>
          </p:nvPr>
        </p:nvPicPr>
        <p:blipFill>
          <a:blip r:embed="rId3"/>
          <a:stretch>
            <a:fillRect/>
          </a:stretch>
        </p:blipFill>
        <p:spPr>
          <a:xfrm>
            <a:off x="2606886" y="3263265"/>
            <a:ext cx="3930226" cy="2947670"/>
          </a:xfrm>
        </p:spPr>
      </p:pic>
    </p:spTree>
    <p:extLst>
      <p:ext uri="{BB962C8B-B14F-4D97-AF65-F5344CB8AC3E}">
        <p14:creationId xmlns:p14="http://schemas.microsoft.com/office/powerpoint/2010/main" val="34026400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C4F7C6-B408-4A89-9EE7-00807E8B4CB3}"/>
              </a:ext>
            </a:extLst>
          </p:cNvPr>
          <p:cNvSpPr>
            <a:spLocks noGrp="1"/>
          </p:cNvSpPr>
          <p:nvPr>
            <p:ph type="title"/>
          </p:nvPr>
        </p:nvSpPr>
        <p:spPr/>
        <p:txBody>
          <a:bodyPr/>
          <a:lstStyle/>
          <a:p>
            <a:r>
              <a:rPr lang="en-US" altLang="en-US" dirty="0"/>
              <a:t>Plotting a Bar Chart </a:t>
            </a:r>
            <a:r>
              <a:rPr lang="en-US" altLang="en-US" sz="2000" b="0" dirty="0"/>
              <a:t>(3 of 6)</a:t>
            </a:r>
            <a:endParaRPr lang="en-US" dirty="0"/>
          </a:p>
        </p:txBody>
      </p:sp>
      <p:sp>
        <p:nvSpPr>
          <p:cNvPr id="6" name="Content Placeholder 5">
            <a:extLst>
              <a:ext uri="{FF2B5EF4-FFF2-40B4-BE49-F238E27FC236}">
                <a16:creationId xmlns:a16="http://schemas.microsoft.com/office/drawing/2014/main" id="{B7F49C93-EED8-4EE0-A6A8-100359382947}"/>
              </a:ext>
            </a:extLst>
          </p:cNvPr>
          <p:cNvSpPr>
            <a:spLocks noGrp="1"/>
          </p:cNvSpPr>
          <p:nvPr>
            <p:ph sz="quarter" idx="13"/>
          </p:nvPr>
        </p:nvSpPr>
        <p:spPr>
          <a:xfrm>
            <a:off x="466602" y="1552574"/>
            <a:ext cx="8220197" cy="1152000"/>
          </a:xfrm>
        </p:spPr>
        <p:txBody>
          <a:bodyPr/>
          <a:lstStyle/>
          <a:p>
            <a:r>
              <a:rPr lang="en-US" altLang="en-US" sz="1800" b="1" dirty="0"/>
              <a:t>The default width of each bar in a bar graph is 0.8 along the </a:t>
            </a:r>
            <a:r>
              <a:rPr lang="en-US" altLang="en-US" sz="1800" b="1" i="1" dirty="0"/>
              <a:t>X</a:t>
            </a:r>
            <a:r>
              <a:rPr lang="en-US" altLang="en-US" sz="1800" b="1" dirty="0"/>
              <a:t> axis. </a:t>
            </a:r>
          </a:p>
          <a:p>
            <a:r>
              <a:rPr lang="en-US" altLang="en-US" sz="1800" b="1" dirty="0"/>
              <a:t>You can change the bar width by passing a third argument to the </a:t>
            </a:r>
            <a:r>
              <a:rPr lang="en-US" altLang="en-US" sz="1800" dirty="0">
                <a:latin typeface="Courier New" panose="02070309020205020404" pitchFamily="49" charset="0"/>
                <a:cs typeface="Courier New" panose="02070309020205020404" pitchFamily="49" charset="0"/>
              </a:rPr>
              <a:t>bar</a:t>
            </a:r>
            <a:r>
              <a:rPr lang="en-US" altLang="en-US" sz="1800" b="1" dirty="0"/>
              <a:t> function.</a:t>
            </a:r>
          </a:p>
        </p:txBody>
      </p:sp>
      <p:sp>
        <p:nvSpPr>
          <p:cNvPr id="7" name="Content Placeholder 6">
            <a:extLst>
              <a:ext uri="{FF2B5EF4-FFF2-40B4-BE49-F238E27FC236}">
                <a16:creationId xmlns:a16="http://schemas.microsoft.com/office/drawing/2014/main" id="{D0E0285A-BD7F-4DBE-AE32-C417E6B0C5B3}"/>
              </a:ext>
            </a:extLst>
          </p:cNvPr>
          <p:cNvSpPr>
            <a:spLocks noGrp="1"/>
          </p:cNvSpPr>
          <p:nvPr>
            <p:ph sz="quarter" idx="14"/>
          </p:nvPr>
        </p:nvSpPr>
        <p:spPr>
          <a:xfrm>
            <a:off x="468313" y="2944498"/>
            <a:ext cx="5580000" cy="1800000"/>
          </a:xfrm>
        </p:spPr>
        <p:txBody>
          <a:bodyPr/>
          <a:lstStyle/>
          <a:p>
            <a:pPr eaLnBrk="1" hangingPunct="1">
              <a:spcBef>
                <a:spcPct val="0"/>
              </a:spcBef>
              <a:buFontTx/>
              <a:buNone/>
            </a:pPr>
            <a:r>
              <a:rPr lang="en-US" altLang="en-US" sz="1800" dirty="0" err="1">
                <a:latin typeface="Courier New" panose="02070309020205020404" pitchFamily="49" charset="0"/>
                <a:cs typeface="Courier New" panose="02070309020205020404" pitchFamily="49" charset="0"/>
              </a:rPr>
              <a:t>left_edges</a:t>
            </a:r>
            <a:r>
              <a:rPr lang="en-US" altLang="en-US" sz="1800" dirty="0">
                <a:latin typeface="Courier New" panose="02070309020205020404" pitchFamily="49" charset="0"/>
                <a:cs typeface="Courier New" panose="02070309020205020404" pitchFamily="49" charset="0"/>
              </a:rPr>
              <a:t> = [0, 10, 20, 30, 40]</a:t>
            </a:r>
          </a:p>
          <a:p>
            <a:pPr eaLnBrk="1" hangingPunct="1">
              <a:spcBef>
                <a:spcPct val="0"/>
              </a:spcBef>
              <a:buFontTx/>
              <a:buNone/>
            </a:pPr>
            <a:r>
              <a:rPr lang="en-US" altLang="en-US" sz="1800" dirty="0">
                <a:latin typeface="Courier New" panose="02070309020205020404" pitchFamily="49" charset="0"/>
                <a:cs typeface="Courier New" panose="02070309020205020404" pitchFamily="49" charset="0"/>
              </a:rPr>
              <a:t>heights = [100, 200, 300, 400, 500]</a:t>
            </a:r>
          </a:p>
          <a:p>
            <a:pPr eaLnBrk="1" hangingPunct="1">
              <a:spcBef>
                <a:spcPct val="0"/>
              </a:spcBef>
              <a:buFontTx/>
              <a:buNone/>
            </a:pPr>
            <a:r>
              <a:rPr lang="en-US" altLang="en-US" sz="1800" dirty="0" err="1">
                <a:latin typeface="Courier New" panose="02070309020205020404" pitchFamily="49" charset="0"/>
                <a:cs typeface="Courier New" panose="02070309020205020404" pitchFamily="49" charset="0"/>
              </a:rPr>
              <a:t>bar_width</a:t>
            </a:r>
            <a:r>
              <a:rPr lang="en-US" altLang="en-US" sz="1800" dirty="0">
                <a:latin typeface="Courier New" panose="02070309020205020404" pitchFamily="49" charset="0"/>
                <a:cs typeface="Courier New" panose="02070309020205020404" pitchFamily="49" charset="0"/>
              </a:rPr>
              <a:t> = 5</a:t>
            </a:r>
          </a:p>
          <a:p>
            <a:pPr eaLnBrk="1" hangingPunct="1">
              <a:spcBef>
                <a:spcPct val="0"/>
              </a:spcBef>
              <a:buFontTx/>
              <a:buNone/>
            </a:pPr>
            <a:r>
              <a:rPr lang="en-US" altLang="en-US" sz="1800" dirty="0">
                <a:latin typeface="Courier New" panose="02070309020205020404" pitchFamily="49" charset="0"/>
                <a:cs typeface="Courier New" panose="02070309020205020404" pitchFamily="49" charset="0"/>
              </a:rPr>
              <a:t> </a:t>
            </a:r>
          </a:p>
          <a:p>
            <a:pPr eaLnBrk="1" hangingPunct="1">
              <a:spcBef>
                <a:spcPct val="0"/>
              </a:spcBef>
              <a:buFontTx/>
              <a:buNone/>
            </a:pPr>
            <a:r>
              <a:rPr lang="en-US" altLang="en-US" sz="1800" dirty="0" err="1">
                <a:latin typeface="Courier New" panose="02070309020205020404" pitchFamily="49" charset="0"/>
                <a:cs typeface="Courier New" panose="02070309020205020404" pitchFamily="49" charset="0"/>
              </a:rPr>
              <a:t>plt.bar</a:t>
            </a:r>
            <a:r>
              <a:rPr lang="en-US" altLang="en-US" sz="1800" dirty="0">
                <a:latin typeface="Courier New" panose="02070309020205020404" pitchFamily="49" charset="0"/>
                <a:cs typeface="Courier New" panose="02070309020205020404" pitchFamily="49" charset="0"/>
              </a:rPr>
              <a:t>(</a:t>
            </a:r>
            <a:r>
              <a:rPr lang="en-US" altLang="en-US" sz="1800" dirty="0" err="1">
                <a:latin typeface="Courier New" panose="02070309020205020404" pitchFamily="49" charset="0"/>
                <a:cs typeface="Courier New" panose="02070309020205020404" pitchFamily="49" charset="0"/>
              </a:rPr>
              <a:t>left_edges</a:t>
            </a:r>
            <a:r>
              <a:rPr lang="en-US" altLang="en-US" sz="1800" dirty="0">
                <a:latin typeface="Courier New" panose="02070309020205020404" pitchFamily="49" charset="0"/>
                <a:cs typeface="Courier New" panose="02070309020205020404" pitchFamily="49" charset="0"/>
              </a:rPr>
              <a:t>, heights, </a:t>
            </a:r>
            <a:r>
              <a:rPr lang="en-US" altLang="en-US" sz="1800" dirty="0" err="1">
                <a:latin typeface="Courier New" panose="02070309020205020404" pitchFamily="49" charset="0"/>
                <a:cs typeface="Courier New" panose="02070309020205020404" pitchFamily="49" charset="0"/>
              </a:rPr>
              <a:t>bar_width</a:t>
            </a:r>
            <a:r>
              <a:rPr lang="en-US" altLang="en-US" sz="1800"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en-US" sz="1800" dirty="0" err="1">
                <a:latin typeface="Courier New" panose="02070309020205020404" pitchFamily="49" charset="0"/>
                <a:cs typeface="Courier New" panose="02070309020205020404" pitchFamily="49" charset="0"/>
              </a:rPr>
              <a:t>plt.show</a:t>
            </a:r>
            <a:r>
              <a:rPr lang="en-US" altLang="en-US" sz="1800" dirty="0">
                <a:latin typeface="Courier New" panose="02070309020205020404" pitchFamily="49" charset="0"/>
                <a:cs typeface="Courier New" panose="02070309020205020404" pitchFamily="49" charset="0"/>
              </a:rPr>
              <a:t>()</a:t>
            </a:r>
          </a:p>
        </p:txBody>
      </p:sp>
      <p:pic>
        <p:nvPicPr>
          <p:cNvPr id="10" name="Content Placeholder 9" descr="An output displays a vertical bar graph. For long description in Notes pane, press F6.">
            <a:extLst>
              <a:ext uri="{FF2B5EF4-FFF2-40B4-BE49-F238E27FC236}">
                <a16:creationId xmlns:a16="http://schemas.microsoft.com/office/drawing/2014/main" id="{32E702C5-F14D-4560-A529-35FF415123A5}"/>
              </a:ext>
            </a:extLst>
          </p:cNvPr>
          <p:cNvPicPr>
            <a:picLocks noGrp="1" noChangeAspect="1"/>
          </p:cNvPicPr>
          <p:nvPr>
            <p:ph sz="quarter" idx="15"/>
          </p:nvPr>
        </p:nvPicPr>
        <p:blipFill>
          <a:blip r:embed="rId3"/>
          <a:stretch>
            <a:fillRect/>
          </a:stretch>
        </p:blipFill>
        <p:spPr>
          <a:xfrm>
            <a:off x="6132904" y="4275441"/>
            <a:ext cx="2484974" cy="1867053"/>
          </a:xfrm>
        </p:spPr>
      </p:pic>
    </p:spTree>
    <p:extLst>
      <p:ext uri="{BB962C8B-B14F-4D97-AF65-F5344CB8AC3E}">
        <p14:creationId xmlns:p14="http://schemas.microsoft.com/office/powerpoint/2010/main" val="29195495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EAABBED-7537-435E-AAC4-FAEDF5A3A086}"/>
              </a:ext>
            </a:extLst>
          </p:cNvPr>
          <p:cNvSpPr>
            <a:spLocks noGrp="1"/>
          </p:cNvSpPr>
          <p:nvPr>
            <p:ph type="title"/>
          </p:nvPr>
        </p:nvSpPr>
        <p:spPr/>
        <p:txBody>
          <a:bodyPr/>
          <a:lstStyle/>
          <a:p>
            <a:r>
              <a:rPr lang="en-US" altLang="en-US" dirty="0"/>
              <a:t>Plotting a Bar Chart </a:t>
            </a:r>
            <a:r>
              <a:rPr lang="en-US" altLang="en-US" sz="2000" b="0" dirty="0"/>
              <a:t>(4 of 6)</a:t>
            </a:r>
            <a:endParaRPr lang="en-US" dirty="0"/>
          </a:p>
        </p:txBody>
      </p:sp>
      <p:sp>
        <p:nvSpPr>
          <p:cNvPr id="7" name="Content Placeholder 6">
            <a:extLst>
              <a:ext uri="{FF2B5EF4-FFF2-40B4-BE49-F238E27FC236}">
                <a16:creationId xmlns:a16="http://schemas.microsoft.com/office/drawing/2014/main" id="{534C3A4F-3BDD-407E-A42D-FA77F8D7A3AC}"/>
              </a:ext>
            </a:extLst>
          </p:cNvPr>
          <p:cNvSpPr>
            <a:spLocks noGrp="1"/>
          </p:cNvSpPr>
          <p:nvPr>
            <p:ph sz="quarter" idx="13"/>
          </p:nvPr>
        </p:nvSpPr>
        <p:spPr>
          <a:xfrm>
            <a:off x="457200" y="1556327"/>
            <a:ext cx="8229600" cy="1800000"/>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bar</a:t>
            </a:r>
            <a:r>
              <a:rPr lang="en-US" altLang="en-US" dirty="0"/>
              <a:t> function has a </a:t>
            </a:r>
            <a:r>
              <a:rPr lang="en-US" altLang="en-US" dirty="0">
                <a:latin typeface="Courier New" panose="02070309020205020404" pitchFamily="49" charset="0"/>
                <a:cs typeface="Courier New" panose="02070309020205020404" pitchFamily="49" charset="0"/>
              </a:rPr>
              <a:t>color</a:t>
            </a:r>
            <a:r>
              <a:rPr lang="en-US" altLang="en-US" dirty="0"/>
              <a:t> parameter that you can use to change the colors of the bars. </a:t>
            </a:r>
          </a:p>
          <a:p>
            <a:r>
              <a:rPr lang="en-US" altLang="en-US" dirty="0"/>
              <a:t>The argument that you pass into this parameter is a tuple containing a series of color codes. </a:t>
            </a:r>
            <a:endParaRPr lang="en-US" altLang="en-US" sz="1400" dirty="0"/>
          </a:p>
        </p:txBody>
      </p:sp>
      <p:graphicFrame>
        <p:nvGraphicFramePr>
          <p:cNvPr id="9" name="Content Placeholder 8">
            <a:extLst>
              <a:ext uri="{FF2B5EF4-FFF2-40B4-BE49-F238E27FC236}">
                <a16:creationId xmlns:a16="http://schemas.microsoft.com/office/drawing/2014/main" id="{FDCC40C7-19BA-4EBE-A578-61268A1CA9F1}"/>
              </a:ext>
            </a:extLst>
          </p:cNvPr>
          <p:cNvGraphicFramePr>
            <a:graphicFrameLocks noGrp="1"/>
          </p:cNvGraphicFramePr>
          <p:nvPr>
            <p:ph sz="quarter" idx="14"/>
            <p:extLst>
              <p:ext uri="{D42A27DB-BD31-4B8C-83A1-F6EECF244321}">
                <p14:modId xmlns:p14="http://schemas.microsoft.com/office/powerpoint/2010/main" val="2074429171"/>
              </p:ext>
            </p:extLst>
          </p:nvPr>
        </p:nvGraphicFramePr>
        <p:xfrm>
          <a:off x="2074413" y="3512725"/>
          <a:ext cx="4995173" cy="2762640"/>
        </p:xfrm>
        <a:graphic>
          <a:graphicData uri="http://schemas.openxmlformats.org/drawingml/2006/table">
            <a:tbl>
              <a:tblPr firstRow="1" bandRow="1">
                <a:tableStyleId>{5940675A-B579-460E-94D1-54222C63F5DA}</a:tableStyleId>
              </a:tblPr>
              <a:tblGrid>
                <a:gridCol w="1674874">
                  <a:extLst>
                    <a:ext uri="{9D8B030D-6E8A-4147-A177-3AD203B41FA5}">
                      <a16:colId xmlns:a16="http://schemas.microsoft.com/office/drawing/2014/main" val="3541571637"/>
                    </a:ext>
                  </a:extLst>
                </a:gridCol>
                <a:gridCol w="3320299">
                  <a:extLst>
                    <a:ext uri="{9D8B030D-6E8A-4147-A177-3AD203B41FA5}">
                      <a16:colId xmlns:a16="http://schemas.microsoft.com/office/drawing/2014/main" val="3410869590"/>
                    </a:ext>
                  </a:extLst>
                </a:gridCol>
              </a:tblGrid>
              <a:tr h="279385">
                <a:tc>
                  <a:txBody>
                    <a:bodyPr/>
                    <a:lstStyle/>
                    <a:p>
                      <a:pPr algn="ctr">
                        <a:spcAft>
                          <a:spcPts val="0"/>
                        </a:spcAft>
                      </a:pPr>
                      <a:r>
                        <a:rPr lang="en-US" sz="1400" b="1" dirty="0">
                          <a:solidFill>
                            <a:schemeClr val="tx1"/>
                          </a:solidFill>
                          <a:effectLst/>
                          <a:latin typeface="+mn-lt"/>
                          <a:cs typeface="Times New Roman" panose="02020603050405020304" pitchFamily="18" charset="0"/>
                        </a:rPr>
                        <a:t>Color Code</a:t>
                      </a:r>
                      <a:endParaRPr lang="en-US" sz="1400" dirty="0">
                        <a:solidFill>
                          <a:schemeClr val="tx1"/>
                        </a:solidFill>
                        <a:effectLst/>
                        <a:latin typeface="+mn-lt"/>
                        <a:cs typeface="Times New Roman" panose="02020603050405020304" pitchFamily="18" charset="0"/>
                      </a:endParaRPr>
                    </a:p>
                  </a:txBody>
                  <a:tcPr marL="68580" marR="68580" marT="46800" marB="46800"/>
                </a:tc>
                <a:tc>
                  <a:txBody>
                    <a:bodyPr/>
                    <a:lstStyle/>
                    <a:p>
                      <a:pPr algn="l">
                        <a:spcAft>
                          <a:spcPts val="0"/>
                        </a:spcAft>
                      </a:pPr>
                      <a:r>
                        <a:rPr lang="en-US" sz="1400" b="1" dirty="0">
                          <a:solidFill>
                            <a:schemeClr val="tx1"/>
                          </a:solidFill>
                          <a:effectLst/>
                          <a:latin typeface="+mn-lt"/>
                          <a:cs typeface="Times New Roman" panose="02020603050405020304" pitchFamily="18" charset="0"/>
                        </a:rPr>
                        <a:t>Corresponding Color</a:t>
                      </a:r>
                      <a:endParaRPr lang="en-US" sz="1400" dirty="0">
                        <a:solidFill>
                          <a:schemeClr val="tx1"/>
                        </a:solidFill>
                        <a:effectLst/>
                        <a:latin typeface="+mn-lt"/>
                        <a:cs typeface="Times New Roman" panose="02020603050405020304" pitchFamily="18" charset="0"/>
                      </a:endParaRPr>
                    </a:p>
                  </a:txBody>
                  <a:tcPr marL="68580" marR="68580" marT="46800" marB="46800"/>
                </a:tc>
                <a:extLst>
                  <a:ext uri="{0D108BD9-81ED-4DB2-BD59-A6C34878D82A}">
                    <a16:rowId xmlns:a16="http://schemas.microsoft.com/office/drawing/2014/main" val="1744584168"/>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'b'</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Blue</a:t>
                      </a:r>
                    </a:p>
                  </a:txBody>
                  <a:tcPr marL="68580" marR="68580" marT="46800" marB="46800"/>
                </a:tc>
                <a:extLst>
                  <a:ext uri="{0D108BD9-81ED-4DB2-BD59-A6C34878D82A}">
                    <a16:rowId xmlns:a16="http://schemas.microsoft.com/office/drawing/2014/main" val="3787399505"/>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'g'</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Green</a:t>
                      </a:r>
                    </a:p>
                  </a:txBody>
                  <a:tcPr marL="68580" marR="68580" marT="46800" marB="46800"/>
                </a:tc>
                <a:extLst>
                  <a:ext uri="{0D108BD9-81ED-4DB2-BD59-A6C34878D82A}">
                    <a16:rowId xmlns:a16="http://schemas.microsoft.com/office/drawing/2014/main" val="2037892913"/>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'r'</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Red</a:t>
                      </a:r>
                    </a:p>
                  </a:txBody>
                  <a:tcPr marL="68580" marR="68580" marT="46800" marB="46800"/>
                </a:tc>
                <a:extLst>
                  <a:ext uri="{0D108BD9-81ED-4DB2-BD59-A6C34878D82A}">
                    <a16:rowId xmlns:a16="http://schemas.microsoft.com/office/drawing/2014/main" val="2238727041"/>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'c'</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Cyan</a:t>
                      </a:r>
                    </a:p>
                  </a:txBody>
                  <a:tcPr marL="68580" marR="68580" marT="46800" marB="46800"/>
                </a:tc>
                <a:extLst>
                  <a:ext uri="{0D108BD9-81ED-4DB2-BD59-A6C34878D82A}">
                    <a16:rowId xmlns:a16="http://schemas.microsoft.com/office/drawing/2014/main" val="2661435317"/>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'm'</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Magenta</a:t>
                      </a:r>
                    </a:p>
                  </a:txBody>
                  <a:tcPr marL="68580" marR="68580" marT="46800" marB="46800"/>
                </a:tc>
                <a:extLst>
                  <a:ext uri="{0D108BD9-81ED-4DB2-BD59-A6C34878D82A}">
                    <a16:rowId xmlns:a16="http://schemas.microsoft.com/office/drawing/2014/main" val="3489140056"/>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'y'</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Yellow</a:t>
                      </a:r>
                    </a:p>
                  </a:txBody>
                  <a:tcPr marL="68580" marR="68580" marT="46800" marB="46800"/>
                </a:tc>
                <a:extLst>
                  <a:ext uri="{0D108BD9-81ED-4DB2-BD59-A6C34878D82A}">
                    <a16:rowId xmlns:a16="http://schemas.microsoft.com/office/drawing/2014/main" val="2421064080"/>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'k'</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Black</a:t>
                      </a:r>
                    </a:p>
                  </a:txBody>
                  <a:tcPr marL="68580" marR="68580" marT="46800" marB="46800"/>
                </a:tc>
                <a:extLst>
                  <a:ext uri="{0D108BD9-81ED-4DB2-BD59-A6C34878D82A}">
                    <a16:rowId xmlns:a16="http://schemas.microsoft.com/office/drawing/2014/main" val="699368101"/>
                  </a:ext>
                </a:extLst>
              </a:tr>
              <a:tr h="279385">
                <a:tc>
                  <a:txBody>
                    <a:bodyPr/>
                    <a:lstStyle/>
                    <a:p>
                      <a:pPr algn="ctr">
                        <a:spcAft>
                          <a:spcPts val="0"/>
                        </a:spcAft>
                      </a:pPr>
                      <a:r>
                        <a:rPr lang="en-US" sz="1400" dirty="0">
                          <a:solidFill>
                            <a:schemeClr val="tx1"/>
                          </a:solidFill>
                          <a:effectLst/>
                          <a:latin typeface="Courier New" panose="02070309020205020404" pitchFamily="49" charset="0"/>
                          <a:cs typeface="Times New Roman" panose="02020603050405020304" pitchFamily="18" charset="0"/>
                        </a:rPr>
                        <a:t>'w'</a:t>
                      </a:r>
                      <a:endParaRPr lang="en-US" sz="1400" dirty="0">
                        <a:solidFill>
                          <a:schemeClr val="tx1"/>
                        </a:solidFill>
                        <a:effectLst/>
                        <a:latin typeface="Calibri" panose="020F0502020204030204" pitchFamily="34" charset="0"/>
                        <a:cs typeface="Times New Roman" panose="02020603050405020304" pitchFamily="18" charset="0"/>
                      </a:endParaRPr>
                    </a:p>
                  </a:txBody>
                  <a:tcPr marL="68580" marR="68580" marT="46800" marB="46800"/>
                </a:tc>
                <a:tc>
                  <a:txBody>
                    <a:bodyPr/>
                    <a:lstStyle/>
                    <a:p>
                      <a:pPr algn="l">
                        <a:spcAft>
                          <a:spcPts val="0"/>
                        </a:spcAft>
                      </a:pPr>
                      <a:r>
                        <a:rPr lang="en-US" sz="1400" dirty="0">
                          <a:solidFill>
                            <a:schemeClr val="tx1"/>
                          </a:solidFill>
                          <a:effectLst/>
                          <a:latin typeface="+mn-lt"/>
                          <a:cs typeface="Times New Roman" panose="02020603050405020304" pitchFamily="18" charset="0"/>
                        </a:rPr>
                        <a:t>White</a:t>
                      </a:r>
                    </a:p>
                  </a:txBody>
                  <a:tcPr marL="68580" marR="68580" marT="46800" marB="46800"/>
                </a:tc>
                <a:extLst>
                  <a:ext uri="{0D108BD9-81ED-4DB2-BD59-A6C34878D82A}">
                    <a16:rowId xmlns:a16="http://schemas.microsoft.com/office/drawing/2014/main" val="2281061106"/>
                  </a:ext>
                </a:extLst>
              </a:tr>
            </a:tbl>
          </a:graphicData>
        </a:graphic>
      </p:graphicFrame>
    </p:spTree>
    <p:extLst>
      <p:ext uri="{BB962C8B-B14F-4D97-AF65-F5344CB8AC3E}">
        <p14:creationId xmlns:p14="http://schemas.microsoft.com/office/powerpoint/2010/main" val="2186031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9CD042-6E9C-4BB5-BC09-66D573EA3261}"/>
              </a:ext>
            </a:extLst>
          </p:cNvPr>
          <p:cNvSpPr>
            <a:spLocks noGrp="1"/>
          </p:cNvSpPr>
          <p:nvPr>
            <p:ph type="title"/>
          </p:nvPr>
        </p:nvSpPr>
        <p:spPr/>
        <p:txBody>
          <a:bodyPr/>
          <a:lstStyle/>
          <a:p>
            <a:r>
              <a:rPr lang="en-US" altLang="en-US" dirty="0"/>
              <a:t>Plotting a Bar Chart </a:t>
            </a:r>
            <a:r>
              <a:rPr lang="en-US" altLang="en-US" sz="2000" b="0" dirty="0"/>
              <a:t>(5 of 6)</a:t>
            </a:r>
            <a:endParaRPr lang="en-US" dirty="0"/>
          </a:p>
        </p:txBody>
      </p:sp>
      <p:sp>
        <p:nvSpPr>
          <p:cNvPr id="5" name="Content Placeholder 4">
            <a:extLst>
              <a:ext uri="{FF2B5EF4-FFF2-40B4-BE49-F238E27FC236}">
                <a16:creationId xmlns:a16="http://schemas.microsoft.com/office/drawing/2014/main" id="{30565D88-D80A-41E9-A51F-B910C5BBE985}"/>
              </a:ext>
            </a:extLst>
          </p:cNvPr>
          <p:cNvSpPr>
            <a:spLocks noGrp="1"/>
          </p:cNvSpPr>
          <p:nvPr>
            <p:ph sz="quarter" idx="13"/>
          </p:nvPr>
        </p:nvSpPr>
        <p:spPr>
          <a:xfrm>
            <a:off x="457200" y="1552573"/>
            <a:ext cx="8229600" cy="396000"/>
          </a:xfrm>
        </p:spPr>
        <p:txBody>
          <a:bodyPr/>
          <a:lstStyle/>
          <a:p>
            <a:r>
              <a:rPr lang="en-US" altLang="en-US" sz="1600" b="1" dirty="0"/>
              <a:t>Example of how to pass a tuple of color codes as a keyword argument:</a:t>
            </a:r>
            <a:endParaRPr lang="en-US" sz="1600" b="1" dirty="0"/>
          </a:p>
        </p:txBody>
      </p:sp>
      <p:sp>
        <p:nvSpPr>
          <p:cNvPr id="6" name="Content Placeholder 5">
            <a:extLst>
              <a:ext uri="{FF2B5EF4-FFF2-40B4-BE49-F238E27FC236}">
                <a16:creationId xmlns:a16="http://schemas.microsoft.com/office/drawing/2014/main" id="{B2B03290-440B-4147-94A5-01429BF6626E}"/>
              </a:ext>
            </a:extLst>
          </p:cNvPr>
          <p:cNvSpPr>
            <a:spLocks noGrp="1"/>
          </p:cNvSpPr>
          <p:nvPr>
            <p:ph sz="quarter" idx="14"/>
          </p:nvPr>
        </p:nvSpPr>
        <p:spPr>
          <a:xfrm>
            <a:off x="702000" y="2214293"/>
            <a:ext cx="7740000" cy="396000"/>
          </a:xfrm>
        </p:spPr>
        <p:txBody>
          <a:bodyPr/>
          <a:lstStyle/>
          <a:p>
            <a:pPr eaLnBrk="1" hangingPunct="1">
              <a:spcBef>
                <a:spcPct val="0"/>
              </a:spcBef>
              <a:buFontTx/>
              <a:buNone/>
            </a:pPr>
            <a:r>
              <a:rPr lang="en-US" altLang="en-US" sz="1600" dirty="0" err="1">
                <a:latin typeface="Courier New" panose="02070309020205020404" pitchFamily="49" charset="0"/>
                <a:cs typeface="Calibri" panose="020F0502020204030204" pitchFamily="34" charset="0"/>
              </a:rPr>
              <a:t>plt.bar</a:t>
            </a:r>
            <a:r>
              <a:rPr lang="en-US" altLang="en-US" sz="1600" dirty="0">
                <a:latin typeface="Courier New" panose="02070309020205020404" pitchFamily="49" charset="0"/>
                <a:cs typeface="Calibri" panose="020F0502020204030204" pitchFamily="34" charset="0"/>
              </a:rPr>
              <a:t>(</a:t>
            </a:r>
            <a:r>
              <a:rPr lang="en-US" altLang="en-US" sz="1600" dirty="0" err="1">
                <a:latin typeface="Courier New" panose="02070309020205020404" pitchFamily="49" charset="0"/>
                <a:cs typeface="Calibri" panose="020F0502020204030204" pitchFamily="34" charset="0"/>
              </a:rPr>
              <a:t>left_edges</a:t>
            </a:r>
            <a:r>
              <a:rPr lang="en-US" altLang="en-US" sz="1600" dirty="0">
                <a:latin typeface="Courier New" panose="02070309020205020404" pitchFamily="49" charset="0"/>
                <a:cs typeface="Calibri" panose="020F0502020204030204" pitchFamily="34" charset="0"/>
              </a:rPr>
              <a:t>, heights, color=('r', 'g', 'b', 'w', 'k'))</a:t>
            </a:r>
            <a:endParaRPr lang="en-US" altLang="en-US" sz="1600" dirty="0">
              <a:latin typeface="Courier New" panose="02070309020205020404" pitchFamily="49" charset="0"/>
              <a:cs typeface="Courier New" panose="02070309020205020404" pitchFamily="49" charset="0"/>
            </a:endParaRPr>
          </a:p>
        </p:txBody>
      </p:sp>
      <p:sp>
        <p:nvSpPr>
          <p:cNvPr id="7" name="Content Placeholder 6">
            <a:extLst>
              <a:ext uri="{FF2B5EF4-FFF2-40B4-BE49-F238E27FC236}">
                <a16:creationId xmlns:a16="http://schemas.microsoft.com/office/drawing/2014/main" id="{A6DE5AB7-3CB0-4757-A8CC-2A5F00418B0F}"/>
              </a:ext>
            </a:extLst>
          </p:cNvPr>
          <p:cNvSpPr>
            <a:spLocks noGrp="1"/>
          </p:cNvSpPr>
          <p:nvPr>
            <p:ph sz="quarter" idx="15"/>
          </p:nvPr>
        </p:nvSpPr>
        <p:spPr>
          <a:xfrm>
            <a:off x="468313" y="2876013"/>
            <a:ext cx="8218485" cy="2016000"/>
          </a:xfrm>
        </p:spPr>
        <p:txBody>
          <a:bodyPr/>
          <a:lstStyle/>
          <a:p>
            <a:r>
              <a:rPr lang="en-US" altLang="en-US" sz="1600" b="1" dirty="0"/>
              <a:t>The colors of the bars in the resulting bar chart will be as follows:</a:t>
            </a:r>
          </a:p>
          <a:p>
            <a:pPr lvl="1"/>
            <a:r>
              <a:rPr lang="en-US" altLang="en-US" sz="1600" dirty="0"/>
              <a:t>The first bar will be red.</a:t>
            </a:r>
          </a:p>
          <a:p>
            <a:pPr lvl="1"/>
            <a:r>
              <a:rPr lang="en-US" altLang="en-US" sz="1600" dirty="0"/>
              <a:t>The second bar will be green.</a:t>
            </a:r>
          </a:p>
          <a:p>
            <a:pPr lvl="1"/>
            <a:r>
              <a:rPr lang="en-US" altLang="en-US" sz="1600" dirty="0"/>
              <a:t>The third bar will be blue.</a:t>
            </a:r>
          </a:p>
          <a:p>
            <a:pPr lvl="1"/>
            <a:r>
              <a:rPr lang="en-US" altLang="en-US" sz="1600" dirty="0"/>
              <a:t>The fourth bar will be white.</a:t>
            </a:r>
          </a:p>
          <a:p>
            <a:pPr lvl="1"/>
            <a:r>
              <a:rPr lang="en-US" altLang="en-US" sz="1600" dirty="0"/>
              <a:t>The fifth bar will be black.</a:t>
            </a:r>
          </a:p>
        </p:txBody>
      </p:sp>
    </p:spTree>
    <p:extLst>
      <p:ext uri="{BB962C8B-B14F-4D97-AF65-F5344CB8AC3E}">
        <p14:creationId xmlns:p14="http://schemas.microsoft.com/office/powerpoint/2010/main" val="19615265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B3B7E10-D640-45F4-A3BD-7EF5174B3F63}"/>
              </a:ext>
            </a:extLst>
          </p:cNvPr>
          <p:cNvSpPr>
            <a:spLocks noGrp="1"/>
          </p:cNvSpPr>
          <p:nvPr>
            <p:ph type="title"/>
          </p:nvPr>
        </p:nvSpPr>
        <p:spPr/>
        <p:txBody>
          <a:bodyPr/>
          <a:lstStyle/>
          <a:p>
            <a:r>
              <a:rPr lang="en-US" altLang="en-US" dirty="0"/>
              <a:t>Plotting a Bar Chart </a:t>
            </a:r>
            <a:r>
              <a:rPr lang="en-US" altLang="en-US" sz="2000" b="0" dirty="0"/>
              <a:t>(6 of 6)</a:t>
            </a:r>
            <a:endParaRPr lang="en-US" dirty="0"/>
          </a:p>
        </p:txBody>
      </p:sp>
      <p:sp>
        <p:nvSpPr>
          <p:cNvPr id="18" name="Content Placeholder 17">
            <a:extLst>
              <a:ext uri="{FF2B5EF4-FFF2-40B4-BE49-F238E27FC236}">
                <a16:creationId xmlns:a16="http://schemas.microsoft.com/office/drawing/2014/main" id="{FB8039B1-6684-435D-BABB-AF55AD1ED6D9}"/>
              </a:ext>
            </a:extLst>
          </p:cNvPr>
          <p:cNvSpPr>
            <a:spLocks noGrp="1"/>
          </p:cNvSpPr>
          <p:nvPr>
            <p:ph sz="quarter" idx="13"/>
          </p:nvPr>
        </p:nvSpPr>
        <p:spPr>
          <a:xfrm>
            <a:off x="457200" y="1556327"/>
            <a:ext cx="8229600" cy="2843395"/>
          </a:xfrm>
        </p:spPr>
        <p:txBody>
          <a:bodyPr/>
          <a:lstStyle/>
          <a:p>
            <a:r>
              <a:rPr lang="en-US" altLang="en-US" dirty="0"/>
              <a:t>Use the </a:t>
            </a:r>
            <a:r>
              <a:rPr lang="en-US" altLang="en-US" dirty="0" err="1">
                <a:latin typeface="Courier New" panose="02070309020205020404" pitchFamily="49" charset="0"/>
                <a:cs typeface="Courier New" panose="02070309020205020404" pitchFamily="49" charset="0"/>
              </a:rPr>
              <a:t>xlabel</a:t>
            </a:r>
            <a:r>
              <a:rPr lang="en-US" altLang="en-US" dirty="0"/>
              <a:t> and </a:t>
            </a:r>
            <a:r>
              <a:rPr lang="en-US" altLang="en-US" dirty="0" err="1">
                <a:latin typeface="Courier New" panose="02070309020205020404" pitchFamily="49" charset="0"/>
                <a:cs typeface="Courier New" panose="02070309020205020404" pitchFamily="49" charset="0"/>
              </a:rPr>
              <a:t>ylabel</a:t>
            </a:r>
            <a:r>
              <a:rPr lang="en-US" altLang="en-US" dirty="0"/>
              <a:t> functions to add labels to the </a:t>
            </a:r>
            <a:r>
              <a:rPr lang="en-US" altLang="en-US" i="1" dirty="0"/>
              <a:t>X</a:t>
            </a:r>
            <a:r>
              <a:rPr lang="en-US" altLang="en-US" dirty="0"/>
              <a:t> and </a:t>
            </a:r>
            <a:r>
              <a:rPr lang="en-US" altLang="en-US" i="1" dirty="0"/>
              <a:t>Y</a:t>
            </a:r>
            <a:r>
              <a:rPr lang="en-US" altLang="en-US" dirty="0"/>
              <a:t> axes.</a:t>
            </a:r>
          </a:p>
          <a:p>
            <a:r>
              <a:rPr lang="en-US" altLang="en-US" dirty="0"/>
              <a:t>Use the </a:t>
            </a:r>
            <a:r>
              <a:rPr lang="en-US" altLang="en-US" dirty="0" err="1">
                <a:latin typeface="Courier New" panose="02070309020205020404" pitchFamily="49" charset="0"/>
                <a:cs typeface="Courier New" panose="02070309020205020404" pitchFamily="49" charset="0"/>
              </a:rPr>
              <a:t>xticks</a:t>
            </a:r>
            <a:r>
              <a:rPr lang="en-US" altLang="en-US" dirty="0"/>
              <a:t> function to display custom tick mark labels along the </a:t>
            </a:r>
            <a:r>
              <a:rPr lang="en-US" altLang="en-US" i="1" dirty="0"/>
              <a:t>X</a:t>
            </a:r>
            <a:r>
              <a:rPr lang="en-US" altLang="en-US" dirty="0"/>
              <a:t> axis</a:t>
            </a:r>
          </a:p>
          <a:p>
            <a:r>
              <a:rPr lang="en-US" altLang="en-US" dirty="0"/>
              <a:t>Use the </a:t>
            </a:r>
            <a:r>
              <a:rPr lang="en-US" altLang="en-US" dirty="0" err="1">
                <a:latin typeface="Courier New" panose="02070309020205020404" pitchFamily="49" charset="0"/>
                <a:cs typeface="Courier New" panose="02070309020205020404" pitchFamily="49" charset="0"/>
              </a:rPr>
              <a:t>yticks</a:t>
            </a:r>
            <a:r>
              <a:rPr lang="en-US" altLang="en-US" dirty="0"/>
              <a:t> function to display custom tick mark labels along the </a:t>
            </a:r>
            <a:r>
              <a:rPr lang="en-US" altLang="en-US" i="1" dirty="0"/>
              <a:t>Y</a:t>
            </a:r>
            <a:r>
              <a:rPr lang="en-US" altLang="en-US" dirty="0"/>
              <a:t> axis.</a:t>
            </a:r>
          </a:p>
        </p:txBody>
      </p:sp>
    </p:spTree>
    <p:extLst>
      <p:ext uri="{BB962C8B-B14F-4D97-AF65-F5344CB8AC3E}">
        <p14:creationId xmlns:p14="http://schemas.microsoft.com/office/powerpoint/2010/main" val="1124264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B3B7E10-D640-45F4-A3BD-7EF5174B3F63}"/>
              </a:ext>
            </a:extLst>
          </p:cNvPr>
          <p:cNvSpPr>
            <a:spLocks noGrp="1"/>
          </p:cNvSpPr>
          <p:nvPr>
            <p:ph type="title"/>
          </p:nvPr>
        </p:nvSpPr>
        <p:spPr/>
        <p:txBody>
          <a:bodyPr/>
          <a:lstStyle/>
          <a:p>
            <a:r>
              <a:rPr lang="en-US" altLang="en-US" dirty="0"/>
              <a:t>Plotting a Pie Chart </a:t>
            </a:r>
            <a:r>
              <a:rPr lang="en-US" altLang="en-US" sz="2000" b="0" dirty="0"/>
              <a:t>(1 of 5)</a:t>
            </a:r>
            <a:endParaRPr lang="en-US" sz="2000" b="0" dirty="0"/>
          </a:p>
        </p:txBody>
      </p:sp>
      <p:sp>
        <p:nvSpPr>
          <p:cNvPr id="18" name="Content Placeholder 17">
            <a:extLst>
              <a:ext uri="{FF2B5EF4-FFF2-40B4-BE49-F238E27FC236}">
                <a16:creationId xmlns:a16="http://schemas.microsoft.com/office/drawing/2014/main" id="{FB8039B1-6684-435D-BABB-AF55AD1ED6D9}"/>
              </a:ext>
            </a:extLst>
          </p:cNvPr>
          <p:cNvSpPr>
            <a:spLocks noGrp="1"/>
          </p:cNvSpPr>
          <p:nvPr>
            <p:ph sz="quarter" idx="13"/>
          </p:nvPr>
        </p:nvSpPr>
        <p:spPr>
          <a:xfrm>
            <a:off x="457200" y="1556327"/>
            <a:ext cx="8250702" cy="4261377"/>
          </a:xfrm>
        </p:spPr>
        <p:txBody>
          <a:bodyPr/>
          <a:lstStyle/>
          <a:p>
            <a:r>
              <a:rPr lang="en-US" altLang="en-US" b="1" dirty="0"/>
              <a:t>You use the </a:t>
            </a:r>
            <a:r>
              <a:rPr lang="en-US" altLang="en-US" b="1" dirty="0">
                <a:latin typeface="Courier New" panose="02070309020205020404" pitchFamily="49" charset="0"/>
                <a:cs typeface="Courier New" panose="02070309020205020404" pitchFamily="49" charset="0"/>
              </a:rPr>
              <a:t>pie</a:t>
            </a:r>
            <a:r>
              <a:rPr lang="en-US" altLang="en-US" b="1" dirty="0"/>
              <a:t> function in the </a:t>
            </a:r>
            <a:r>
              <a:rPr lang="en-US" altLang="en-US" b="1" dirty="0" err="1">
                <a:latin typeface="Courier New" panose="02070309020205020404" pitchFamily="49" charset="0"/>
                <a:cs typeface="Courier New" panose="02070309020205020404" pitchFamily="49" charset="0"/>
              </a:rPr>
              <a:t>matplotlib.pyplot</a:t>
            </a:r>
            <a:r>
              <a:rPr lang="en-US" altLang="en-US" b="1" dirty="0">
                <a:latin typeface="Courier New" panose="02070309020205020404" pitchFamily="49" charset="0"/>
                <a:cs typeface="Courier New" panose="02070309020205020404" pitchFamily="49" charset="0"/>
              </a:rPr>
              <a:t> </a:t>
            </a:r>
            <a:r>
              <a:rPr lang="en-US" altLang="en-US" b="1" dirty="0"/>
              <a:t>module to create a pie chart.</a:t>
            </a:r>
          </a:p>
          <a:p>
            <a:r>
              <a:rPr lang="en-US" altLang="en-US" b="1" dirty="0"/>
              <a:t>When you call the </a:t>
            </a:r>
            <a:r>
              <a:rPr lang="en-US" altLang="en-US" b="1" dirty="0">
                <a:latin typeface="Courier New" panose="02070309020205020404" pitchFamily="49" charset="0"/>
              </a:rPr>
              <a:t>pie</a:t>
            </a:r>
            <a:r>
              <a:rPr lang="en-US" altLang="en-US" b="1" dirty="0"/>
              <a:t> function, you pass a list of values as an argument. </a:t>
            </a:r>
          </a:p>
          <a:p>
            <a:pPr lvl="1"/>
            <a:r>
              <a:rPr lang="en-US" altLang="en-US" dirty="0"/>
              <a:t>The sum of the values will be used as the value of the whole. </a:t>
            </a:r>
          </a:p>
          <a:p>
            <a:pPr lvl="1"/>
            <a:r>
              <a:rPr lang="en-US" altLang="en-US" dirty="0"/>
              <a:t>Each element in the list will become a slice in the pie chart. </a:t>
            </a:r>
          </a:p>
          <a:p>
            <a:pPr lvl="1"/>
            <a:r>
              <a:rPr lang="en-US" altLang="en-US" dirty="0"/>
              <a:t>The size of a slice represents that element's value as a percentage of the whole.</a:t>
            </a:r>
          </a:p>
        </p:txBody>
      </p:sp>
    </p:spTree>
    <p:extLst>
      <p:ext uri="{BB962C8B-B14F-4D97-AF65-F5344CB8AC3E}">
        <p14:creationId xmlns:p14="http://schemas.microsoft.com/office/powerpoint/2010/main" val="1177181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C4F7C6-B408-4A89-9EE7-00807E8B4CB3}"/>
              </a:ext>
            </a:extLst>
          </p:cNvPr>
          <p:cNvSpPr>
            <a:spLocks noGrp="1"/>
          </p:cNvSpPr>
          <p:nvPr>
            <p:ph type="title"/>
          </p:nvPr>
        </p:nvSpPr>
        <p:spPr/>
        <p:txBody>
          <a:bodyPr/>
          <a:lstStyle/>
          <a:p>
            <a:r>
              <a:rPr lang="en-US" altLang="en-US" dirty="0"/>
              <a:t>Plotting a Pie Chart </a:t>
            </a:r>
            <a:r>
              <a:rPr lang="en-US" altLang="en-US" sz="2000" b="0" dirty="0"/>
              <a:t>(2 of 5)</a:t>
            </a:r>
            <a:endParaRPr lang="en-US" dirty="0"/>
          </a:p>
        </p:txBody>
      </p:sp>
      <p:sp>
        <p:nvSpPr>
          <p:cNvPr id="6" name="Content Placeholder 5">
            <a:extLst>
              <a:ext uri="{FF2B5EF4-FFF2-40B4-BE49-F238E27FC236}">
                <a16:creationId xmlns:a16="http://schemas.microsoft.com/office/drawing/2014/main" id="{B7F49C93-EED8-4EE0-A6A8-100359382947}"/>
              </a:ext>
            </a:extLst>
          </p:cNvPr>
          <p:cNvSpPr>
            <a:spLocks noGrp="1"/>
          </p:cNvSpPr>
          <p:nvPr>
            <p:ph sz="quarter" idx="13"/>
          </p:nvPr>
        </p:nvSpPr>
        <p:spPr>
          <a:xfrm>
            <a:off x="466603" y="1552574"/>
            <a:ext cx="1826024" cy="504000"/>
          </a:xfrm>
        </p:spPr>
        <p:txBody>
          <a:bodyPr/>
          <a:lstStyle/>
          <a:p>
            <a:r>
              <a:rPr lang="en-US" altLang="en-US" b="1" dirty="0"/>
              <a:t>Example</a:t>
            </a:r>
          </a:p>
        </p:txBody>
      </p:sp>
      <p:sp>
        <p:nvSpPr>
          <p:cNvPr id="7" name="Content Placeholder 6">
            <a:extLst>
              <a:ext uri="{FF2B5EF4-FFF2-40B4-BE49-F238E27FC236}">
                <a16:creationId xmlns:a16="http://schemas.microsoft.com/office/drawing/2014/main" id="{D0E0285A-BD7F-4DBE-AE32-C417E6B0C5B3}"/>
              </a:ext>
            </a:extLst>
          </p:cNvPr>
          <p:cNvSpPr>
            <a:spLocks noGrp="1"/>
          </p:cNvSpPr>
          <p:nvPr>
            <p:ph sz="quarter" idx="14"/>
          </p:nvPr>
        </p:nvSpPr>
        <p:spPr>
          <a:xfrm>
            <a:off x="2124000" y="2296498"/>
            <a:ext cx="4896000" cy="1260000"/>
          </a:xfrm>
        </p:spPr>
        <p:txBody>
          <a:bodyPr/>
          <a:lstStyle/>
          <a:p>
            <a:pPr eaLnBrk="1" hangingPunct="1">
              <a:spcBef>
                <a:spcPct val="0"/>
              </a:spcBef>
              <a:buFontTx/>
              <a:buNone/>
            </a:pPr>
            <a:r>
              <a:rPr lang="en-US" altLang="en-US" dirty="0">
                <a:latin typeface="Courier New" panose="02070309020205020404" pitchFamily="49" charset="0"/>
                <a:cs typeface="Courier New" panose="02070309020205020404" pitchFamily="49" charset="0"/>
              </a:rPr>
              <a:t>values = [20, 60, 80, 40]</a:t>
            </a:r>
          </a:p>
          <a:p>
            <a:pPr eaLnBrk="1" hangingPunct="1">
              <a:spcBef>
                <a:spcPct val="0"/>
              </a:spcBef>
              <a:buFontTx/>
              <a:buNone/>
            </a:pPr>
            <a:r>
              <a:rPr lang="en-US" altLang="en-US" dirty="0" err="1">
                <a:latin typeface="Courier New" panose="02070309020205020404" pitchFamily="49" charset="0"/>
                <a:cs typeface="Calibri" panose="020F0502020204030204" pitchFamily="34" charset="0"/>
              </a:rPr>
              <a:t>plt.pie</a:t>
            </a:r>
            <a:r>
              <a:rPr lang="en-US" altLang="en-US" dirty="0">
                <a:latin typeface="Courier New" panose="02070309020205020404" pitchFamily="49" charset="0"/>
                <a:cs typeface="Calibri" panose="020F0502020204030204" pitchFamily="34" charset="0"/>
              </a:rPr>
              <a:t>(values)</a:t>
            </a:r>
          </a:p>
          <a:p>
            <a:pPr eaLnBrk="1" hangingPunct="1">
              <a:spcBef>
                <a:spcPct val="0"/>
              </a:spcBef>
              <a:buFontTx/>
              <a:buNone/>
            </a:pPr>
            <a:r>
              <a:rPr lang="en-US" altLang="en-US" dirty="0" err="1">
                <a:latin typeface="Courier New" panose="02070309020205020404" pitchFamily="49" charset="0"/>
                <a:cs typeface="Calibri" panose="020F0502020204030204" pitchFamily="34" charset="0"/>
              </a:rPr>
              <a:t>plt.show</a:t>
            </a:r>
            <a:r>
              <a:rPr lang="en-US" altLang="en-US" dirty="0">
                <a:latin typeface="Courier New" panose="02070309020205020404" pitchFamily="49" charset="0"/>
                <a:cs typeface="Calibri" panose="020F0502020204030204" pitchFamily="34" charset="0"/>
              </a:rPr>
              <a:t>()</a:t>
            </a:r>
            <a:endParaRPr lang="en-US" altLang="en-US" dirty="0">
              <a:latin typeface="Courier New" panose="02070309020205020404" pitchFamily="49" charset="0"/>
              <a:cs typeface="Courier New" panose="02070309020205020404" pitchFamily="49" charset="0"/>
            </a:endParaRPr>
          </a:p>
        </p:txBody>
      </p:sp>
      <p:pic>
        <p:nvPicPr>
          <p:cNvPr id="10" name="Content Placeholder 9" descr="An output pie chart with four sectors. The sectors are of different sizes.">
            <a:extLst>
              <a:ext uri="{FF2B5EF4-FFF2-40B4-BE49-F238E27FC236}">
                <a16:creationId xmlns:a16="http://schemas.microsoft.com/office/drawing/2014/main" id="{32E702C5-F14D-4560-A529-35FF415123A5}"/>
              </a:ext>
            </a:extLst>
          </p:cNvPr>
          <p:cNvPicPr>
            <a:picLocks noGrp="1" noChangeAspect="1"/>
          </p:cNvPicPr>
          <p:nvPr>
            <p:ph sz="quarter" idx="15"/>
          </p:nvPr>
        </p:nvPicPr>
        <p:blipFill>
          <a:blip r:embed="rId2"/>
          <a:stretch>
            <a:fillRect/>
          </a:stretch>
        </p:blipFill>
        <p:spPr>
          <a:xfrm>
            <a:off x="2846569" y="3703964"/>
            <a:ext cx="3450861" cy="2585938"/>
          </a:xfrm>
        </p:spPr>
      </p:pic>
    </p:spTree>
    <p:extLst>
      <p:ext uri="{BB962C8B-B14F-4D97-AF65-F5344CB8AC3E}">
        <p14:creationId xmlns:p14="http://schemas.microsoft.com/office/powerpoint/2010/main" val="20283981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B3B7E10-D640-45F4-A3BD-7EF5174B3F63}"/>
              </a:ext>
            </a:extLst>
          </p:cNvPr>
          <p:cNvSpPr>
            <a:spLocks noGrp="1"/>
          </p:cNvSpPr>
          <p:nvPr>
            <p:ph type="title"/>
          </p:nvPr>
        </p:nvSpPr>
        <p:spPr/>
        <p:txBody>
          <a:bodyPr/>
          <a:lstStyle/>
          <a:p>
            <a:r>
              <a:rPr lang="en-US" altLang="en-US" dirty="0"/>
              <a:t>Plotting a Pie Chart </a:t>
            </a:r>
            <a:r>
              <a:rPr lang="en-US" altLang="en-US" sz="2000" b="0" dirty="0"/>
              <a:t>(3 of 5)</a:t>
            </a:r>
            <a:endParaRPr lang="en-US" dirty="0"/>
          </a:p>
        </p:txBody>
      </p:sp>
      <p:sp>
        <p:nvSpPr>
          <p:cNvPr id="18" name="Content Placeholder 17">
            <a:extLst>
              <a:ext uri="{FF2B5EF4-FFF2-40B4-BE49-F238E27FC236}">
                <a16:creationId xmlns:a16="http://schemas.microsoft.com/office/drawing/2014/main" id="{FB8039B1-6684-435D-BABB-AF55AD1ED6D9}"/>
              </a:ext>
            </a:extLst>
          </p:cNvPr>
          <p:cNvSpPr>
            <a:spLocks noGrp="1"/>
          </p:cNvSpPr>
          <p:nvPr>
            <p:ph sz="quarter" idx="13"/>
          </p:nvPr>
        </p:nvSpPr>
        <p:spPr>
          <a:xfrm>
            <a:off x="457200" y="1556327"/>
            <a:ext cx="8229600" cy="1872673"/>
          </a:xfrm>
        </p:spPr>
        <p:txBody>
          <a:bodyPr/>
          <a:lstStyle/>
          <a:p>
            <a:r>
              <a:rPr lang="en-US" altLang="en-US" dirty="0"/>
              <a:t>The </a:t>
            </a:r>
            <a:r>
              <a:rPr lang="en-US" altLang="en-US" dirty="0">
                <a:latin typeface="Courier New" panose="02070309020205020404" pitchFamily="49" charset="0"/>
                <a:cs typeface="Courier New" panose="02070309020205020404" pitchFamily="49" charset="0"/>
              </a:rPr>
              <a:t>pie</a:t>
            </a:r>
            <a:r>
              <a:rPr lang="en-US" altLang="en-US" dirty="0"/>
              <a:t> function has a </a:t>
            </a:r>
            <a:r>
              <a:rPr lang="en-US" altLang="en-US" dirty="0">
                <a:latin typeface="Courier New" panose="02070309020205020404" pitchFamily="49" charset="0"/>
                <a:cs typeface="Courier New" panose="02070309020205020404" pitchFamily="49" charset="0"/>
              </a:rPr>
              <a:t>labels</a:t>
            </a:r>
            <a:r>
              <a:rPr lang="en-US" altLang="en-US" dirty="0"/>
              <a:t> parameter that you can use to display labels for the slices in the pie chart. </a:t>
            </a:r>
          </a:p>
          <a:p>
            <a:r>
              <a:rPr lang="en-US" altLang="en-US" dirty="0"/>
              <a:t>The argument that you pass into this parameter is a list containing the desired labels, as strings.</a:t>
            </a:r>
            <a:endParaRPr lang="en-US" altLang="en-US" sz="1800" dirty="0"/>
          </a:p>
        </p:txBody>
      </p:sp>
    </p:spTree>
    <p:extLst>
      <p:ext uri="{BB962C8B-B14F-4D97-AF65-F5344CB8AC3E}">
        <p14:creationId xmlns:p14="http://schemas.microsoft.com/office/powerpoint/2010/main" val="35267582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C4F7C6-B408-4A89-9EE7-00807E8B4CB3}"/>
              </a:ext>
            </a:extLst>
          </p:cNvPr>
          <p:cNvSpPr>
            <a:spLocks noGrp="1"/>
          </p:cNvSpPr>
          <p:nvPr>
            <p:ph type="title"/>
          </p:nvPr>
        </p:nvSpPr>
        <p:spPr/>
        <p:txBody>
          <a:bodyPr/>
          <a:lstStyle/>
          <a:p>
            <a:r>
              <a:rPr lang="en-US" altLang="en-US" dirty="0"/>
              <a:t>Plotting a Pie Chart </a:t>
            </a:r>
            <a:r>
              <a:rPr lang="en-US" altLang="en-US" sz="2000" b="0" dirty="0"/>
              <a:t>(4 of 5)</a:t>
            </a:r>
            <a:endParaRPr lang="en-US" dirty="0"/>
          </a:p>
        </p:txBody>
      </p:sp>
      <p:sp>
        <p:nvSpPr>
          <p:cNvPr id="6" name="Content Placeholder 5">
            <a:extLst>
              <a:ext uri="{FF2B5EF4-FFF2-40B4-BE49-F238E27FC236}">
                <a16:creationId xmlns:a16="http://schemas.microsoft.com/office/drawing/2014/main" id="{B7F49C93-EED8-4EE0-A6A8-100359382947}"/>
              </a:ext>
            </a:extLst>
          </p:cNvPr>
          <p:cNvSpPr>
            <a:spLocks noGrp="1"/>
          </p:cNvSpPr>
          <p:nvPr>
            <p:ph sz="quarter" idx="13"/>
          </p:nvPr>
        </p:nvSpPr>
        <p:spPr>
          <a:xfrm>
            <a:off x="466603" y="1552574"/>
            <a:ext cx="1826024" cy="396000"/>
          </a:xfrm>
        </p:spPr>
        <p:txBody>
          <a:bodyPr/>
          <a:lstStyle/>
          <a:p>
            <a:r>
              <a:rPr lang="en-US" altLang="en-US" sz="1600" b="1" dirty="0"/>
              <a:t>Example</a:t>
            </a:r>
          </a:p>
        </p:txBody>
      </p:sp>
      <p:sp>
        <p:nvSpPr>
          <p:cNvPr id="7" name="Content Placeholder 6">
            <a:extLst>
              <a:ext uri="{FF2B5EF4-FFF2-40B4-BE49-F238E27FC236}">
                <a16:creationId xmlns:a16="http://schemas.microsoft.com/office/drawing/2014/main" id="{D0E0285A-BD7F-4DBE-AE32-C417E6B0C5B3}"/>
              </a:ext>
            </a:extLst>
          </p:cNvPr>
          <p:cNvSpPr>
            <a:spLocks noGrp="1"/>
          </p:cNvSpPr>
          <p:nvPr>
            <p:ph sz="quarter" idx="14"/>
          </p:nvPr>
        </p:nvSpPr>
        <p:spPr>
          <a:xfrm>
            <a:off x="457200" y="2067341"/>
            <a:ext cx="8218488" cy="1356637"/>
          </a:xfrm>
        </p:spPr>
        <p:txBody>
          <a:bodyPr/>
          <a:lstStyle/>
          <a:p>
            <a:pPr eaLnBrk="1" hangingPunct="1">
              <a:spcBef>
                <a:spcPct val="0"/>
              </a:spcBef>
              <a:buFontTx/>
              <a:buNone/>
            </a:pPr>
            <a:r>
              <a:rPr lang="en-US" altLang="en-US" sz="1600" dirty="0">
                <a:latin typeface="Courier New" panose="02070309020205020404" pitchFamily="49" charset="0"/>
                <a:cs typeface="Calibri" panose="020F0502020204030204" pitchFamily="34" charset="0"/>
              </a:rPr>
              <a:t>sales = [100, 400, 300, 600]</a:t>
            </a:r>
          </a:p>
          <a:p>
            <a:pPr eaLnBrk="1" hangingPunct="1">
              <a:spcBef>
                <a:spcPct val="0"/>
              </a:spcBef>
              <a:buFontTx/>
              <a:buNone/>
            </a:pPr>
            <a:r>
              <a:rPr lang="en-US" altLang="en-US" sz="1600" dirty="0" err="1">
                <a:latin typeface="Courier New" panose="02070309020205020404" pitchFamily="49" charset="0"/>
                <a:cs typeface="Calibri" panose="020F0502020204030204" pitchFamily="34" charset="0"/>
              </a:rPr>
              <a:t>slice_labels</a:t>
            </a:r>
            <a:r>
              <a:rPr lang="en-US" altLang="en-US" sz="1600" dirty="0">
                <a:latin typeface="Courier New" panose="02070309020205020404" pitchFamily="49" charset="0"/>
                <a:cs typeface="Calibri" panose="020F0502020204030204" pitchFamily="34" charset="0"/>
              </a:rPr>
              <a:t> = ['1st </a:t>
            </a:r>
            <a:r>
              <a:rPr lang="en-US" altLang="en-US" sz="1600" dirty="0" err="1">
                <a:latin typeface="Courier New" panose="02070309020205020404" pitchFamily="49" charset="0"/>
                <a:cs typeface="Calibri" panose="020F0502020204030204" pitchFamily="34" charset="0"/>
              </a:rPr>
              <a:t>Qtr</a:t>
            </a:r>
            <a:r>
              <a:rPr lang="en-US" altLang="en-US" sz="1600" dirty="0">
                <a:latin typeface="Courier New" panose="02070309020205020404" pitchFamily="49" charset="0"/>
                <a:cs typeface="Calibri" panose="020F0502020204030204" pitchFamily="34" charset="0"/>
              </a:rPr>
              <a:t>', '2nd </a:t>
            </a:r>
            <a:r>
              <a:rPr lang="en-US" altLang="en-US" sz="1600" dirty="0" err="1">
                <a:latin typeface="Courier New" panose="02070309020205020404" pitchFamily="49" charset="0"/>
                <a:cs typeface="Calibri" panose="020F0502020204030204" pitchFamily="34" charset="0"/>
              </a:rPr>
              <a:t>Qtr</a:t>
            </a:r>
            <a:r>
              <a:rPr lang="en-US" altLang="en-US" sz="1600" dirty="0">
                <a:latin typeface="Courier New" panose="02070309020205020404" pitchFamily="49" charset="0"/>
                <a:cs typeface="Calibri" panose="020F0502020204030204" pitchFamily="34" charset="0"/>
              </a:rPr>
              <a:t>', '3rd </a:t>
            </a:r>
            <a:r>
              <a:rPr lang="en-US" altLang="en-US" sz="1600" dirty="0" err="1">
                <a:latin typeface="Courier New" panose="02070309020205020404" pitchFamily="49" charset="0"/>
                <a:cs typeface="Calibri" panose="020F0502020204030204" pitchFamily="34" charset="0"/>
              </a:rPr>
              <a:t>Qtr</a:t>
            </a:r>
            <a:r>
              <a:rPr lang="en-US" altLang="en-US" sz="1600" dirty="0">
                <a:latin typeface="Courier New" panose="02070309020205020404" pitchFamily="49" charset="0"/>
                <a:cs typeface="Calibri" panose="020F0502020204030204" pitchFamily="34" charset="0"/>
              </a:rPr>
              <a:t>', '4th </a:t>
            </a:r>
            <a:r>
              <a:rPr lang="en-US" altLang="en-US" sz="1600" dirty="0" err="1">
                <a:latin typeface="Courier New" panose="02070309020205020404" pitchFamily="49" charset="0"/>
                <a:cs typeface="Calibri" panose="020F0502020204030204" pitchFamily="34" charset="0"/>
              </a:rPr>
              <a:t>Qtr</a:t>
            </a:r>
            <a:r>
              <a:rPr lang="en-US" altLang="en-US" sz="1600" dirty="0">
                <a:latin typeface="Courier New" panose="02070309020205020404" pitchFamily="49" charset="0"/>
                <a:cs typeface="Calibri" panose="020F0502020204030204" pitchFamily="34" charset="0"/>
              </a:rPr>
              <a:t>']</a:t>
            </a:r>
          </a:p>
          <a:p>
            <a:pPr eaLnBrk="1" hangingPunct="1">
              <a:spcBef>
                <a:spcPct val="0"/>
              </a:spcBef>
              <a:buFontTx/>
              <a:buNone/>
            </a:pPr>
            <a:r>
              <a:rPr lang="en-US" altLang="en-US" sz="1600" dirty="0" err="1">
                <a:latin typeface="Courier New" panose="02070309020205020404" pitchFamily="49" charset="0"/>
                <a:cs typeface="Calibri" panose="020F0502020204030204" pitchFamily="34" charset="0"/>
              </a:rPr>
              <a:t>plt.pie</a:t>
            </a:r>
            <a:r>
              <a:rPr lang="en-US" altLang="en-US" sz="1600" dirty="0">
                <a:latin typeface="Courier New" panose="02070309020205020404" pitchFamily="49" charset="0"/>
                <a:cs typeface="Calibri" panose="020F0502020204030204" pitchFamily="34" charset="0"/>
              </a:rPr>
              <a:t>(sales, labels=</a:t>
            </a:r>
            <a:r>
              <a:rPr lang="en-US" altLang="en-US" sz="1600" dirty="0" err="1">
                <a:latin typeface="Courier New" panose="02070309020205020404" pitchFamily="49" charset="0"/>
                <a:cs typeface="Calibri" panose="020F0502020204030204" pitchFamily="34" charset="0"/>
              </a:rPr>
              <a:t>slice_labels</a:t>
            </a:r>
            <a:r>
              <a:rPr lang="en-US" altLang="en-US" sz="1600" dirty="0">
                <a:latin typeface="Courier New" panose="02070309020205020404" pitchFamily="49" charset="0"/>
                <a:cs typeface="Calibri" panose="020F0502020204030204" pitchFamily="34" charset="0"/>
              </a:rPr>
              <a:t>)</a:t>
            </a:r>
          </a:p>
          <a:p>
            <a:pPr eaLnBrk="1" hangingPunct="1">
              <a:spcBef>
                <a:spcPct val="0"/>
              </a:spcBef>
              <a:buFontTx/>
              <a:buNone/>
            </a:pPr>
            <a:r>
              <a:rPr lang="en-US" altLang="en-US" sz="1600" dirty="0" err="1">
                <a:latin typeface="Courier New" panose="02070309020205020404" pitchFamily="49" charset="0"/>
                <a:cs typeface="Calibri" panose="020F0502020204030204" pitchFamily="34" charset="0"/>
              </a:rPr>
              <a:t>plt.title</a:t>
            </a:r>
            <a:r>
              <a:rPr lang="en-US" altLang="en-US" sz="1600" dirty="0">
                <a:latin typeface="Courier New" panose="02070309020205020404" pitchFamily="49" charset="0"/>
                <a:cs typeface="Calibri" panose="020F0502020204030204" pitchFamily="34" charset="0"/>
              </a:rPr>
              <a:t>('Sales by Quarter')</a:t>
            </a:r>
          </a:p>
          <a:p>
            <a:pPr eaLnBrk="1" hangingPunct="1">
              <a:spcBef>
                <a:spcPct val="0"/>
              </a:spcBef>
              <a:buFontTx/>
              <a:buNone/>
            </a:pPr>
            <a:r>
              <a:rPr lang="en-US" altLang="en-US" sz="1600" dirty="0" err="1">
                <a:latin typeface="Courier New" panose="02070309020205020404" pitchFamily="49" charset="0"/>
                <a:cs typeface="Calibri" panose="020F0502020204030204" pitchFamily="34" charset="0"/>
              </a:rPr>
              <a:t>plt.show</a:t>
            </a:r>
            <a:r>
              <a:rPr lang="en-US" altLang="en-US" sz="1600" dirty="0">
                <a:latin typeface="Courier New" panose="02070309020205020404" pitchFamily="49" charset="0"/>
                <a:cs typeface="Calibri" panose="020F0502020204030204" pitchFamily="34" charset="0"/>
              </a:rPr>
              <a:t>()</a:t>
            </a:r>
            <a:endParaRPr lang="en-US" altLang="en-US" sz="1600" dirty="0">
              <a:latin typeface="Courier New" panose="02070309020205020404" pitchFamily="49" charset="0"/>
              <a:cs typeface="Courier New" panose="02070309020205020404" pitchFamily="49" charset="0"/>
            </a:endParaRPr>
          </a:p>
        </p:txBody>
      </p:sp>
      <p:pic>
        <p:nvPicPr>
          <p:cNvPr id="10" name="Content Placeholder 9" descr="An output pie chart titled, sales by quarter, with four sectors. For long description in Notes pane, press F6.">
            <a:extLst>
              <a:ext uri="{FF2B5EF4-FFF2-40B4-BE49-F238E27FC236}">
                <a16:creationId xmlns:a16="http://schemas.microsoft.com/office/drawing/2014/main" id="{32E702C5-F14D-4560-A529-35FF415123A5}"/>
              </a:ext>
            </a:extLst>
          </p:cNvPr>
          <p:cNvPicPr>
            <a:picLocks noGrp="1" noChangeAspect="1"/>
          </p:cNvPicPr>
          <p:nvPr>
            <p:ph sz="quarter" idx="15"/>
          </p:nvPr>
        </p:nvPicPr>
        <p:blipFill>
          <a:blip r:embed="rId3"/>
          <a:stretch>
            <a:fillRect/>
          </a:stretch>
        </p:blipFill>
        <p:spPr>
          <a:xfrm>
            <a:off x="2846569" y="3572424"/>
            <a:ext cx="3450861" cy="2583978"/>
          </a:xfrm>
        </p:spPr>
      </p:pic>
    </p:spTree>
    <p:extLst>
      <p:ext uri="{BB962C8B-B14F-4D97-AF65-F5344CB8AC3E}">
        <p14:creationId xmlns:p14="http://schemas.microsoft.com/office/powerpoint/2010/main" val="2361508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9CD042-6E9C-4BB5-BC09-66D573EA3261}"/>
              </a:ext>
            </a:extLst>
          </p:cNvPr>
          <p:cNvSpPr>
            <a:spLocks noGrp="1"/>
          </p:cNvSpPr>
          <p:nvPr>
            <p:ph type="title"/>
          </p:nvPr>
        </p:nvSpPr>
        <p:spPr/>
        <p:txBody>
          <a:bodyPr/>
          <a:lstStyle/>
          <a:p>
            <a:r>
              <a:rPr lang="en-US" altLang="en-US" dirty="0"/>
              <a:t>Plotting a Pie Chart </a:t>
            </a:r>
            <a:r>
              <a:rPr lang="en-US" altLang="en-US" sz="2000" b="0" dirty="0"/>
              <a:t>(5 of 5)</a:t>
            </a:r>
            <a:endParaRPr lang="en-US" dirty="0"/>
          </a:p>
        </p:txBody>
      </p:sp>
      <p:sp>
        <p:nvSpPr>
          <p:cNvPr id="5" name="Content Placeholder 4">
            <a:extLst>
              <a:ext uri="{FF2B5EF4-FFF2-40B4-BE49-F238E27FC236}">
                <a16:creationId xmlns:a16="http://schemas.microsoft.com/office/drawing/2014/main" id="{30565D88-D80A-41E9-A51F-B910C5BBE985}"/>
              </a:ext>
            </a:extLst>
          </p:cNvPr>
          <p:cNvSpPr>
            <a:spLocks noGrp="1"/>
          </p:cNvSpPr>
          <p:nvPr>
            <p:ph sz="quarter" idx="13"/>
          </p:nvPr>
        </p:nvSpPr>
        <p:spPr>
          <a:xfrm>
            <a:off x="457200" y="1552572"/>
            <a:ext cx="8229600" cy="1800000"/>
          </a:xfrm>
        </p:spPr>
        <p:txBody>
          <a:bodyPr/>
          <a:lstStyle/>
          <a:p>
            <a:r>
              <a:rPr lang="en-US" altLang="en-US" sz="1800" b="1" dirty="0"/>
              <a:t>The </a:t>
            </a:r>
            <a:r>
              <a:rPr lang="en-US" altLang="en-US" sz="1800" b="1" dirty="0">
                <a:latin typeface="Courier New" panose="02070309020205020404" pitchFamily="49" charset="0"/>
                <a:cs typeface="Courier New" panose="02070309020205020404" pitchFamily="49" charset="0"/>
              </a:rPr>
              <a:t>pie</a:t>
            </a:r>
            <a:r>
              <a:rPr lang="en-US" altLang="en-US" sz="1800" b="1" dirty="0"/>
              <a:t> function automatically changes the color of the slices, in the following order:</a:t>
            </a:r>
          </a:p>
          <a:p>
            <a:pPr lvl="1"/>
            <a:r>
              <a:rPr lang="en-US" altLang="en-US" sz="1800" dirty="0"/>
              <a:t>blue, green, red, cyan, magenta, yellow, black, and white. </a:t>
            </a:r>
          </a:p>
          <a:p>
            <a:r>
              <a:rPr lang="en-US" altLang="en-US" sz="1800" b="1" dirty="0"/>
              <a:t>You can specify a different set of colors, however, by passing a tuple of color codes as an argument to the </a:t>
            </a:r>
            <a:r>
              <a:rPr lang="en-US" altLang="en-US" sz="1800" b="1" dirty="0">
                <a:latin typeface="Courier New" panose="02070309020205020404" pitchFamily="49" charset="0"/>
                <a:cs typeface="Courier New" panose="02070309020205020404" pitchFamily="49" charset="0"/>
              </a:rPr>
              <a:t>pie</a:t>
            </a:r>
            <a:r>
              <a:rPr lang="en-US" altLang="en-US" sz="1800" b="1" dirty="0"/>
              <a:t> function's </a:t>
            </a:r>
            <a:r>
              <a:rPr lang="en-US" altLang="en-US" sz="1800" b="1" dirty="0">
                <a:latin typeface="Courier New" panose="02070309020205020404" pitchFamily="49" charset="0"/>
                <a:cs typeface="Courier New" panose="02070309020205020404" pitchFamily="49" charset="0"/>
              </a:rPr>
              <a:t>colors</a:t>
            </a:r>
            <a:r>
              <a:rPr lang="en-US" altLang="en-US" sz="1800" b="1" dirty="0"/>
              <a:t> parameter:</a:t>
            </a:r>
            <a:endParaRPr lang="en-US" sz="1800" b="1" dirty="0"/>
          </a:p>
        </p:txBody>
      </p:sp>
      <p:sp>
        <p:nvSpPr>
          <p:cNvPr id="6" name="Content Placeholder 5">
            <a:extLst>
              <a:ext uri="{FF2B5EF4-FFF2-40B4-BE49-F238E27FC236}">
                <a16:creationId xmlns:a16="http://schemas.microsoft.com/office/drawing/2014/main" id="{B2B03290-440B-4147-94A5-01429BF6626E}"/>
              </a:ext>
            </a:extLst>
          </p:cNvPr>
          <p:cNvSpPr>
            <a:spLocks noGrp="1"/>
          </p:cNvSpPr>
          <p:nvPr>
            <p:ph sz="quarter" idx="14"/>
          </p:nvPr>
        </p:nvSpPr>
        <p:spPr>
          <a:xfrm>
            <a:off x="1116000" y="3501071"/>
            <a:ext cx="6912000" cy="432000"/>
          </a:xfrm>
        </p:spPr>
        <p:txBody>
          <a:bodyPr/>
          <a:lstStyle/>
          <a:p>
            <a:pPr eaLnBrk="1" hangingPunct="1">
              <a:spcBef>
                <a:spcPct val="0"/>
              </a:spcBef>
              <a:buFontTx/>
              <a:buNone/>
            </a:pPr>
            <a:r>
              <a:rPr lang="en-US" altLang="en-US" sz="1800" dirty="0" err="1">
                <a:latin typeface="Courier New" panose="02070309020205020404" pitchFamily="49" charset="0"/>
                <a:cs typeface="Calibri" panose="020F0502020204030204" pitchFamily="34" charset="0"/>
              </a:rPr>
              <a:t>plt.pie</a:t>
            </a:r>
            <a:r>
              <a:rPr lang="en-US" altLang="en-US" sz="1800" dirty="0">
                <a:latin typeface="Courier New" panose="02070309020205020404" pitchFamily="49" charset="0"/>
                <a:cs typeface="Calibri" panose="020F0502020204030204" pitchFamily="34" charset="0"/>
              </a:rPr>
              <a:t>(values, colors=('r', 'g', 'b', 'w', 'k'))</a:t>
            </a:r>
            <a:endParaRPr lang="en-US" altLang="en-US" sz="1800" dirty="0"/>
          </a:p>
        </p:txBody>
      </p:sp>
      <p:sp>
        <p:nvSpPr>
          <p:cNvPr id="7" name="Content Placeholder 6">
            <a:extLst>
              <a:ext uri="{FF2B5EF4-FFF2-40B4-BE49-F238E27FC236}">
                <a16:creationId xmlns:a16="http://schemas.microsoft.com/office/drawing/2014/main" id="{A6DE5AB7-3CB0-4757-A8CC-2A5F00418B0F}"/>
              </a:ext>
            </a:extLst>
          </p:cNvPr>
          <p:cNvSpPr>
            <a:spLocks noGrp="1"/>
          </p:cNvSpPr>
          <p:nvPr>
            <p:ph sz="quarter" idx="15"/>
          </p:nvPr>
        </p:nvSpPr>
        <p:spPr>
          <a:xfrm>
            <a:off x="468313" y="4081570"/>
            <a:ext cx="8218485" cy="755473"/>
          </a:xfrm>
        </p:spPr>
        <p:txBody>
          <a:bodyPr/>
          <a:lstStyle/>
          <a:p>
            <a:r>
              <a:rPr lang="en-US" altLang="en-US" sz="1800" b="1" dirty="0"/>
              <a:t>When this statement executes, the colors of the slices in the resulting pie chart will be red, green, blue, white, and black.</a:t>
            </a:r>
          </a:p>
        </p:txBody>
      </p:sp>
    </p:spTree>
    <p:extLst>
      <p:ext uri="{BB962C8B-B14F-4D97-AF65-F5344CB8AC3E}">
        <p14:creationId xmlns:p14="http://schemas.microsoft.com/office/powerpoint/2010/main" val="9037775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1620093-765C-4F46-B8EE-A58781B2DC5B}"/>
              </a:ext>
            </a:extLst>
          </p:cNvPr>
          <p:cNvSpPr>
            <a:spLocks noGrp="1"/>
          </p:cNvSpPr>
          <p:nvPr>
            <p:ph type="title"/>
          </p:nvPr>
        </p:nvSpPr>
        <p:spPr/>
        <p:txBody>
          <a:bodyPr/>
          <a:lstStyle/>
          <a:p>
            <a:r>
              <a:rPr lang="en-US" altLang="en-US" dirty="0"/>
              <a:t>Summary</a:t>
            </a:r>
            <a:endParaRPr lang="en-US" dirty="0"/>
          </a:p>
        </p:txBody>
      </p:sp>
      <p:sp>
        <p:nvSpPr>
          <p:cNvPr id="18" name="Content Placeholder 17">
            <a:extLst>
              <a:ext uri="{FF2B5EF4-FFF2-40B4-BE49-F238E27FC236}">
                <a16:creationId xmlns:a16="http://schemas.microsoft.com/office/drawing/2014/main" id="{B6F7E920-7517-446A-BA09-3A58D6C50625}"/>
              </a:ext>
            </a:extLst>
          </p:cNvPr>
          <p:cNvSpPr>
            <a:spLocks noGrp="1"/>
          </p:cNvSpPr>
          <p:nvPr>
            <p:ph sz="quarter" idx="13"/>
          </p:nvPr>
        </p:nvSpPr>
        <p:spPr>
          <a:xfrm>
            <a:off x="457200" y="1556327"/>
            <a:ext cx="8229600" cy="4644000"/>
          </a:xfrm>
        </p:spPr>
        <p:txBody>
          <a:bodyPr/>
          <a:lstStyle/>
          <a:p>
            <a:r>
              <a:rPr lang="en-US" altLang="en-US" sz="2000" b="1" dirty="0"/>
              <a:t>This chapter covered:</a:t>
            </a:r>
          </a:p>
          <a:p>
            <a:pPr lvl="1"/>
            <a:r>
              <a:rPr lang="en-US" altLang="en-US" sz="2000" dirty="0"/>
              <a:t>Lists, including:</a:t>
            </a:r>
          </a:p>
          <a:p>
            <a:pPr lvl="2"/>
            <a:r>
              <a:rPr lang="en-US" altLang="en-US" sz="2000" dirty="0"/>
              <a:t>Repetition and concatenation operators</a:t>
            </a:r>
          </a:p>
          <a:p>
            <a:pPr lvl="2"/>
            <a:r>
              <a:rPr lang="en-US" altLang="en-US" sz="2000" dirty="0"/>
              <a:t>Indexing </a:t>
            </a:r>
          </a:p>
          <a:p>
            <a:pPr lvl="2"/>
            <a:r>
              <a:rPr lang="en-US" altLang="en-US" sz="2000" dirty="0"/>
              <a:t>Techniques for processing lists</a:t>
            </a:r>
          </a:p>
          <a:p>
            <a:pPr lvl="2"/>
            <a:r>
              <a:rPr lang="en-US" altLang="en-US" sz="2000" dirty="0"/>
              <a:t>Slicing and copying lists</a:t>
            </a:r>
          </a:p>
          <a:p>
            <a:pPr lvl="2"/>
            <a:r>
              <a:rPr lang="en-US" altLang="en-US" sz="2000" dirty="0"/>
              <a:t>List methods and built-in functions for lists</a:t>
            </a:r>
          </a:p>
          <a:p>
            <a:pPr lvl="2"/>
            <a:r>
              <a:rPr lang="en-US" altLang="en-US" sz="2000" dirty="0"/>
              <a:t>Two-dimensional lists</a:t>
            </a:r>
          </a:p>
          <a:p>
            <a:pPr lvl="1"/>
            <a:r>
              <a:rPr lang="en-US" altLang="en-US" sz="2000" dirty="0"/>
              <a:t>Tuples, including:</a:t>
            </a:r>
          </a:p>
          <a:p>
            <a:pPr lvl="2"/>
            <a:r>
              <a:rPr lang="en-US" altLang="en-US" sz="2000" dirty="0"/>
              <a:t>Immutability</a:t>
            </a:r>
          </a:p>
          <a:p>
            <a:pPr lvl="2"/>
            <a:r>
              <a:rPr lang="en-US" altLang="en-US" sz="2000" dirty="0"/>
              <a:t>Difference from and advantages over lists</a:t>
            </a:r>
          </a:p>
          <a:p>
            <a:pPr lvl="1"/>
            <a:r>
              <a:rPr lang="en-US" altLang="en-US" sz="2000" dirty="0"/>
              <a:t>Plotting charts and graphs with the </a:t>
            </a:r>
            <a:r>
              <a:rPr lang="en-US" altLang="en-US" sz="2000" b="1" dirty="0">
                <a:latin typeface="Courier New" panose="02070309020205020404" pitchFamily="49" charset="0"/>
                <a:cs typeface="Courier New" panose="02070309020205020404" pitchFamily="49" charset="0"/>
              </a:rPr>
              <a:t>matplotlib</a:t>
            </a:r>
            <a:r>
              <a:rPr lang="en-US" altLang="en-US" sz="2000" dirty="0"/>
              <a:t> Package</a:t>
            </a:r>
            <a:endParaRPr lang="he-IL" altLang="en-US" sz="2000" dirty="0"/>
          </a:p>
        </p:txBody>
      </p:sp>
    </p:spTree>
    <p:extLst>
      <p:ext uri="{BB962C8B-B14F-4D97-AF65-F5344CB8AC3E}">
        <p14:creationId xmlns:p14="http://schemas.microsoft.com/office/powerpoint/2010/main" val="34952525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147698</TotalTime>
  <Words>4917</Words>
  <Application>Microsoft Office PowerPoint</Application>
  <PresentationFormat>On-screen Show (4:3)</PresentationFormat>
  <Paragraphs>397</Paragraphs>
  <Slides>64</Slides>
  <Notes>11</Notes>
  <HiddenSlides>10</HiddenSlides>
  <MMClips>0</MMClips>
  <ScaleCrop>false</ScaleCrop>
  <HeadingPairs>
    <vt:vector size="4" baseType="variant">
      <vt:variant>
        <vt:lpstr>Theme</vt:lpstr>
      </vt:variant>
      <vt:variant>
        <vt:i4>2</vt:i4>
      </vt:variant>
      <vt:variant>
        <vt:lpstr>Slide Titles</vt:lpstr>
      </vt:variant>
      <vt:variant>
        <vt:i4>64</vt:i4>
      </vt:variant>
    </vt:vector>
  </HeadingPairs>
  <TitlesOfParts>
    <vt:vector size="66" baseType="lpstr">
      <vt:lpstr>USHE</vt:lpstr>
      <vt:lpstr>USHE_slide options</vt:lpstr>
      <vt:lpstr>Starting Out with Python</vt:lpstr>
      <vt:lpstr>Topics (1 of 2)</vt:lpstr>
      <vt:lpstr>Topics (2 of 2)</vt:lpstr>
      <vt:lpstr>Sequences</vt:lpstr>
      <vt:lpstr>Introduction to Lists (1 of 2)</vt:lpstr>
      <vt:lpstr>Introduction to Lists (2 of 2)</vt:lpstr>
      <vt:lpstr>Indexing</vt:lpstr>
      <vt:lpstr>The len function</vt:lpstr>
      <vt:lpstr>Lists Are Mutable</vt:lpstr>
      <vt:lpstr>Concatenating Lists</vt:lpstr>
      <vt:lpstr>Methods vs Functions</vt:lpstr>
      <vt:lpstr>List Methods  Format: &lt;list_name&gt;.&lt;method_name&gt;()</vt:lpstr>
      <vt:lpstr>List Methods  Format: &lt;list_name&gt;.&lt;method_name&gt;()</vt:lpstr>
      <vt:lpstr>Built in Functions </vt:lpstr>
      <vt:lpstr>Finding Items in Lists With the in Operator</vt:lpstr>
      <vt:lpstr>Tuples (1 of 4)</vt:lpstr>
      <vt:lpstr>Tuples (2 of 4)</vt:lpstr>
      <vt:lpstr>Tuples (3 of 4)</vt:lpstr>
      <vt:lpstr>Storing Mutable Objects in a Tuple (1 of 2)</vt:lpstr>
      <vt:lpstr>Storing Mutable Objects in a Tuple (2 of 2)</vt:lpstr>
      <vt:lpstr>Tuples (4 of 4)</vt:lpstr>
      <vt:lpstr>Pass By Object Reference </vt:lpstr>
      <vt:lpstr>Pass By Object Reference </vt:lpstr>
      <vt:lpstr>Copying Lists (1 of 2)</vt:lpstr>
      <vt:lpstr>Copying Lists (2 of 2)</vt:lpstr>
      <vt:lpstr>Processing Lists (1 of 2)</vt:lpstr>
      <vt:lpstr>Iterating Over a List</vt:lpstr>
      <vt:lpstr>Processing Lists (2 of 2)</vt:lpstr>
      <vt:lpstr>The Repetition Operator</vt:lpstr>
      <vt:lpstr>List Comprehensions (1 of 7)</vt:lpstr>
      <vt:lpstr>List Comprehensions (2 of 7)</vt:lpstr>
      <vt:lpstr>List Comprehensions (3 of 7)</vt:lpstr>
      <vt:lpstr>List Comprehensions (4 of 7)</vt:lpstr>
      <vt:lpstr>List Comprehensions (5 of 7)</vt:lpstr>
      <vt:lpstr>List Comprehensions (6 of 7)</vt:lpstr>
      <vt:lpstr>List Comprehensions (7 of 7)</vt:lpstr>
      <vt:lpstr>Two-Dimensional Lists (1 of 3)</vt:lpstr>
      <vt:lpstr>Two-Dimensional Lists (2 of 3)</vt:lpstr>
      <vt:lpstr>Two-Dimensional Lists (3 of 3)</vt:lpstr>
      <vt:lpstr>List Slicing</vt:lpstr>
      <vt:lpstr>Plotting Data With matplotlib (1 of 4)</vt:lpstr>
      <vt:lpstr>Plotting Data With matplotlib (2 of 4)</vt:lpstr>
      <vt:lpstr>Plotting Data With matplotlib (3 of 4)</vt:lpstr>
      <vt:lpstr>Plotting Data With matplotlib (4 of 4)</vt:lpstr>
      <vt:lpstr>Plotting a Line Graph With the plot Function (1 of 4)</vt:lpstr>
      <vt:lpstr>Plotting a Line Graph With the plot Function (2 of 4)</vt:lpstr>
      <vt:lpstr>Plotting a Line Graph With the plot Function (3 of 4)</vt:lpstr>
      <vt:lpstr>Plotting a Line Graph With the plot Function (4 of 4)</vt:lpstr>
      <vt:lpstr>Program 7-24 (1 of 2)</vt:lpstr>
      <vt:lpstr>Program 7-24 (2 of 2)</vt:lpstr>
      <vt:lpstr>Output of Program 7-24</vt:lpstr>
      <vt:lpstr>Plotting a Bar Chart (1 of 6)</vt:lpstr>
      <vt:lpstr>Plotting a Bar Chart (2 of 6)</vt:lpstr>
      <vt:lpstr>Plotting a Bar Chart (3 of 6)</vt:lpstr>
      <vt:lpstr>Plotting a Bar Chart (4 of 6)</vt:lpstr>
      <vt:lpstr>Plotting a Bar Chart (5 of 6)</vt:lpstr>
      <vt:lpstr>Plotting a Bar Chart (6 of 6)</vt:lpstr>
      <vt:lpstr>Plotting a Pie Chart (1 of 5)</vt:lpstr>
      <vt:lpstr>Plotting a Pie Chart (2 of 5)</vt:lpstr>
      <vt:lpstr>Plotting a Pie Chart (3 of 5)</vt:lpstr>
      <vt:lpstr>Plotting a Pie Chart (4 of 5)</vt:lpstr>
      <vt:lpstr>Plotting a Pie Chart (5 of 5)</vt:lpstr>
      <vt:lpstr>Summary</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Sixth Edition, Chapter 7, Lists and Tuples</dc:title>
  <dc:subject>Computer Science</dc:subject>
  <dc:creator>Gaddis</dc:creator>
  <cp:keywords>Starting Out with Python</cp:keywords>
  <dc:description>Long description alt-text is inserted in the notes pane; This deck contains code snippets and screen reader users may need to increase verbosity levels.</dc:description>
  <cp:lastModifiedBy>Chellapandi Murugan</cp:lastModifiedBy>
  <cp:revision>1153</cp:revision>
  <dcterms:modified xsi:type="dcterms:W3CDTF">2025-10-28T21:28:47Z</dcterms:modified>
</cp:coreProperties>
</file>